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9" r:id="rId13"/>
    <p:sldId id="270" r:id="rId14"/>
    <p:sldId id="272"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2"/>
    <p:restoredTop sz="94610"/>
  </p:normalViewPr>
  <p:slideViewPr>
    <p:cSldViewPr snapToGrid="0" snapToObjects="1">
      <p:cViewPr varScale="1">
        <p:scale>
          <a:sx n="120" d="100"/>
          <a:sy n="120" d="100"/>
        </p:scale>
        <p:origin x="184" y="3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Planilha_do_Microsoft_Excel.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1"/>
  <c:style val="2"/>
  <c:chart>
    <c:title>
      <c:tx>
        <c:rich>
          <a:bodyPr/>
          <a:lstStyle/>
          <a:p>
            <a:pPr>
              <a:defRPr sz="1300" b="0" i="0" u="none" strike="noStrike">
                <a:solidFill>
                  <a:srgbClr val="1F2D3D"/>
                </a:solidFill>
                <a:latin typeface="Calibri"/>
              </a:defRPr>
            </a:pPr>
            <a:r>
              <a:rPr lang="pt-BR" sz="1300" b="0" i="0" u="none" strike="noStrike">
                <a:solidFill>
                  <a:srgbClr val="1F2D3D"/>
                </a:solidFill>
                <a:latin typeface="Calibri"/>
              </a:rPr>
              <a:t>Distribuição de graus (nº de estações)</a:t>
            </a:r>
          </a:p>
        </c:rich>
      </c:tx>
      <c:overlay val="0"/>
    </c:title>
    <c:autoTitleDeleted val="0"/>
    <c:plotArea>
      <c:layout/>
      <c:barChart>
        <c:barDir val="col"/>
        <c:grouping val="clustered"/>
        <c:varyColors val="0"/>
        <c:ser>
          <c:idx val="0"/>
          <c:order val="0"/>
          <c:tx>
            <c:strRef>
              <c:f>Sheet1!$B$1</c:f>
              <c:strCache>
                <c:ptCount val="1"/>
                <c:pt idx="0">
                  <c:v>Estações</c:v>
                </c:pt>
              </c:strCache>
            </c:strRef>
          </c:tx>
          <c:spPr>
            <a:solidFill>
              <a:srgbClr val="2E78C2"/>
            </a:solidFill>
            <a:effectLst/>
          </c:spPr>
          <c:invertIfNegative val="0"/>
          <c:dLbls>
            <c:numFmt formatCode="#,##0" sourceLinked="0"/>
            <c:spPr>
              <a:noFill/>
              <a:ln>
                <a:noFill/>
              </a:ln>
              <a:effectLst/>
            </c:spPr>
            <c:txPr>
              <a:bodyPr/>
              <a:lstStyle/>
              <a:p>
                <a:pPr>
                  <a:defRPr sz="1200" b="0" i="0" u="none" strike="noStrike">
                    <a:solidFill>
                      <a:srgbClr val="1F2D3D"/>
                    </a:solidFill>
                    <a:latin typeface="Arial"/>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grau 4</c:v>
                </c:pt>
                <c:pt idx="1">
                  <c:v>grau 5</c:v>
                </c:pt>
                <c:pt idx="2">
                  <c:v>grau 6</c:v>
                </c:pt>
                <c:pt idx="3">
                  <c:v>grau 7</c:v>
                </c:pt>
              </c:strCache>
            </c:strRef>
          </c:cat>
          <c:val>
            <c:numRef>
              <c:f>Sheet1!$B$2:$B$5</c:f>
              <c:numCache>
                <c:formatCode>General</c:formatCode>
                <c:ptCount val="4"/>
                <c:pt idx="0">
                  <c:v>8</c:v>
                </c:pt>
                <c:pt idx="1">
                  <c:v>12</c:v>
                </c:pt>
                <c:pt idx="2">
                  <c:v>8</c:v>
                </c:pt>
                <c:pt idx="3">
                  <c:v>4</c:v>
                </c:pt>
              </c:numCache>
            </c:numRef>
          </c:val>
          <c:extLst>
            <c:ext xmlns:c16="http://schemas.microsoft.com/office/drawing/2014/chart" uri="{C3380CC4-5D6E-409C-BE32-E72D297353CC}">
              <c16:uniqueId val="{00000000-A7FD-1A49-AAC1-A01C85E71C97}"/>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E4C59"/>
                </a:solidFill>
                <a:latin typeface="Arial"/>
              </a:defRPr>
            </a:pPr>
            <a:endParaRPr lang="en-US"/>
          </a:p>
        </c:txPr>
        <c:crossAx val="2094734552"/>
        <c:crosses val="autoZero"/>
        <c:auto val="1"/>
        <c:lblAlgn val="ctr"/>
        <c:lblOffset val="100"/>
        <c:noMultiLvlLbl val="1"/>
      </c:catAx>
      <c:valAx>
        <c:axId val="2094734552"/>
        <c:scaling>
          <c:orientation val="minMax"/>
          <c:max val="14"/>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18120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Apresente-se e diga o título. Em uma frase: transformei as 32 estações meteorológicas do CGE (Prefeitura de São Paulo) em um grafo para descobrir quais estações se comportam diferente das vizinhas, quais são centrais e como a rede se agrupa. Esta é a Parte 2: modelagem, infraestrutura e resultados parciais.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São Paulo sofre com chuvas intensas e localizadas, principalmente de dezembro a março: alagamentos, quedas de árvores, trânsito. O CGE mantém uma rede de estações automáticas que medem chuva, temperatura, umidade e pressão a cada 10 minutos. Cada estação tem sua série, mas o tempo em um ponto está ligado ao tempo nos pontos vizinhos. A ideia do projeto é olhar a rede como um todo, não cada estação isolada.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Estações próximas tendem a registrar valores parecidos: é a primeira lei da Geografia de Tobler. Quando uma estação se afasta muito das vizinhas, pode ser um fenômeno local (chuva concentrada, relevo, urbanização) ou falha de medição. As estações são entidades com atributos e a vizinhança é a relação entre elas: isso é naturalmente um grafo. Com ele dá para usar adjacência, conexidade, centralidades e comparação na vizinhança. Trabalhos relacionados: Tsonis e Roebber montaram uma rede climática global; Donges usou centralidade de intermediação; Boers estudou chuvas extremas sincronizadas; Anselin propôs o LISA, que compara cada unidade com as vizinhas — a matriz de vizinhança dele é a matriz de adjacência de um grafo.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dados são reais: um CSV por estação do CGE em 2024, registros a cada 10 minutos. Já tinham sido reunidos na minha Iniciação Científica, junto com as coordenadas. Três problemas: (1) duas estações foram desativadas em 2024, então usei a janela comum de 01/01 a 30/04; (2) a coluna de chuva é um acumulador diário que zera — a chuva de cada registro é o incremento; somar direto dá valores absurdos; (3) o formato dos arquivos tinha cabeçalho desalinhado, cinco layouts e duplicatas. Script: src/prepara_dados.py. O resto do projeto só usa o CSV resumido.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Vértice = estação, rótulo = nome, peso = chuva acumulada. Aresta = vizinhança geográfica pela regra dos k vizinhos mais próximos com k = 4, simetrizada com 'ou'. Peso da aresta = distância de Haversine em km, que considera a curvatura da Terra a partir de latitude e longitude. Não orientado porque vizinhança e distância são simétricas. Categoria: tipo 3, não orientado com peso nos vértices e nas arestas. O grafo.txt segue o formato do enunciado: tipo, n, vértices, m, arestas; cada aresta não orientada aparece uma vez só.</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é o grafo desenhado sobre latitude e longitude reais (gerado por src/figuras.py; o mesmo grafo está em dados/estacoes.graphml para o Gephi). 32 vértices, 84 arestas, conexo, grau de 4 a 7. Repare que o centro é denso e o extremo sul tem poucas ligações e longas — isso volta nos resultados.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Ligar todos com todos daria o grafo completo, 496 arestas, sem informação de vizinhança. Raio fixo não funciona porque as estações são desiguais: o centro é denso e o sul e Santana de Parnaíba são isolados. k-NN garante grau mínimo k e nenhum vértice isolado. Por que 84 arestas e não 32 × 4 = 128? Quando A escolhe B e B escolhe A, é a mesma aresta: insereA recusa a repetida. Por isso também há graus acima de 4. Testei k de 2 a 6: k = 3 é o primeiro conexo; escolhi 4 pela folga. A sensibilidade a k será estudada na Parte 3.</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Duas metades. Em cima, os scripts de dados rodam uma vez: prepara_dados lê os CSVs, gera o resumo; gera_grafo aplica k-NN e Haversine e grava o grafo.txt (e um GraphML para o Gephi). Embaixo, a aplicação: a classe Grafo em src/grafo.py concentra toda a lógica de grafos; main.py só cuida do menu e das mensagens; roda_testes simula o teclado no menu; analise_preliminar calcula as métricas. Código modular: a classe não sabe nada do menu.</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classe veio da classe de aula grafoLista.py e manteve insereA, removeA e show. listaAdj[v] guarda pares [vizinho, peso]; rótulos e pesos dos vértices ficam em vetores paralelos. Por que lista e não matriz: a matriz teria 1024 posições, quase todas zero (densidade 0,169). A lista guarda só os vizinhos reais. A matriz responderia 'v e w são vizinhos?' em tempo constante; na lista custa o grau de v, no máximo 7 aqui. O tipo decide se é orientado (tipo &gt;= 4) e se tem pesos, então a mesma classe serve aos 8 tipos.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opção do menu chama um método da classe. Destaques: d) recusa laço e aresta repetida — o grafo é simples. e) remove o vértice e todas as arestas incidentes e renumera os vértices seguintes, porque o arquivo exige numeração 0 a n−1 sem buracos. g) lê o arquivo do disco; h) mostra o grafo em memória, com as alterações. Entradas inválidas geram mensagem de erro sem derrubar o programa. As opções b a i exigem grafo carregado (avisam 'use a opção a) primeiro').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Não orientado: BFS a partir do menor vértice não visitado; o que ela alcança é uma componente. Uma componente = conexo. Nossa rede é conexa. Orientado: categorias C3 a C0. FCONEX: para um vértice v, R+ (quem v alcança) e R− (quem alcança v, BFS na lista invertida); a componente fortemente conexa é a interseção. Grafo reduzido: cada componente vira um vértice; é sempre acíclico, porque se houvesse ciclo as componentes seriam uma só. Para separar C2 de C1, faço ordenação topológica do reduzido: se em algum passo há duas fontes ao mesmo tempo, nenhum caminho passa por todas → C1; senão C2. No exemplo do teste i3: {0,1,2} e {3,4}, C0 → C1, então C2. Tirando a aresta 2→3 vira C0. Para o grafo das estações o reduzido não se aplica: o programa avisa.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 = 32, m = 84, densidade 0,169: só 17% das ligações possíveis existem. Grau de 4 a 7, média 5,25; o mínimo 4 é garantido pelo k-NN. A soma dos graus é 168 = 2m (lema do aperto de mãos). Os quatro de grau 7 ficam onde a rede é densa e ligam sub-regiões. Arestas de 2,46 a 28,26 km; as mais longas ligam o extremo sul. O teste i2 mostra que removendo só as 4 arestas de Marsilac ela fica isolada: a cobertura do sul é frágil.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cada estação: D(v) = chuva dela menos a média da chuva das vizinhas no grafo. Padronizo D pelo escore z entre as 32; |z| &gt; 1,5 marca discrepante. Parelheiros/Barragem e Vila Maria choveram uns 240 mm a mais que as vizinhas; Parelheiros é coerente com o efeito orográfico da Serra do Mar. M'Boi Mirim e Vila Prudente choveram uns 190 mm a menos: pode ser chuva convectiva muito localizada ou falha de registro — vou comparar as séries diárias na Parte 3. Importante: discrepante não é evento extremo, e o projeto não faz previsão. O limiar 1,5 é exploratório; o z de todas está em dados/discrepancia_preliminar.csv.</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Frase de fechamento: o grafo não só representa a rede — ele já mostrou onde ela é frágil e quais estações merecem investigação, e prepara a análise de centralidade e comunidades da Parte 3. ODS: 11 (meta 11.5, desastres), 13 (meta 13.1, resiliência ao clima) e 9 (meta 9.1, infraestrutura resiliente: a própria rede de monitoramento).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viniolt/analise-rede-estacoes-grafos"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44"/>
        </a:solidFill>
        <a:effectLst/>
      </p:bgPr>
    </p:bg>
    <p:spTree>
      <p:nvGrpSpPr>
        <p:cNvPr id="1" name=""/>
        <p:cNvGrpSpPr/>
        <p:nvPr/>
      </p:nvGrpSpPr>
      <p:grpSpPr>
        <a:xfrm>
          <a:off x="0" y="0"/>
          <a:ext cx="0" cy="0"/>
          <a:chOff x="0" y="0"/>
          <a:chExt cx="0" cy="0"/>
        </a:xfrm>
      </p:grpSpPr>
      <p:sp>
        <p:nvSpPr>
          <p:cNvPr id="2" name="Shape 0"/>
          <p:cNvSpPr/>
          <p:nvPr/>
        </p:nvSpPr>
        <p:spPr>
          <a:xfrm>
            <a:off x="8138160" y="1280160"/>
            <a:ext cx="1645920" cy="548640"/>
          </a:xfrm>
          <a:prstGeom prst="line">
            <a:avLst/>
          </a:prstGeom>
          <a:noFill/>
          <a:ln w="25400">
            <a:solidFill>
              <a:srgbClr val="4E6E8E"/>
            </a:solidFill>
            <a:prstDash val="solid"/>
          </a:ln>
        </p:spPr>
        <p:txBody>
          <a:bodyPr/>
          <a:lstStyle/>
          <a:p>
            <a:endParaRPr lang="pt-BR"/>
          </a:p>
        </p:txBody>
      </p:sp>
      <p:sp>
        <p:nvSpPr>
          <p:cNvPr id="3" name="Shape 1"/>
          <p:cNvSpPr/>
          <p:nvPr/>
        </p:nvSpPr>
        <p:spPr>
          <a:xfrm flipV="1">
            <a:off x="9784080" y="1371600"/>
            <a:ext cx="1463040" cy="457200"/>
          </a:xfrm>
          <a:prstGeom prst="line">
            <a:avLst/>
          </a:prstGeom>
          <a:noFill/>
          <a:ln w="25400">
            <a:solidFill>
              <a:srgbClr val="4E6E8E"/>
            </a:solidFill>
            <a:prstDash val="solid"/>
          </a:ln>
        </p:spPr>
        <p:txBody>
          <a:bodyPr/>
          <a:lstStyle/>
          <a:p>
            <a:endParaRPr lang="pt-BR"/>
          </a:p>
        </p:txBody>
      </p:sp>
      <p:sp>
        <p:nvSpPr>
          <p:cNvPr id="4" name="Shape 2"/>
          <p:cNvSpPr/>
          <p:nvPr/>
        </p:nvSpPr>
        <p:spPr>
          <a:xfrm>
            <a:off x="8138160" y="1280160"/>
            <a:ext cx="548640" cy="1828800"/>
          </a:xfrm>
          <a:prstGeom prst="line">
            <a:avLst/>
          </a:prstGeom>
          <a:noFill/>
          <a:ln w="25400">
            <a:solidFill>
              <a:srgbClr val="4E6E8E"/>
            </a:solidFill>
            <a:prstDash val="solid"/>
          </a:ln>
        </p:spPr>
        <p:txBody>
          <a:bodyPr/>
          <a:lstStyle/>
          <a:p>
            <a:endParaRPr lang="pt-BR"/>
          </a:p>
        </p:txBody>
      </p:sp>
      <p:sp>
        <p:nvSpPr>
          <p:cNvPr id="5" name="Shape 3"/>
          <p:cNvSpPr/>
          <p:nvPr/>
        </p:nvSpPr>
        <p:spPr>
          <a:xfrm flipH="1">
            <a:off x="8686800" y="1828800"/>
            <a:ext cx="1097280" cy="1280160"/>
          </a:xfrm>
          <a:prstGeom prst="line">
            <a:avLst/>
          </a:prstGeom>
          <a:noFill/>
          <a:ln w="25400">
            <a:solidFill>
              <a:srgbClr val="4E6E8E"/>
            </a:solidFill>
            <a:prstDash val="solid"/>
          </a:ln>
        </p:spPr>
        <p:txBody>
          <a:bodyPr/>
          <a:lstStyle/>
          <a:p>
            <a:endParaRPr lang="pt-BR"/>
          </a:p>
        </p:txBody>
      </p:sp>
      <p:sp>
        <p:nvSpPr>
          <p:cNvPr id="6" name="Shape 4"/>
          <p:cNvSpPr/>
          <p:nvPr/>
        </p:nvSpPr>
        <p:spPr>
          <a:xfrm>
            <a:off x="9784080" y="1828800"/>
            <a:ext cx="731520" cy="1554480"/>
          </a:xfrm>
          <a:prstGeom prst="line">
            <a:avLst/>
          </a:prstGeom>
          <a:noFill/>
          <a:ln w="25400">
            <a:solidFill>
              <a:srgbClr val="4E6E8E"/>
            </a:solidFill>
            <a:prstDash val="solid"/>
          </a:ln>
        </p:spPr>
        <p:txBody>
          <a:bodyPr/>
          <a:lstStyle/>
          <a:p>
            <a:endParaRPr lang="pt-BR"/>
          </a:p>
        </p:txBody>
      </p:sp>
      <p:sp>
        <p:nvSpPr>
          <p:cNvPr id="7" name="Shape 5"/>
          <p:cNvSpPr/>
          <p:nvPr/>
        </p:nvSpPr>
        <p:spPr>
          <a:xfrm flipH="1">
            <a:off x="10515600" y="1371600"/>
            <a:ext cx="731520" cy="2011680"/>
          </a:xfrm>
          <a:prstGeom prst="line">
            <a:avLst/>
          </a:prstGeom>
          <a:noFill/>
          <a:ln w="25400">
            <a:solidFill>
              <a:srgbClr val="4E6E8E"/>
            </a:solidFill>
            <a:prstDash val="solid"/>
          </a:ln>
        </p:spPr>
        <p:txBody>
          <a:bodyPr/>
          <a:lstStyle/>
          <a:p>
            <a:endParaRPr lang="pt-BR"/>
          </a:p>
        </p:txBody>
      </p:sp>
      <p:sp>
        <p:nvSpPr>
          <p:cNvPr id="8" name="Shape 6"/>
          <p:cNvSpPr/>
          <p:nvPr/>
        </p:nvSpPr>
        <p:spPr>
          <a:xfrm>
            <a:off x="8686800" y="3108960"/>
            <a:ext cx="1828800" cy="274320"/>
          </a:xfrm>
          <a:prstGeom prst="line">
            <a:avLst/>
          </a:prstGeom>
          <a:noFill/>
          <a:ln w="25400">
            <a:solidFill>
              <a:srgbClr val="4E6E8E"/>
            </a:solidFill>
            <a:prstDash val="solid"/>
          </a:ln>
        </p:spPr>
        <p:txBody>
          <a:bodyPr/>
          <a:lstStyle/>
          <a:p>
            <a:endParaRPr lang="pt-BR"/>
          </a:p>
        </p:txBody>
      </p:sp>
      <p:sp>
        <p:nvSpPr>
          <p:cNvPr id="9" name="Shape 7"/>
          <p:cNvSpPr/>
          <p:nvPr/>
        </p:nvSpPr>
        <p:spPr>
          <a:xfrm>
            <a:off x="8686800" y="3108960"/>
            <a:ext cx="548640" cy="1463040"/>
          </a:xfrm>
          <a:prstGeom prst="line">
            <a:avLst/>
          </a:prstGeom>
          <a:noFill/>
          <a:ln w="25400">
            <a:solidFill>
              <a:srgbClr val="4E6E8E"/>
            </a:solidFill>
            <a:prstDash val="solid"/>
          </a:ln>
        </p:spPr>
        <p:txBody>
          <a:bodyPr/>
          <a:lstStyle/>
          <a:p>
            <a:endParaRPr lang="pt-BR"/>
          </a:p>
        </p:txBody>
      </p:sp>
      <p:sp>
        <p:nvSpPr>
          <p:cNvPr id="10" name="Shape 8"/>
          <p:cNvSpPr/>
          <p:nvPr/>
        </p:nvSpPr>
        <p:spPr>
          <a:xfrm flipH="1">
            <a:off x="9235440" y="3383280"/>
            <a:ext cx="1280160" cy="1188720"/>
          </a:xfrm>
          <a:prstGeom prst="line">
            <a:avLst/>
          </a:prstGeom>
          <a:noFill/>
          <a:ln w="25400">
            <a:solidFill>
              <a:srgbClr val="4E6E8E"/>
            </a:solidFill>
            <a:prstDash val="solid"/>
          </a:ln>
        </p:spPr>
        <p:txBody>
          <a:bodyPr/>
          <a:lstStyle/>
          <a:p>
            <a:endParaRPr lang="pt-BR"/>
          </a:p>
        </p:txBody>
      </p:sp>
      <p:sp>
        <p:nvSpPr>
          <p:cNvPr id="11" name="Shape 9"/>
          <p:cNvSpPr/>
          <p:nvPr/>
        </p:nvSpPr>
        <p:spPr>
          <a:xfrm>
            <a:off x="10515600" y="3383280"/>
            <a:ext cx="914400" cy="1280160"/>
          </a:xfrm>
          <a:prstGeom prst="line">
            <a:avLst/>
          </a:prstGeom>
          <a:noFill/>
          <a:ln w="25400">
            <a:solidFill>
              <a:srgbClr val="4E6E8E"/>
            </a:solidFill>
            <a:prstDash val="solid"/>
          </a:ln>
        </p:spPr>
        <p:txBody>
          <a:bodyPr/>
          <a:lstStyle/>
          <a:p>
            <a:endParaRPr lang="pt-BR"/>
          </a:p>
        </p:txBody>
      </p:sp>
      <p:sp>
        <p:nvSpPr>
          <p:cNvPr id="12" name="Shape 10"/>
          <p:cNvSpPr/>
          <p:nvPr/>
        </p:nvSpPr>
        <p:spPr>
          <a:xfrm>
            <a:off x="9235440" y="4572000"/>
            <a:ext cx="1005840" cy="914400"/>
          </a:xfrm>
          <a:prstGeom prst="line">
            <a:avLst/>
          </a:prstGeom>
          <a:noFill/>
          <a:ln w="25400">
            <a:solidFill>
              <a:srgbClr val="4E6E8E"/>
            </a:solidFill>
            <a:prstDash val="solid"/>
          </a:ln>
        </p:spPr>
        <p:txBody>
          <a:bodyPr/>
          <a:lstStyle/>
          <a:p>
            <a:endParaRPr lang="pt-BR"/>
          </a:p>
        </p:txBody>
      </p:sp>
      <p:sp>
        <p:nvSpPr>
          <p:cNvPr id="13" name="Shape 11"/>
          <p:cNvSpPr/>
          <p:nvPr/>
        </p:nvSpPr>
        <p:spPr>
          <a:xfrm flipH="1">
            <a:off x="10241280" y="4663440"/>
            <a:ext cx="1188720" cy="822960"/>
          </a:xfrm>
          <a:prstGeom prst="line">
            <a:avLst/>
          </a:prstGeom>
          <a:noFill/>
          <a:ln w="25400">
            <a:solidFill>
              <a:srgbClr val="4E6E8E"/>
            </a:solidFill>
            <a:prstDash val="solid"/>
          </a:ln>
        </p:spPr>
        <p:txBody>
          <a:bodyPr/>
          <a:lstStyle/>
          <a:p>
            <a:endParaRPr lang="pt-BR"/>
          </a:p>
        </p:txBody>
      </p:sp>
      <p:sp>
        <p:nvSpPr>
          <p:cNvPr id="14" name="Shape 12"/>
          <p:cNvSpPr/>
          <p:nvPr/>
        </p:nvSpPr>
        <p:spPr>
          <a:xfrm>
            <a:off x="7991856" y="1133856"/>
            <a:ext cx="292608" cy="292608"/>
          </a:xfrm>
          <a:prstGeom prst="ellipse">
            <a:avLst/>
          </a:prstGeom>
          <a:solidFill>
            <a:srgbClr val="CADCFC"/>
          </a:solidFill>
          <a:ln w="12700">
            <a:solidFill>
              <a:srgbClr val="CADCFC"/>
            </a:solidFill>
            <a:prstDash val="solid"/>
          </a:ln>
        </p:spPr>
        <p:txBody>
          <a:bodyPr/>
          <a:lstStyle/>
          <a:p>
            <a:endParaRPr lang="pt-BR"/>
          </a:p>
        </p:txBody>
      </p:sp>
      <p:sp>
        <p:nvSpPr>
          <p:cNvPr id="15" name="Shape 13"/>
          <p:cNvSpPr/>
          <p:nvPr/>
        </p:nvSpPr>
        <p:spPr>
          <a:xfrm>
            <a:off x="9610344" y="1655064"/>
            <a:ext cx="347472" cy="347472"/>
          </a:xfrm>
          <a:prstGeom prst="ellipse">
            <a:avLst/>
          </a:prstGeom>
          <a:solidFill>
            <a:srgbClr val="7FB3E6"/>
          </a:solidFill>
          <a:ln w="12700">
            <a:solidFill>
              <a:srgbClr val="7FB3E6"/>
            </a:solidFill>
            <a:prstDash val="solid"/>
          </a:ln>
        </p:spPr>
        <p:txBody>
          <a:bodyPr/>
          <a:lstStyle/>
          <a:p>
            <a:endParaRPr lang="pt-BR"/>
          </a:p>
        </p:txBody>
      </p:sp>
      <p:sp>
        <p:nvSpPr>
          <p:cNvPr id="16" name="Shape 14"/>
          <p:cNvSpPr/>
          <p:nvPr/>
        </p:nvSpPr>
        <p:spPr>
          <a:xfrm>
            <a:off x="11045952" y="1170432"/>
            <a:ext cx="402336" cy="402336"/>
          </a:xfrm>
          <a:prstGeom prst="ellipse">
            <a:avLst/>
          </a:prstGeom>
          <a:solidFill>
            <a:srgbClr val="CADCFC"/>
          </a:solidFill>
          <a:ln w="12700">
            <a:solidFill>
              <a:srgbClr val="CADCFC"/>
            </a:solidFill>
            <a:prstDash val="solid"/>
          </a:ln>
        </p:spPr>
        <p:txBody>
          <a:bodyPr/>
          <a:lstStyle/>
          <a:p>
            <a:endParaRPr lang="pt-BR"/>
          </a:p>
        </p:txBody>
      </p:sp>
      <p:sp>
        <p:nvSpPr>
          <p:cNvPr id="17" name="Shape 15"/>
          <p:cNvSpPr/>
          <p:nvPr/>
        </p:nvSpPr>
        <p:spPr>
          <a:xfrm>
            <a:off x="8540496" y="2962656"/>
            <a:ext cx="292608" cy="292608"/>
          </a:xfrm>
          <a:prstGeom prst="ellipse">
            <a:avLst/>
          </a:prstGeom>
          <a:solidFill>
            <a:srgbClr val="4C8ED1"/>
          </a:solidFill>
          <a:ln w="12700">
            <a:solidFill>
              <a:srgbClr val="4C8ED1"/>
            </a:solidFill>
            <a:prstDash val="solid"/>
          </a:ln>
        </p:spPr>
        <p:txBody>
          <a:bodyPr/>
          <a:lstStyle/>
          <a:p>
            <a:endParaRPr lang="pt-BR"/>
          </a:p>
        </p:txBody>
      </p:sp>
      <p:sp>
        <p:nvSpPr>
          <p:cNvPr id="18" name="Shape 16"/>
          <p:cNvSpPr/>
          <p:nvPr/>
        </p:nvSpPr>
        <p:spPr>
          <a:xfrm>
            <a:off x="10341864" y="3209544"/>
            <a:ext cx="347472" cy="347472"/>
          </a:xfrm>
          <a:prstGeom prst="ellipse">
            <a:avLst/>
          </a:prstGeom>
          <a:solidFill>
            <a:srgbClr val="7FB3E6"/>
          </a:solidFill>
          <a:ln w="12700">
            <a:solidFill>
              <a:srgbClr val="7FB3E6"/>
            </a:solidFill>
            <a:prstDash val="solid"/>
          </a:ln>
        </p:spPr>
        <p:txBody>
          <a:bodyPr/>
          <a:lstStyle/>
          <a:p>
            <a:endParaRPr lang="pt-BR"/>
          </a:p>
        </p:txBody>
      </p:sp>
      <p:sp>
        <p:nvSpPr>
          <p:cNvPr id="19" name="Shape 17"/>
          <p:cNvSpPr/>
          <p:nvPr/>
        </p:nvSpPr>
        <p:spPr>
          <a:xfrm>
            <a:off x="9034272" y="4370832"/>
            <a:ext cx="402336" cy="402336"/>
          </a:xfrm>
          <a:prstGeom prst="ellipse">
            <a:avLst/>
          </a:prstGeom>
          <a:solidFill>
            <a:srgbClr val="CADCFC"/>
          </a:solidFill>
          <a:ln w="12700">
            <a:solidFill>
              <a:srgbClr val="CADCFC"/>
            </a:solidFill>
            <a:prstDash val="solid"/>
          </a:ln>
        </p:spPr>
        <p:txBody>
          <a:bodyPr/>
          <a:lstStyle/>
          <a:p>
            <a:endParaRPr lang="pt-BR"/>
          </a:p>
        </p:txBody>
      </p:sp>
      <p:sp>
        <p:nvSpPr>
          <p:cNvPr id="20" name="Shape 18"/>
          <p:cNvSpPr/>
          <p:nvPr/>
        </p:nvSpPr>
        <p:spPr>
          <a:xfrm>
            <a:off x="11283696" y="4517136"/>
            <a:ext cx="292608" cy="292608"/>
          </a:xfrm>
          <a:prstGeom prst="ellipse">
            <a:avLst/>
          </a:prstGeom>
          <a:solidFill>
            <a:srgbClr val="E8A15C"/>
          </a:solidFill>
          <a:ln w="12700">
            <a:solidFill>
              <a:srgbClr val="E8A15C"/>
            </a:solidFill>
            <a:prstDash val="solid"/>
          </a:ln>
        </p:spPr>
        <p:txBody>
          <a:bodyPr/>
          <a:lstStyle/>
          <a:p>
            <a:endParaRPr lang="pt-BR"/>
          </a:p>
        </p:txBody>
      </p:sp>
      <p:sp>
        <p:nvSpPr>
          <p:cNvPr id="21" name="Shape 19"/>
          <p:cNvSpPr/>
          <p:nvPr/>
        </p:nvSpPr>
        <p:spPr>
          <a:xfrm>
            <a:off x="10067544" y="5312664"/>
            <a:ext cx="347472" cy="347472"/>
          </a:xfrm>
          <a:prstGeom prst="ellipse">
            <a:avLst/>
          </a:prstGeom>
          <a:solidFill>
            <a:srgbClr val="4C8ED1"/>
          </a:solidFill>
          <a:ln w="12700">
            <a:solidFill>
              <a:srgbClr val="4C8ED1"/>
            </a:solidFill>
            <a:prstDash val="solid"/>
          </a:ln>
        </p:spPr>
        <p:txBody>
          <a:bodyPr/>
          <a:lstStyle/>
          <a:p>
            <a:endParaRPr lang="pt-BR"/>
          </a:p>
        </p:txBody>
      </p:sp>
      <p:sp>
        <p:nvSpPr>
          <p:cNvPr id="22" name="Text 20"/>
          <p:cNvSpPr txBox="1"/>
          <p:nvPr/>
        </p:nvSpPr>
        <p:spPr>
          <a:xfrm>
            <a:off x="731520" y="914400"/>
            <a:ext cx="6858000" cy="320040"/>
          </a:xfrm>
          <a:prstGeom prst="rect">
            <a:avLst/>
          </a:prstGeom>
          <a:noFill/>
          <a:ln/>
        </p:spPr>
        <p:txBody>
          <a:bodyPr wrap="square" lIns="0" tIns="0" rIns="0" bIns="0" rtlCol="0" anchor="t"/>
          <a:lstStyle/>
          <a:p>
            <a:pPr marL="0" indent="0">
              <a:buNone/>
            </a:pPr>
            <a:r>
              <a:rPr lang="en-US" sz="1400" b="1" kern="0" spc="300" dirty="0">
                <a:solidFill>
                  <a:srgbClr val="7FB3E6"/>
                </a:solidFill>
                <a:latin typeface="Calibri" pitchFamily="34" charset="0"/>
                <a:ea typeface="Calibri" pitchFamily="34" charset="-122"/>
                <a:cs typeface="Calibri" pitchFamily="34" charset="-120"/>
              </a:rPr>
              <a:t>TEORIA DOS GRAFOS · PROJETO PARTE 2</a:t>
            </a:r>
            <a:endParaRPr lang="en-US" sz="1400" dirty="0"/>
          </a:p>
        </p:txBody>
      </p:sp>
      <p:sp>
        <p:nvSpPr>
          <p:cNvPr id="23" name="Text 21"/>
          <p:cNvSpPr txBox="1"/>
          <p:nvPr/>
        </p:nvSpPr>
        <p:spPr>
          <a:xfrm>
            <a:off x="731520" y="1417320"/>
            <a:ext cx="6675120" cy="219456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Análise de padrões climáticos em uma rede de estações meteorológicas</a:t>
            </a:r>
            <a:endParaRPr lang="en-US" sz="4000" dirty="0"/>
          </a:p>
        </p:txBody>
      </p:sp>
      <p:sp>
        <p:nvSpPr>
          <p:cNvPr id="24" name="Text 22"/>
          <p:cNvSpPr txBox="1"/>
          <p:nvPr/>
        </p:nvSpPr>
        <p:spPr>
          <a:xfrm>
            <a:off x="731520" y="3657600"/>
            <a:ext cx="6675120" cy="457200"/>
          </a:xfrm>
          <a:prstGeom prst="rect">
            <a:avLst/>
          </a:prstGeom>
          <a:noFill/>
          <a:ln/>
        </p:spPr>
        <p:txBody>
          <a:bodyPr wrap="square" lIns="0" tIns="0" rIns="0" bIns="0" rtlCol="0" anchor="t"/>
          <a:lstStyle/>
          <a:p>
            <a:pPr marL="0" indent="0">
              <a:buNone/>
            </a:pPr>
            <a:r>
              <a:rPr lang="en-US" sz="2200" dirty="0">
                <a:solidFill>
                  <a:srgbClr val="CADCFC"/>
                </a:solidFill>
                <a:latin typeface="Calibri" pitchFamily="34" charset="0"/>
                <a:ea typeface="Calibri" pitchFamily="34" charset="-122"/>
                <a:cs typeface="Calibri" pitchFamily="34" charset="-120"/>
              </a:rPr>
              <a:t>por meio da Teoria dos Grafos</a:t>
            </a:r>
            <a:endParaRPr lang="en-US" sz="2200" dirty="0"/>
          </a:p>
        </p:txBody>
      </p:sp>
      <p:sp>
        <p:nvSpPr>
          <p:cNvPr id="25" name="Text 23"/>
          <p:cNvSpPr txBox="1"/>
          <p:nvPr/>
        </p:nvSpPr>
        <p:spPr>
          <a:xfrm>
            <a:off x="731520" y="5349240"/>
            <a:ext cx="7315200" cy="365760"/>
          </a:xfrm>
          <a:prstGeom prst="rect">
            <a:avLst/>
          </a:prstGeom>
          <a:noFill/>
          <a:ln/>
        </p:spPr>
        <p:txBody>
          <a:bodyPr wrap="square" lIns="0" tIns="0" rIns="0" bIns="0" rtlCol="0" anchor="t"/>
          <a:lstStyle/>
          <a:p>
            <a:pPr marL="0" indent="0">
              <a:buNone/>
            </a:pPr>
            <a:r>
              <a:rPr lang="en-US" sz="1800" b="1" dirty="0">
                <a:solidFill>
                  <a:srgbClr val="FFFFFF"/>
                </a:solidFill>
                <a:latin typeface="Calibri" pitchFamily="34" charset="0"/>
                <a:ea typeface="Calibri" pitchFamily="34" charset="-122"/>
                <a:cs typeface="Calibri" pitchFamily="34" charset="-120"/>
              </a:rPr>
              <a:t>Vinícius Pereira Rodrigues · RA 10729470</a:t>
            </a:r>
            <a:endParaRPr lang="en-US" sz="1800" dirty="0"/>
          </a:p>
        </p:txBody>
      </p:sp>
      <p:sp>
        <p:nvSpPr>
          <p:cNvPr id="26" name="Text 24"/>
          <p:cNvSpPr txBox="1"/>
          <p:nvPr/>
        </p:nvSpPr>
        <p:spPr>
          <a:xfrm>
            <a:off x="731520" y="5760720"/>
            <a:ext cx="10515600" cy="320040"/>
          </a:xfrm>
          <a:prstGeom prst="rect">
            <a:avLst/>
          </a:prstGeom>
          <a:noFill/>
          <a:ln/>
        </p:spPr>
        <p:txBody>
          <a:bodyPr wrap="square" lIns="0" tIns="0" rIns="0" bIns="0" rtlCol="0" anchor="t"/>
          <a:lstStyle/>
          <a:p>
            <a:pPr marL="0" indent="0">
              <a:buNone/>
            </a:pPr>
            <a:r>
              <a:rPr lang="en-US" sz="1200" dirty="0">
                <a:solidFill>
                  <a:srgbClr val="CADCFC"/>
                </a:solidFill>
                <a:latin typeface="Calibri" pitchFamily="34" charset="0"/>
                <a:ea typeface="Calibri" pitchFamily="34" charset="-122"/>
                <a:cs typeface="Calibri" pitchFamily="34" charset="-120"/>
              </a:rPr>
              <a:t>Ciência da Computação, turma 6ºG · Prof. Dr. Ivan Carlos Alcântara de Oliveira · Universidade Presbiteriana Mackenzie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marL="0" indent="0">
              <a:buNone/>
            </a:pPr>
            <a:r>
              <a:rPr lang="en-US" sz="1200" b="1" kern="0" spc="200" dirty="0">
                <a:solidFill>
                  <a:srgbClr val="2E78C2"/>
                </a:solidFill>
                <a:latin typeface="Calibri" pitchFamily="34" charset="0"/>
                <a:ea typeface="Calibri" pitchFamily="34" charset="-122"/>
                <a:cs typeface="Calibri" pitchFamily="34" charset="-120"/>
              </a:rPr>
              <a:t>O PROBLEMA</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t"/>
          <a:lstStyle/>
          <a:p>
            <a:pPr marL="0" indent="0">
              <a:buNone/>
            </a:pPr>
            <a:r>
              <a:rPr lang="en-US" sz="2800" b="1" dirty="0">
                <a:solidFill>
                  <a:srgbClr val="0F2A44"/>
                </a:solidFill>
                <a:latin typeface="Cambria" pitchFamily="34" charset="0"/>
                <a:ea typeface="Cambria" pitchFamily="34" charset="-122"/>
                <a:cs typeface="Cambria" pitchFamily="34" charset="-120"/>
              </a:rPr>
              <a:t>Chuvas em São Paulo são intensas e localizadas</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t"/>
          <a:lstStyle/>
          <a:p>
            <a:pPr marL="0" indent="0">
              <a:buNone/>
            </a:pPr>
            <a:r>
              <a:rPr lang="en-US" sz="1000" dirty="0">
                <a:solidFill>
                  <a:srgbClr val="5F6B7A"/>
                </a:solidFill>
                <a:latin typeface="Calibri" pitchFamily="34" charset="0"/>
                <a:ea typeface="Calibri" pitchFamily="34" charset="-122"/>
                <a:cs typeface="Calibri" pitchFamily="34" charset="-120"/>
              </a:rPr>
              <a:t>Análise da rede de estações com grafos · Parte 2</a:t>
            </a:r>
            <a:endParaRPr lang="en-US" sz="1000" dirty="0"/>
          </a:p>
        </p:txBody>
      </p:sp>
      <p:sp>
        <p:nvSpPr>
          <p:cNvPr id="5" name="Text 3"/>
          <p:cNvSpPr txBox="1"/>
          <p:nvPr/>
        </p:nvSpPr>
        <p:spPr>
          <a:xfrm>
            <a:off x="10728655" y="6400800"/>
            <a:ext cx="914400" cy="228600"/>
          </a:xfrm>
          <a:prstGeom prst="rect">
            <a:avLst/>
          </a:prstGeom>
          <a:noFill/>
          <a:ln/>
        </p:spPr>
        <p:txBody>
          <a:bodyPr wrap="square" lIns="0" tIns="0" rIns="0" bIns="0" rtlCol="0" anchor="t"/>
          <a:lstStyle/>
          <a:p>
            <a:pPr marL="0" indent="0" algn="r">
              <a:buNone/>
            </a:pPr>
            <a:r>
              <a:rPr lang="en-US" sz="1000" dirty="0">
                <a:solidFill>
                  <a:srgbClr val="5F6B7A"/>
                </a:solidFill>
                <a:latin typeface="Calibri" pitchFamily="34" charset="0"/>
                <a:ea typeface="Calibri" pitchFamily="34" charset="-122"/>
                <a:cs typeface="Calibri" pitchFamily="34" charset="-120"/>
              </a:rPr>
              <a:t>2</a:t>
            </a:r>
            <a:endParaRPr lang="en-US" sz="1000" dirty="0"/>
          </a:p>
        </p:txBody>
      </p:sp>
      <p:sp>
        <p:nvSpPr>
          <p:cNvPr id="6" name="Shape 4"/>
          <p:cNvSpPr/>
          <p:nvPr/>
        </p:nvSpPr>
        <p:spPr>
          <a:xfrm>
            <a:off x="548640" y="1600200"/>
            <a:ext cx="3454298" cy="1828800"/>
          </a:xfrm>
          <a:prstGeom prst="roundRect">
            <a:avLst>
              <a:gd name="adj" fmla="val 4000"/>
            </a:avLst>
          </a:prstGeom>
          <a:solidFill>
            <a:srgbClr val="F3F6FA"/>
          </a:solidFill>
          <a:ln w="12700">
            <a:solidFill>
              <a:srgbClr val="F3F6FA"/>
            </a:solidFill>
            <a:prstDash val="solid"/>
          </a:ln>
        </p:spPr>
        <p:txBody>
          <a:bodyPr/>
          <a:lstStyle/>
          <a:p>
            <a:endParaRPr lang="pt-BR"/>
          </a:p>
        </p:txBody>
      </p:sp>
      <p:sp>
        <p:nvSpPr>
          <p:cNvPr id="7" name="Text 5"/>
          <p:cNvSpPr txBox="1"/>
          <p:nvPr/>
        </p:nvSpPr>
        <p:spPr>
          <a:xfrm>
            <a:off x="868680" y="1783080"/>
            <a:ext cx="2814218" cy="868680"/>
          </a:xfrm>
          <a:prstGeom prst="rect">
            <a:avLst/>
          </a:prstGeom>
          <a:noFill/>
          <a:ln/>
        </p:spPr>
        <p:txBody>
          <a:bodyPr wrap="square" lIns="0" tIns="0" rIns="0" bIns="0" rtlCol="0" anchor="t"/>
          <a:lstStyle/>
          <a:p>
            <a:pPr marL="0" indent="0">
              <a:buNone/>
            </a:pPr>
            <a:r>
              <a:rPr lang="en-US" sz="4800" b="1" dirty="0">
                <a:solidFill>
                  <a:srgbClr val="2E78C2"/>
                </a:solidFill>
                <a:latin typeface="Cambria" pitchFamily="34" charset="0"/>
                <a:ea typeface="Cambria" pitchFamily="34" charset="-122"/>
                <a:cs typeface="Cambria" pitchFamily="34" charset="-120"/>
              </a:rPr>
              <a:t>32</a:t>
            </a:r>
            <a:endParaRPr lang="en-US" sz="4800" dirty="0"/>
          </a:p>
        </p:txBody>
      </p:sp>
      <p:sp>
        <p:nvSpPr>
          <p:cNvPr id="8" name="Text 6"/>
          <p:cNvSpPr txBox="1"/>
          <p:nvPr/>
        </p:nvSpPr>
        <p:spPr>
          <a:xfrm>
            <a:off x="868680" y="2697480"/>
            <a:ext cx="2814218" cy="548640"/>
          </a:xfrm>
          <a:prstGeom prst="rect">
            <a:avLst/>
          </a:prstGeom>
          <a:noFill/>
          <a:ln/>
        </p:spPr>
        <p:txBody>
          <a:bodyPr wrap="square" lIns="0" tIns="0" rIns="0" bIns="0" rtlCol="0" anchor="t"/>
          <a:lstStyle/>
          <a:p>
            <a:pPr marL="0" indent="0">
              <a:buNone/>
            </a:pPr>
            <a:r>
              <a:rPr lang="en-US" sz="1500" dirty="0">
                <a:solidFill>
                  <a:srgbClr val="3E4C59"/>
                </a:solidFill>
                <a:latin typeface="Calibri" pitchFamily="34" charset="0"/>
                <a:ea typeface="Calibri" pitchFamily="34" charset="-122"/>
                <a:cs typeface="Calibri" pitchFamily="34" charset="-120"/>
              </a:rPr>
              <a:t>estações automáticas do CGE</a:t>
            </a:r>
            <a:endParaRPr lang="en-US" sz="1500" dirty="0"/>
          </a:p>
        </p:txBody>
      </p:sp>
      <p:sp>
        <p:nvSpPr>
          <p:cNvPr id="9" name="Shape 7"/>
          <p:cNvSpPr/>
          <p:nvPr/>
        </p:nvSpPr>
        <p:spPr>
          <a:xfrm>
            <a:off x="4368698" y="1600200"/>
            <a:ext cx="3454298" cy="1828800"/>
          </a:xfrm>
          <a:prstGeom prst="roundRect">
            <a:avLst>
              <a:gd name="adj" fmla="val 4000"/>
            </a:avLst>
          </a:prstGeom>
          <a:solidFill>
            <a:srgbClr val="F3F6FA"/>
          </a:solidFill>
          <a:ln w="12700">
            <a:solidFill>
              <a:srgbClr val="F3F6FA"/>
            </a:solidFill>
            <a:prstDash val="solid"/>
          </a:ln>
        </p:spPr>
        <p:txBody>
          <a:bodyPr/>
          <a:lstStyle/>
          <a:p>
            <a:endParaRPr lang="pt-BR"/>
          </a:p>
        </p:txBody>
      </p:sp>
      <p:sp>
        <p:nvSpPr>
          <p:cNvPr id="10" name="Text 8"/>
          <p:cNvSpPr txBox="1"/>
          <p:nvPr/>
        </p:nvSpPr>
        <p:spPr>
          <a:xfrm>
            <a:off x="4688738" y="1783080"/>
            <a:ext cx="2814218" cy="868680"/>
          </a:xfrm>
          <a:prstGeom prst="rect">
            <a:avLst/>
          </a:prstGeom>
          <a:noFill/>
          <a:ln/>
        </p:spPr>
        <p:txBody>
          <a:bodyPr wrap="square" lIns="0" tIns="0" rIns="0" bIns="0" rtlCol="0" anchor="t"/>
          <a:lstStyle/>
          <a:p>
            <a:pPr marL="0" indent="0">
              <a:buNone/>
            </a:pPr>
            <a:r>
              <a:rPr lang="en-US" sz="4800" b="1" dirty="0">
                <a:solidFill>
                  <a:srgbClr val="2E78C2"/>
                </a:solidFill>
                <a:latin typeface="Cambria" pitchFamily="34" charset="0"/>
                <a:ea typeface="Cambria" pitchFamily="34" charset="-122"/>
                <a:cs typeface="Cambria" pitchFamily="34" charset="-120"/>
              </a:rPr>
              <a:t>10 min</a:t>
            </a:r>
            <a:endParaRPr lang="en-US" sz="4800" dirty="0"/>
          </a:p>
        </p:txBody>
      </p:sp>
      <p:sp>
        <p:nvSpPr>
          <p:cNvPr id="11" name="Text 9"/>
          <p:cNvSpPr txBox="1"/>
          <p:nvPr/>
        </p:nvSpPr>
        <p:spPr>
          <a:xfrm>
            <a:off x="4688738" y="2697480"/>
            <a:ext cx="2814218" cy="548640"/>
          </a:xfrm>
          <a:prstGeom prst="rect">
            <a:avLst/>
          </a:prstGeom>
          <a:noFill/>
          <a:ln/>
        </p:spPr>
        <p:txBody>
          <a:bodyPr wrap="square" lIns="0" tIns="0" rIns="0" bIns="0" rtlCol="0" anchor="t"/>
          <a:lstStyle/>
          <a:p>
            <a:pPr marL="0" indent="0">
              <a:buNone/>
            </a:pPr>
            <a:r>
              <a:rPr lang="en-US" sz="1500" dirty="0">
                <a:solidFill>
                  <a:srgbClr val="3E4C59"/>
                </a:solidFill>
                <a:latin typeface="Calibri" pitchFamily="34" charset="0"/>
                <a:ea typeface="Calibri" pitchFamily="34" charset="-122"/>
                <a:cs typeface="Calibri" pitchFamily="34" charset="-120"/>
              </a:rPr>
              <a:t>intervalo entre registros</a:t>
            </a:r>
            <a:endParaRPr lang="en-US" sz="1500" dirty="0"/>
          </a:p>
        </p:txBody>
      </p:sp>
      <p:sp>
        <p:nvSpPr>
          <p:cNvPr id="12" name="Shape 10"/>
          <p:cNvSpPr/>
          <p:nvPr/>
        </p:nvSpPr>
        <p:spPr>
          <a:xfrm>
            <a:off x="8188757" y="1600200"/>
            <a:ext cx="3454298" cy="1828800"/>
          </a:xfrm>
          <a:prstGeom prst="roundRect">
            <a:avLst>
              <a:gd name="adj" fmla="val 4000"/>
            </a:avLst>
          </a:prstGeom>
          <a:solidFill>
            <a:srgbClr val="F3F6FA"/>
          </a:solidFill>
          <a:ln w="12700">
            <a:solidFill>
              <a:srgbClr val="F3F6FA"/>
            </a:solidFill>
            <a:prstDash val="solid"/>
          </a:ln>
        </p:spPr>
        <p:txBody>
          <a:bodyPr/>
          <a:lstStyle/>
          <a:p>
            <a:endParaRPr lang="pt-BR"/>
          </a:p>
        </p:txBody>
      </p:sp>
      <p:sp>
        <p:nvSpPr>
          <p:cNvPr id="13" name="Text 11"/>
          <p:cNvSpPr txBox="1"/>
          <p:nvPr/>
        </p:nvSpPr>
        <p:spPr>
          <a:xfrm>
            <a:off x="8508797" y="1783080"/>
            <a:ext cx="2814218" cy="868680"/>
          </a:xfrm>
          <a:prstGeom prst="rect">
            <a:avLst/>
          </a:prstGeom>
          <a:noFill/>
          <a:ln/>
        </p:spPr>
        <p:txBody>
          <a:bodyPr wrap="square" lIns="0" tIns="0" rIns="0" bIns="0" rtlCol="0" anchor="t"/>
          <a:lstStyle/>
          <a:p>
            <a:pPr marL="0" indent="0">
              <a:buNone/>
            </a:pPr>
            <a:r>
              <a:rPr lang="en-US" sz="4800" b="1" dirty="0">
                <a:solidFill>
                  <a:srgbClr val="2E78C2"/>
                </a:solidFill>
                <a:latin typeface="Cambria" pitchFamily="34" charset="0"/>
                <a:ea typeface="Cambria" pitchFamily="34" charset="-122"/>
                <a:cs typeface="Cambria" pitchFamily="34" charset="-120"/>
              </a:rPr>
              <a:t>121 dias</a:t>
            </a:r>
            <a:endParaRPr lang="en-US" sz="4800" dirty="0"/>
          </a:p>
        </p:txBody>
      </p:sp>
      <p:sp>
        <p:nvSpPr>
          <p:cNvPr id="14" name="Text 12"/>
          <p:cNvSpPr txBox="1"/>
          <p:nvPr/>
        </p:nvSpPr>
        <p:spPr>
          <a:xfrm>
            <a:off x="8508797" y="2697480"/>
            <a:ext cx="2814218" cy="548640"/>
          </a:xfrm>
          <a:prstGeom prst="rect">
            <a:avLst/>
          </a:prstGeom>
          <a:noFill/>
          <a:ln/>
        </p:spPr>
        <p:txBody>
          <a:bodyPr wrap="square" lIns="0" tIns="0" rIns="0" bIns="0" rtlCol="0" anchor="t"/>
          <a:lstStyle/>
          <a:p>
            <a:pPr marL="0" indent="0">
              <a:buNone/>
            </a:pPr>
            <a:r>
              <a:rPr lang="en-US" sz="1500" dirty="0">
                <a:solidFill>
                  <a:srgbClr val="3E4C59"/>
                </a:solidFill>
                <a:latin typeface="Calibri" pitchFamily="34" charset="0"/>
                <a:ea typeface="Calibri" pitchFamily="34" charset="-122"/>
                <a:cs typeface="Calibri" pitchFamily="34" charset="-120"/>
              </a:rPr>
              <a:t>janela analisada (01/01 a 30/04/2024)</a:t>
            </a:r>
            <a:endParaRPr lang="en-US" sz="1500" dirty="0"/>
          </a:p>
        </p:txBody>
      </p:sp>
      <p:sp>
        <p:nvSpPr>
          <p:cNvPr id="15" name="Shape 13"/>
          <p:cNvSpPr/>
          <p:nvPr/>
        </p:nvSpPr>
        <p:spPr>
          <a:xfrm>
            <a:off x="548640" y="3794760"/>
            <a:ext cx="11094415" cy="2240280"/>
          </a:xfrm>
          <a:prstGeom prst="roundRect">
            <a:avLst>
              <a:gd name="adj" fmla="val 3265"/>
            </a:avLst>
          </a:prstGeom>
          <a:solidFill>
            <a:srgbClr val="0F2A44"/>
          </a:solidFill>
          <a:ln w="12700">
            <a:solidFill>
              <a:srgbClr val="0F2A44"/>
            </a:solidFill>
            <a:prstDash val="solid"/>
          </a:ln>
        </p:spPr>
        <p:txBody>
          <a:bodyPr/>
          <a:lstStyle/>
          <a:p>
            <a:endParaRPr lang="pt-BR"/>
          </a:p>
        </p:txBody>
      </p:sp>
      <p:sp>
        <p:nvSpPr>
          <p:cNvPr id="16" name="Text 14"/>
          <p:cNvSpPr txBox="1"/>
          <p:nvPr/>
        </p:nvSpPr>
        <p:spPr>
          <a:xfrm>
            <a:off x="1005840" y="4069080"/>
            <a:ext cx="5486400" cy="274320"/>
          </a:xfrm>
          <a:prstGeom prst="rect">
            <a:avLst/>
          </a:prstGeom>
          <a:noFill/>
          <a:ln/>
        </p:spPr>
        <p:txBody>
          <a:bodyPr wrap="square" lIns="0" tIns="0" rIns="0" bIns="0" rtlCol="0" anchor="t"/>
          <a:lstStyle/>
          <a:p>
            <a:pPr marL="0" indent="0">
              <a:buNone/>
            </a:pPr>
            <a:r>
              <a:rPr lang="en-US" sz="1200" b="1" kern="0" spc="200" dirty="0">
                <a:solidFill>
                  <a:srgbClr val="7FB3E6"/>
                </a:solidFill>
                <a:latin typeface="Calibri" pitchFamily="34" charset="0"/>
                <a:ea typeface="Calibri" pitchFamily="34" charset="-122"/>
                <a:cs typeface="Calibri" pitchFamily="34" charset="-120"/>
              </a:rPr>
              <a:t>PERGUNTA DO PROJETO</a:t>
            </a:r>
            <a:endParaRPr lang="en-US" sz="1200" dirty="0"/>
          </a:p>
        </p:txBody>
      </p:sp>
      <p:sp>
        <p:nvSpPr>
          <p:cNvPr id="17" name="Text 15"/>
          <p:cNvSpPr txBox="1"/>
          <p:nvPr/>
        </p:nvSpPr>
        <p:spPr>
          <a:xfrm>
            <a:off x="1005840" y="4434840"/>
            <a:ext cx="10180015" cy="1371600"/>
          </a:xfrm>
          <a:prstGeom prst="rect">
            <a:avLst/>
          </a:prstGeom>
          <a:noFill/>
          <a:ln/>
        </p:spPr>
        <p:txBody>
          <a:bodyPr wrap="square" lIns="0" tIns="0" rIns="0" bIns="0" rtlCol="0" anchor="t"/>
          <a:lstStyle/>
          <a:p>
            <a:pPr marL="0" indent="0">
              <a:buNone/>
            </a:pPr>
            <a:r>
              <a:rPr lang="en-US" sz="2600" dirty="0">
                <a:solidFill>
                  <a:srgbClr val="FFFFFF"/>
                </a:solidFill>
                <a:latin typeface="Cambria" pitchFamily="34" charset="0"/>
                <a:ea typeface="Cambria" pitchFamily="34" charset="-122"/>
                <a:cs typeface="Cambria" pitchFamily="34" charset="-120"/>
              </a:rPr>
              <a:t>Como as estações se relacionam no espaço? Quais são centrais, como se agrupam e quais destoam das vizinhas?</a:t>
            </a:r>
            <a:endParaRPr lang="en-US"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marL="0" indent="0">
              <a:buNone/>
            </a:pPr>
            <a:r>
              <a:rPr lang="en-US" sz="1200" b="1" kern="0" spc="200" dirty="0">
                <a:solidFill>
                  <a:srgbClr val="2E78C2"/>
                </a:solidFill>
                <a:latin typeface="Calibri" pitchFamily="34" charset="0"/>
                <a:ea typeface="Calibri" pitchFamily="34" charset="-122"/>
                <a:cs typeface="Calibri" pitchFamily="34" charset="-120"/>
              </a:rPr>
              <a:t>POR QUE GRAFOS</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t"/>
          <a:lstStyle/>
          <a:p>
            <a:pPr marL="0" indent="0">
              <a:buNone/>
            </a:pPr>
            <a:r>
              <a:rPr lang="en-US" sz="2800" b="1" dirty="0">
                <a:solidFill>
                  <a:srgbClr val="0F2A44"/>
                </a:solidFill>
                <a:latin typeface="Cambria" pitchFamily="34" charset="0"/>
                <a:ea typeface="Cambria" pitchFamily="34" charset="-122"/>
                <a:cs typeface="Cambria" pitchFamily="34" charset="-120"/>
              </a:rPr>
              <a:t>Estações vizinhas tendem a medir valores parecidos</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t"/>
          <a:lstStyle/>
          <a:p>
            <a:pPr marL="0" indent="0">
              <a:buNone/>
            </a:pPr>
            <a:r>
              <a:rPr lang="en-US" sz="1000" dirty="0">
                <a:solidFill>
                  <a:srgbClr val="5F6B7A"/>
                </a:solidFill>
                <a:latin typeface="Calibri" pitchFamily="34" charset="0"/>
                <a:ea typeface="Calibri" pitchFamily="34" charset="-122"/>
                <a:cs typeface="Calibri" pitchFamily="34" charset="-120"/>
              </a:rPr>
              <a:t>Análise da rede de estações com grafos · Parte 2</a:t>
            </a:r>
            <a:endParaRPr lang="en-US" sz="1000" dirty="0"/>
          </a:p>
        </p:txBody>
      </p:sp>
      <p:sp>
        <p:nvSpPr>
          <p:cNvPr id="5" name="Text 3"/>
          <p:cNvSpPr txBox="1"/>
          <p:nvPr/>
        </p:nvSpPr>
        <p:spPr>
          <a:xfrm>
            <a:off x="10728655" y="6400800"/>
            <a:ext cx="914400" cy="228600"/>
          </a:xfrm>
          <a:prstGeom prst="rect">
            <a:avLst/>
          </a:prstGeom>
          <a:noFill/>
          <a:ln/>
        </p:spPr>
        <p:txBody>
          <a:bodyPr wrap="square" lIns="0" tIns="0" rIns="0" bIns="0" rtlCol="0" anchor="t"/>
          <a:lstStyle/>
          <a:p>
            <a:pPr marL="0" indent="0" algn="r">
              <a:buNone/>
            </a:pPr>
            <a:r>
              <a:rPr lang="en-US" sz="1000" dirty="0">
                <a:solidFill>
                  <a:srgbClr val="5F6B7A"/>
                </a:solidFill>
                <a:latin typeface="Calibri" pitchFamily="34" charset="0"/>
                <a:ea typeface="Calibri" pitchFamily="34" charset="-122"/>
                <a:cs typeface="Calibri" pitchFamily="34" charset="-120"/>
              </a:rPr>
              <a:t>3</a:t>
            </a:r>
            <a:endParaRPr lang="en-US" sz="1000" dirty="0"/>
          </a:p>
        </p:txBody>
      </p:sp>
      <p:sp>
        <p:nvSpPr>
          <p:cNvPr id="6" name="Text 4"/>
          <p:cNvSpPr txBox="1"/>
          <p:nvPr/>
        </p:nvSpPr>
        <p:spPr>
          <a:xfrm>
            <a:off x="548640" y="1417320"/>
            <a:ext cx="11094415" cy="548640"/>
          </a:xfrm>
          <a:prstGeom prst="rect">
            <a:avLst/>
          </a:prstGeom>
          <a:noFill/>
          <a:ln/>
        </p:spPr>
        <p:txBody>
          <a:bodyPr wrap="square" lIns="0" tIns="0" rIns="0" bIns="0" rtlCol="0" anchor="t"/>
          <a:lstStyle/>
          <a:p>
            <a:pPr marL="0" indent="0">
              <a:buNone/>
            </a:pPr>
            <a:r>
              <a:rPr lang="en-US" sz="1600" dirty="0">
                <a:solidFill>
                  <a:srgbClr val="3E4C59"/>
                </a:solidFill>
                <a:latin typeface="Calibri" pitchFamily="34" charset="0"/>
                <a:ea typeface="Calibri" pitchFamily="34" charset="-122"/>
                <a:cs typeface="Calibri" pitchFamily="34" charset="-120"/>
              </a:rPr>
              <a:t>Primeira lei da Geografia (Tobler, 1970). O grafo formaliza quem é vizinho de quem e permite responder com algoritmos clássicos:</a:t>
            </a:r>
            <a:endParaRPr lang="en-US" sz="1600" dirty="0"/>
          </a:p>
        </p:txBody>
      </p:sp>
      <p:sp>
        <p:nvSpPr>
          <p:cNvPr id="7" name="Shape 5"/>
          <p:cNvSpPr/>
          <p:nvPr/>
        </p:nvSpPr>
        <p:spPr>
          <a:xfrm>
            <a:off x="548640" y="2194560"/>
            <a:ext cx="2567864" cy="2926080"/>
          </a:xfrm>
          <a:prstGeom prst="roundRect">
            <a:avLst>
              <a:gd name="adj" fmla="val 2849"/>
            </a:avLst>
          </a:prstGeom>
          <a:solidFill>
            <a:srgbClr val="F3F6FA"/>
          </a:solidFill>
          <a:ln w="12700">
            <a:solidFill>
              <a:srgbClr val="F3F6FA"/>
            </a:solidFill>
            <a:prstDash val="solid"/>
          </a:ln>
        </p:spPr>
        <p:txBody>
          <a:bodyPr/>
          <a:lstStyle/>
          <a:p>
            <a:endParaRPr lang="pt-BR"/>
          </a:p>
        </p:txBody>
      </p:sp>
      <p:sp>
        <p:nvSpPr>
          <p:cNvPr id="8" name="Shape 6"/>
          <p:cNvSpPr/>
          <p:nvPr/>
        </p:nvSpPr>
        <p:spPr>
          <a:xfrm>
            <a:off x="822960" y="2468880"/>
            <a:ext cx="548640" cy="548640"/>
          </a:xfrm>
          <a:prstGeom prst="ellipse">
            <a:avLst/>
          </a:prstGeom>
          <a:solidFill>
            <a:srgbClr val="2E78C2"/>
          </a:solidFill>
          <a:ln w="12700">
            <a:solidFill>
              <a:srgbClr val="2E78C2"/>
            </a:solidFill>
            <a:prstDash val="solid"/>
          </a:ln>
        </p:spPr>
        <p:txBody>
          <a:bodyPr/>
          <a:lstStyle/>
          <a:p>
            <a:endParaRPr lang="pt-BR"/>
          </a:p>
        </p:txBody>
      </p:sp>
      <p:sp>
        <p:nvSpPr>
          <p:cNvPr id="9" name="Text 7"/>
          <p:cNvSpPr txBox="1"/>
          <p:nvPr/>
        </p:nvSpPr>
        <p:spPr>
          <a:xfrm>
            <a:off x="822960" y="2468880"/>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txBox="1"/>
          <p:nvPr/>
        </p:nvSpPr>
        <p:spPr>
          <a:xfrm>
            <a:off x="822960" y="3246120"/>
            <a:ext cx="2019224" cy="411480"/>
          </a:xfrm>
          <a:prstGeom prst="rect">
            <a:avLst/>
          </a:prstGeom>
          <a:noFill/>
          <a:ln/>
        </p:spPr>
        <p:txBody>
          <a:bodyPr wrap="square" lIns="0" tIns="0" rIns="0" bIns="0" rtlCol="0" anchor="t"/>
          <a:lstStyle/>
          <a:p>
            <a:pPr marL="0" indent="0">
              <a:buNone/>
            </a:pPr>
            <a:r>
              <a:rPr lang="en-US" sz="2000" b="1" dirty="0">
                <a:solidFill>
                  <a:srgbClr val="1F2D3D"/>
                </a:solidFill>
                <a:latin typeface="Calibri" pitchFamily="34" charset="0"/>
                <a:ea typeface="Calibri" pitchFamily="34" charset="-122"/>
                <a:cs typeface="Calibri" pitchFamily="34" charset="-120"/>
              </a:rPr>
              <a:t>Adjacência</a:t>
            </a:r>
            <a:endParaRPr lang="en-US" sz="2000" dirty="0"/>
          </a:p>
        </p:txBody>
      </p:sp>
      <p:sp>
        <p:nvSpPr>
          <p:cNvPr id="11" name="Text 9"/>
          <p:cNvSpPr txBox="1"/>
          <p:nvPr/>
        </p:nvSpPr>
        <p:spPr>
          <a:xfrm>
            <a:off x="822960" y="3703320"/>
            <a:ext cx="2019224" cy="822960"/>
          </a:xfrm>
          <a:prstGeom prst="rect">
            <a:avLst/>
          </a:prstGeom>
          <a:noFill/>
          <a:ln/>
        </p:spPr>
        <p:txBody>
          <a:bodyPr wrap="square" lIns="0" tIns="0" rIns="0" bIns="0" rtlCol="0" anchor="t"/>
          <a:lstStyle/>
          <a:p>
            <a:pPr marL="0" indent="0">
              <a:buNone/>
            </a:pPr>
            <a:r>
              <a:rPr lang="en-US" sz="1500" dirty="0">
                <a:solidFill>
                  <a:srgbClr val="3E4C59"/>
                </a:solidFill>
                <a:latin typeface="Calibri" pitchFamily="34" charset="0"/>
                <a:ea typeface="Calibri" pitchFamily="34" charset="-122"/>
                <a:cs typeface="Calibri" pitchFamily="34" charset="-120"/>
              </a:rPr>
              <a:t>Quem é vizinho de quem: a base da comparação local.</a:t>
            </a:r>
            <a:endParaRPr lang="en-US" sz="1500" dirty="0"/>
          </a:p>
        </p:txBody>
      </p:sp>
      <p:sp>
        <p:nvSpPr>
          <p:cNvPr id="12" name="Shape 10"/>
          <p:cNvSpPr/>
          <p:nvPr/>
        </p:nvSpPr>
        <p:spPr>
          <a:xfrm>
            <a:off x="822960" y="4572000"/>
            <a:ext cx="1005840" cy="310896"/>
          </a:xfrm>
          <a:prstGeom prst="roundRect">
            <a:avLst>
              <a:gd name="adj" fmla="val 50000"/>
            </a:avLst>
          </a:prstGeom>
          <a:solidFill>
            <a:srgbClr val="E3EEF9"/>
          </a:solidFill>
          <a:ln w="12700">
            <a:solidFill>
              <a:srgbClr val="E3EEF9"/>
            </a:solidFill>
            <a:prstDash val="solid"/>
          </a:ln>
        </p:spPr>
        <p:txBody>
          <a:bodyPr/>
          <a:lstStyle/>
          <a:p>
            <a:endParaRPr lang="pt-BR"/>
          </a:p>
        </p:txBody>
      </p:sp>
      <p:sp>
        <p:nvSpPr>
          <p:cNvPr id="13" name="Text 11"/>
          <p:cNvSpPr txBox="1"/>
          <p:nvPr/>
        </p:nvSpPr>
        <p:spPr>
          <a:xfrm>
            <a:off x="822960" y="4572000"/>
            <a:ext cx="1005840" cy="310896"/>
          </a:xfrm>
          <a:prstGeom prst="rect">
            <a:avLst/>
          </a:prstGeom>
          <a:noFill/>
          <a:ln/>
        </p:spPr>
        <p:txBody>
          <a:bodyPr wrap="square" lIns="0" tIns="0" rIns="0" bIns="0" rtlCol="0" anchor="ctr"/>
          <a:lstStyle/>
          <a:p>
            <a:pPr marL="0" indent="0" algn="ctr">
              <a:buNone/>
            </a:pPr>
            <a:r>
              <a:rPr lang="en-US" sz="1100" b="1" dirty="0">
                <a:solidFill>
                  <a:srgbClr val="2E78C2"/>
                </a:solidFill>
                <a:latin typeface="Calibri" pitchFamily="34" charset="0"/>
                <a:ea typeface="Calibri" pitchFamily="34" charset="-122"/>
                <a:cs typeface="Calibri" pitchFamily="34" charset="-120"/>
              </a:rPr>
              <a:t>Parte 2</a:t>
            </a:r>
            <a:endParaRPr lang="en-US" sz="1100" dirty="0"/>
          </a:p>
        </p:txBody>
      </p:sp>
      <p:sp>
        <p:nvSpPr>
          <p:cNvPr id="14" name="Shape 12"/>
          <p:cNvSpPr/>
          <p:nvPr/>
        </p:nvSpPr>
        <p:spPr>
          <a:xfrm>
            <a:off x="3390824" y="2194560"/>
            <a:ext cx="2567864" cy="2926080"/>
          </a:xfrm>
          <a:prstGeom prst="roundRect">
            <a:avLst>
              <a:gd name="adj" fmla="val 2849"/>
            </a:avLst>
          </a:prstGeom>
          <a:solidFill>
            <a:srgbClr val="F3F6FA"/>
          </a:solidFill>
          <a:ln w="12700">
            <a:solidFill>
              <a:srgbClr val="F3F6FA"/>
            </a:solidFill>
            <a:prstDash val="solid"/>
          </a:ln>
        </p:spPr>
        <p:txBody>
          <a:bodyPr/>
          <a:lstStyle/>
          <a:p>
            <a:endParaRPr lang="pt-BR"/>
          </a:p>
        </p:txBody>
      </p:sp>
      <p:sp>
        <p:nvSpPr>
          <p:cNvPr id="15" name="Shape 13"/>
          <p:cNvSpPr/>
          <p:nvPr/>
        </p:nvSpPr>
        <p:spPr>
          <a:xfrm>
            <a:off x="3665144" y="2468880"/>
            <a:ext cx="548640" cy="548640"/>
          </a:xfrm>
          <a:prstGeom prst="ellipse">
            <a:avLst/>
          </a:prstGeom>
          <a:solidFill>
            <a:srgbClr val="2E78C2"/>
          </a:solidFill>
          <a:ln w="12700">
            <a:solidFill>
              <a:srgbClr val="2E78C2"/>
            </a:solidFill>
            <a:prstDash val="solid"/>
          </a:ln>
        </p:spPr>
        <p:txBody>
          <a:bodyPr/>
          <a:lstStyle/>
          <a:p>
            <a:endParaRPr lang="pt-BR"/>
          </a:p>
        </p:txBody>
      </p:sp>
      <p:sp>
        <p:nvSpPr>
          <p:cNvPr id="16" name="Text 14"/>
          <p:cNvSpPr txBox="1"/>
          <p:nvPr/>
        </p:nvSpPr>
        <p:spPr>
          <a:xfrm>
            <a:off x="3665144" y="2468880"/>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5"/>
          <p:cNvSpPr txBox="1"/>
          <p:nvPr/>
        </p:nvSpPr>
        <p:spPr>
          <a:xfrm>
            <a:off x="3665144" y="3246120"/>
            <a:ext cx="2019224" cy="411480"/>
          </a:xfrm>
          <a:prstGeom prst="rect">
            <a:avLst/>
          </a:prstGeom>
          <a:noFill/>
          <a:ln/>
        </p:spPr>
        <p:txBody>
          <a:bodyPr wrap="square" lIns="0" tIns="0" rIns="0" bIns="0" rtlCol="0" anchor="t"/>
          <a:lstStyle/>
          <a:p>
            <a:pPr marL="0" indent="0">
              <a:buNone/>
            </a:pPr>
            <a:r>
              <a:rPr lang="en-US" sz="2000" b="1" dirty="0">
                <a:solidFill>
                  <a:srgbClr val="1F2D3D"/>
                </a:solidFill>
                <a:latin typeface="Calibri" pitchFamily="34" charset="0"/>
                <a:ea typeface="Calibri" pitchFamily="34" charset="-122"/>
                <a:cs typeface="Calibri" pitchFamily="34" charset="-120"/>
              </a:rPr>
              <a:t>Conexidade</a:t>
            </a:r>
            <a:endParaRPr lang="en-US" sz="2000" dirty="0"/>
          </a:p>
        </p:txBody>
      </p:sp>
      <p:sp>
        <p:nvSpPr>
          <p:cNvPr id="18" name="Text 16"/>
          <p:cNvSpPr txBox="1"/>
          <p:nvPr/>
        </p:nvSpPr>
        <p:spPr>
          <a:xfrm>
            <a:off x="3665144" y="3703320"/>
            <a:ext cx="2019224" cy="822960"/>
          </a:xfrm>
          <a:prstGeom prst="rect">
            <a:avLst/>
          </a:prstGeom>
          <a:noFill/>
          <a:ln/>
        </p:spPr>
        <p:txBody>
          <a:bodyPr wrap="square" lIns="0" tIns="0" rIns="0" bIns="0" rtlCol="0" anchor="t"/>
          <a:lstStyle/>
          <a:p>
            <a:pPr marL="0" indent="0">
              <a:buNone/>
            </a:pPr>
            <a:r>
              <a:rPr lang="en-US" sz="1500" dirty="0">
                <a:solidFill>
                  <a:srgbClr val="3E4C59"/>
                </a:solidFill>
                <a:latin typeface="Calibri" pitchFamily="34" charset="0"/>
                <a:ea typeface="Calibri" pitchFamily="34" charset="-122"/>
                <a:cs typeface="Calibri" pitchFamily="34" charset="-120"/>
              </a:rPr>
              <a:t>A rede está toda interligada ou há regiões isoladas?</a:t>
            </a:r>
            <a:endParaRPr lang="en-US" sz="1500" dirty="0"/>
          </a:p>
        </p:txBody>
      </p:sp>
      <p:sp>
        <p:nvSpPr>
          <p:cNvPr id="19" name="Shape 17"/>
          <p:cNvSpPr/>
          <p:nvPr/>
        </p:nvSpPr>
        <p:spPr>
          <a:xfrm>
            <a:off x="3665144" y="4572000"/>
            <a:ext cx="1005840" cy="310896"/>
          </a:xfrm>
          <a:prstGeom prst="roundRect">
            <a:avLst>
              <a:gd name="adj" fmla="val 50000"/>
            </a:avLst>
          </a:prstGeom>
          <a:solidFill>
            <a:srgbClr val="E3EEF9"/>
          </a:solidFill>
          <a:ln w="12700">
            <a:solidFill>
              <a:srgbClr val="E3EEF9"/>
            </a:solidFill>
            <a:prstDash val="solid"/>
          </a:ln>
        </p:spPr>
        <p:txBody>
          <a:bodyPr/>
          <a:lstStyle/>
          <a:p>
            <a:endParaRPr lang="pt-BR"/>
          </a:p>
        </p:txBody>
      </p:sp>
      <p:sp>
        <p:nvSpPr>
          <p:cNvPr id="20" name="Text 18"/>
          <p:cNvSpPr txBox="1"/>
          <p:nvPr/>
        </p:nvSpPr>
        <p:spPr>
          <a:xfrm>
            <a:off x="3665144" y="4572000"/>
            <a:ext cx="1005840" cy="310896"/>
          </a:xfrm>
          <a:prstGeom prst="rect">
            <a:avLst/>
          </a:prstGeom>
          <a:noFill/>
          <a:ln/>
        </p:spPr>
        <p:txBody>
          <a:bodyPr wrap="square" lIns="0" tIns="0" rIns="0" bIns="0" rtlCol="0" anchor="ctr"/>
          <a:lstStyle/>
          <a:p>
            <a:pPr marL="0" indent="0" algn="ctr">
              <a:buNone/>
            </a:pPr>
            <a:r>
              <a:rPr lang="en-US" sz="1100" b="1" dirty="0">
                <a:solidFill>
                  <a:srgbClr val="2E78C2"/>
                </a:solidFill>
                <a:latin typeface="Calibri" pitchFamily="34" charset="0"/>
                <a:ea typeface="Calibri" pitchFamily="34" charset="-122"/>
                <a:cs typeface="Calibri" pitchFamily="34" charset="-120"/>
              </a:rPr>
              <a:t>Parte 2</a:t>
            </a:r>
            <a:endParaRPr lang="en-US" sz="1100" dirty="0"/>
          </a:p>
        </p:txBody>
      </p:sp>
      <p:sp>
        <p:nvSpPr>
          <p:cNvPr id="21" name="Shape 19"/>
          <p:cNvSpPr/>
          <p:nvPr/>
        </p:nvSpPr>
        <p:spPr>
          <a:xfrm>
            <a:off x="6233008" y="2194560"/>
            <a:ext cx="2567864" cy="2926080"/>
          </a:xfrm>
          <a:prstGeom prst="roundRect">
            <a:avLst>
              <a:gd name="adj" fmla="val 2849"/>
            </a:avLst>
          </a:prstGeom>
          <a:solidFill>
            <a:srgbClr val="F3F6FA"/>
          </a:solidFill>
          <a:ln w="12700">
            <a:solidFill>
              <a:srgbClr val="F3F6FA"/>
            </a:solidFill>
            <a:prstDash val="solid"/>
          </a:ln>
        </p:spPr>
        <p:txBody>
          <a:bodyPr/>
          <a:lstStyle/>
          <a:p>
            <a:endParaRPr lang="pt-BR"/>
          </a:p>
        </p:txBody>
      </p:sp>
      <p:sp>
        <p:nvSpPr>
          <p:cNvPr id="22" name="Shape 20"/>
          <p:cNvSpPr/>
          <p:nvPr/>
        </p:nvSpPr>
        <p:spPr>
          <a:xfrm>
            <a:off x="6507328" y="2468880"/>
            <a:ext cx="548640" cy="548640"/>
          </a:xfrm>
          <a:prstGeom prst="ellipse">
            <a:avLst/>
          </a:prstGeom>
          <a:solidFill>
            <a:srgbClr val="2E78C2"/>
          </a:solidFill>
          <a:ln w="12700">
            <a:solidFill>
              <a:srgbClr val="2E78C2"/>
            </a:solidFill>
            <a:prstDash val="solid"/>
          </a:ln>
        </p:spPr>
        <p:txBody>
          <a:bodyPr/>
          <a:lstStyle/>
          <a:p>
            <a:endParaRPr lang="pt-BR"/>
          </a:p>
        </p:txBody>
      </p:sp>
      <p:sp>
        <p:nvSpPr>
          <p:cNvPr id="23" name="Text 21"/>
          <p:cNvSpPr txBox="1"/>
          <p:nvPr/>
        </p:nvSpPr>
        <p:spPr>
          <a:xfrm>
            <a:off x="6507328" y="2468880"/>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4" name="Text 22"/>
          <p:cNvSpPr txBox="1"/>
          <p:nvPr/>
        </p:nvSpPr>
        <p:spPr>
          <a:xfrm>
            <a:off x="6507328" y="3246120"/>
            <a:ext cx="2019224" cy="411480"/>
          </a:xfrm>
          <a:prstGeom prst="rect">
            <a:avLst/>
          </a:prstGeom>
          <a:noFill/>
          <a:ln/>
        </p:spPr>
        <p:txBody>
          <a:bodyPr wrap="square" lIns="0" tIns="0" rIns="0" bIns="0" rtlCol="0" anchor="t"/>
          <a:lstStyle/>
          <a:p>
            <a:pPr marL="0" indent="0">
              <a:buNone/>
            </a:pPr>
            <a:r>
              <a:rPr lang="en-US" sz="2000" b="1" dirty="0">
                <a:solidFill>
                  <a:srgbClr val="1F2D3D"/>
                </a:solidFill>
                <a:latin typeface="Calibri" pitchFamily="34" charset="0"/>
                <a:ea typeface="Calibri" pitchFamily="34" charset="-122"/>
                <a:cs typeface="Calibri" pitchFamily="34" charset="-120"/>
              </a:rPr>
              <a:t>Centralidade</a:t>
            </a:r>
            <a:endParaRPr lang="en-US" sz="2000" dirty="0"/>
          </a:p>
        </p:txBody>
      </p:sp>
      <p:sp>
        <p:nvSpPr>
          <p:cNvPr id="25" name="Text 23"/>
          <p:cNvSpPr txBox="1"/>
          <p:nvPr/>
        </p:nvSpPr>
        <p:spPr>
          <a:xfrm>
            <a:off x="6507328" y="3703320"/>
            <a:ext cx="2019224" cy="822960"/>
          </a:xfrm>
          <a:prstGeom prst="rect">
            <a:avLst/>
          </a:prstGeom>
          <a:noFill/>
          <a:ln/>
        </p:spPr>
        <p:txBody>
          <a:bodyPr wrap="square" lIns="0" tIns="0" rIns="0" bIns="0" rtlCol="0" anchor="t"/>
          <a:lstStyle/>
          <a:p>
            <a:pPr marL="0" indent="0">
              <a:buNone/>
            </a:pPr>
            <a:r>
              <a:rPr lang="en-US" sz="1500" dirty="0">
                <a:solidFill>
                  <a:srgbClr val="3E4C59"/>
                </a:solidFill>
                <a:latin typeface="Calibri" pitchFamily="34" charset="0"/>
                <a:ea typeface="Calibri" pitchFamily="34" charset="-122"/>
                <a:cs typeface="Calibri" pitchFamily="34" charset="-120"/>
              </a:rPr>
              <a:t>Quais estações ocupam posição central na rede?</a:t>
            </a:r>
            <a:endParaRPr lang="en-US" sz="1500" dirty="0"/>
          </a:p>
        </p:txBody>
      </p:sp>
      <p:sp>
        <p:nvSpPr>
          <p:cNvPr id="26" name="Shape 24"/>
          <p:cNvSpPr/>
          <p:nvPr/>
        </p:nvSpPr>
        <p:spPr>
          <a:xfrm>
            <a:off x="6507328" y="4572000"/>
            <a:ext cx="1005840" cy="310896"/>
          </a:xfrm>
          <a:prstGeom prst="roundRect">
            <a:avLst>
              <a:gd name="adj" fmla="val 50000"/>
            </a:avLst>
          </a:prstGeom>
          <a:solidFill>
            <a:srgbClr val="FCEBDD"/>
          </a:solidFill>
          <a:ln w="12700">
            <a:solidFill>
              <a:srgbClr val="FCEBDD"/>
            </a:solidFill>
            <a:prstDash val="solid"/>
          </a:ln>
        </p:spPr>
        <p:txBody>
          <a:bodyPr/>
          <a:lstStyle/>
          <a:p>
            <a:endParaRPr lang="pt-BR"/>
          </a:p>
        </p:txBody>
      </p:sp>
      <p:sp>
        <p:nvSpPr>
          <p:cNvPr id="27" name="Text 25"/>
          <p:cNvSpPr txBox="1"/>
          <p:nvPr/>
        </p:nvSpPr>
        <p:spPr>
          <a:xfrm>
            <a:off x="6507328" y="4572000"/>
            <a:ext cx="1005840" cy="310896"/>
          </a:xfrm>
          <a:prstGeom prst="rect">
            <a:avLst/>
          </a:prstGeom>
          <a:noFill/>
          <a:ln/>
        </p:spPr>
        <p:txBody>
          <a:bodyPr wrap="square" lIns="0" tIns="0" rIns="0" bIns="0" rtlCol="0" anchor="ctr"/>
          <a:lstStyle/>
          <a:p>
            <a:pPr marL="0" indent="0" algn="ctr">
              <a:buNone/>
            </a:pPr>
            <a:r>
              <a:rPr lang="en-US" sz="1100" b="1" dirty="0">
                <a:solidFill>
                  <a:srgbClr val="A94E10"/>
                </a:solidFill>
                <a:latin typeface="Calibri" pitchFamily="34" charset="0"/>
                <a:ea typeface="Calibri" pitchFamily="34" charset="-122"/>
                <a:cs typeface="Calibri" pitchFamily="34" charset="-120"/>
              </a:rPr>
              <a:t>Parte 3</a:t>
            </a:r>
            <a:endParaRPr lang="en-US" sz="1100" dirty="0"/>
          </a:p>
        </p:txBody>
      </p:sp>
      <p:sp>
        <p:nvSpPr>
          <p:cNvPr id="28" name="Shape 26"/>
          <p:cNvSpPr/>
          <p:nvPr/>
        </p:nvSpPr>
        <p:spPr>
          <a:xfrm>
            <a:off x="9075191" y="2194560"/>
            <a:ext cx="2567864" cy="2926080"/>
          </a:xfrm>
          <a:prstGeom prst="roundRect">
            <a:avLst>
              <a:gd name="adj" fmla="val 2849"/>
            </a:avLst>
          </a:prstGeom>
          <a:solidFill>
            <a:srgbClr val="F3F6FA"/>
          </a:solidFill>
          <a:ln w="12700">
            <a:solidFill>
              <a:srgbClr val="F3F6FA"/>
            </a:solidFill>
            <a:prstDash val="solid"/>
          </a:ln>
        </p:spPr>
        <p:txBody>
          <a:bodyPr/>
          <a:lstStyle/>
          <a:p>
            <a:endParaRPr lang="pt-BR"/>
          </a:p>
        </p:txBody>
      </p:sp>
      <p:sp>
        <p:nvSpPr>
          <p:cNvPr id="29" name="Shape 27"/>
          <p:cNvSpPr/>
          <p:nvPr/>
        </p:nvSpPr>
        <p:spPr>
          <a:xfrm>
            <a:off x="9349511" y="2468880"/>
            <a:ext cx="548640" cy="548640"/>
          </a:xfrm>
          <a:prstGeom prst="ellipse">
            <a:avLst/>
          </a:prstGeom>
          <a:solidFill>
            <a:srgbClr val="2E78C2"/>
          </a:solidFill>
          <a:ln w="12700">
            <a:solidFill>
              <a:srgbClr val="2E78C2"/>
            </a:solidFill>
            <a:prstDash val="solid"/>
          </a:ln>
        </p:spPr>
        <p:txBody>
          <a:bodyPr/>
          <a:lstStyle/>
          <a:p>
            <a:endParaRPr lang="pt-BR"/>
          </a:p>
        </p:txBody>
      </p:sp>
      <p:sp>
        <p:nvSpPr>
          <p:cNvPr id="30" name="Text 28"/>
          <p:cNvSpPr txBox="1"/>
          <p:nvPr/>
        </p:nvSpPr>
        <p:spPr>
          <a:xfrm>
            <a:off x="9349511" y="2468880"/>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1" name="Text 29"/>
          <p:cNvSpPr txBox="1"/>
          <p:nvPr/>
        </p:nvSpPr>
        <p:spPr>
          <a:xfrm>
            <a:off x="9349511" y="3246120"/>
            <a:ext cx="2019224" cy="411480"/>
          </a:xfrm>
          <a:prstGeom prst="rect">
            <a:avLst/>
          </a:prstGeom>
          <a:noFill/>
          <a:ln/>
        </p:spPr>
        <p:txBody>
          <a:bodyPr wrap="square" lIns="0" tIns="0" rIns="0" bIns="0" rtlCol="0" anchor="t"/>
          <a:lstStyle/>
          <a:p>
            <a:pPr marL="0" indent="0">
              <a:buNone/>
            </a:pPr>
            <a:r>
              <a:rPr lang="en-US" sz="2000" b="1" dirty="0">
                <a:solidFill>
                  <a:srgbClr val="1F2D3D"/>
                </a:solidFill>
                <a:latin typeface="Calibri" pitchFamily="34" charset="0"/>
                <a:ea typeface="Calibri" pitchFamily="34" charset="-122"/>
                <a:cs typeface="Calibri" pitchFamily="34" charset="-120"/>
              </a:rPr>
              <a:t>Vizinhança</a:t>
            </a:r>
            <a:endParaRPr lang="en-US" sz="2000" dirty="0"/>
          </a:p>
        </p:txBody>
      </p:sp>
      <p:sp>
        <p:nvSpPr>
          <p:cNvPr id="32" name="Text 30"/>
          <p:cNvSpPr txBox="1"/>
          <p:nvPr/>
        </p:nvSpPr>
        <p:spPr>
          <a:xfrm>
            <a:off x="9349511" y="3703320"/>
            <a:ext cx="2019224" cy="822960"/>
          </a:xfrm>
          <a:prstGeom prst="rect">
            <a:avLst/>
          </a:prstGeom>
          <a:noFill/>
          <a:ln/>
        </p:spPr>
        <p:txBody>
          <a:bodyPr wrap="square" lIns="0" tIns="0" rIns="0" bIns="0" rtlCol="0" anchor="t"/>
          <a:lstStyle/>
          <a:p>
            <a:pPr marL="0" indent="0">
              <a:buNone/>
            </a:pPr>
            <a:r>
              <a:rPr lang="en-US" sz="1500" dirty="0">
                <a:solidFill>
                  <a:srgbClr val="3E4C59"/>
                </a:solidFill>
                <a:latin typeface="Calibri" pitchFamily="34" charset="0"/>
                <a:ea typeface="Calibri" pitchFamily="34" charset="-122"/>
                <a:cs typeface="Calibri" pitchFamily="34" charset="-120"/>
              </a:rPr>
              <a:t>Quais estações destoam das suas vizinhas?</a:t>
            </a:r>
            <a:endParaRPr lang="en-US" sz="1500" dirty="0"/>
          </a:p>
        </p:txBody>
      </p:sp>
      <p:sp>
        <p:nvSpPr>
          <p:cNvPr id="33" name="Shape 31"/>
          <p:cNvSpPr/>
          <p:nvPr/>
        </p:nvSpPr>
        <p:spPr>
          <a:xfrm>
            <a:off x="9349511" y="4572000"/>
            <a:ext cx="1005840" cy="310896"/>
          </a:xfrm>
          <a:prstGeom prst="roundRect">
            <a:avLst>
              <a:gd name="adj" fmla="val 50000"/>
            </a:avLst>
          </a:prstGeom>
          <a:solidFill>
            <a:srgbClr val="E3EEF9"/>
          </a:solidFill>
          <a:ln w="12700">
            <a:solidFill>
              <a:srgbClr val="E3EEF9"/>
            </a:solidFill>
            <a:prstDash val="solid"/>
          </a:ln>
        </p:spPr>
        <p:txBody>
          <a:bodyPr/>
          <a:lstStyle/>
          <a:p>
            <a:endParaRPr lang="pt-BR"/>
          </a:p>
        </p:txBody>
      </p:sp>
      <p:sp>
        <p:nvSpPr>
          <p:cNvPr id="34" name="Text 32"/>
          <p:cNvSpPr txBox="1"/>
          <p:nvPr/>
        </p:nvSpPr>
        <p:spPr>
          <a:xfrm>
            <a:off x="9349511" y="4572000"/>
            <a:ext cx="1005840" cy="310896"/>
          </a:xfrm>
          <a:prstGeom prst="rect">
            <a:avLst/>
          </a:prstGeom>
          <a:noFill/>
          <a:ln/>
        </p:spPr>
        <p:txBody>
          <a:bodyPr wrap="square" lIns="0" tIns="0" rIns="0" bIns="0" rtlCol="0" anchor="ctr"/>
          <a:lstStyle/>
          <a:p>
            <a:pPr marL="0" indent="0" algn="ctr">
              <a:buNone/>
            </a:pPr>
            <a:r>
              <a:rPr lang="en-US" sz="1100" b="1" dirty="0">
                <a:solidFill>
                  <a:srgbClr val="2E78C2"/>
                </a:solidFill>
                <a:latin typeface="Calibri" pitchFamily="34" charset="0"/>
                <a:ea typeface="Calibri" pitchFamily="34" charset="-122"/>
                <a:cs typeface="Calibri" pitchFamily="34" charset="-120"/>
              </a:rPr>
              <a:t>Parte 2</a:t>
            </a:r>
            <a:endParaRPr lang="en-US" sz="1100" dirty="0"/>
          </a:p>
        </p:txBody>
      </p:sp>
      <p:sp>
        <p:nvSpPr>
          <p:cNvPr id="35" name="Text 33"/>
          <p:cNvSpPr txBox="1"/>
          <p:nvPr/>
        </p:nvSpPr>
        <p:spPr>
          <a:xfrm>
            <a:off x="548640" y="5486400"/>
            <a:ext cx="11094415" cy="320040"/>
          </a:xfrm>
          <a:prstGeom prst="rect">
            <a:avLst/>
          </a:prstGeom>
          <a:noFill/>
          <a:ln/>
        </p:spPr>
        <p:txBody>
          <a:bodyPr wrap="square" lIns="0" tIns="0" rIns="0" bIns="0" rtlCol="0" anchor="t"/>
          <a:lstStyle/>
          <a:p>
            <a:pPr marL="0" indent="0">
              <a:buNone/>
            </a:pPr>
            <a:r>
              <a:rPr lang="en-US" sz="1200" i="1" dirty="0">
                <a:solidFill>
                  <a:srgbClr val="5F6B7A"/>
                </a:solidFill>
                <a:latin typeface="Calibri" pitchFamily="34" charset="0"/>
                <a:ea typeface="Calibri" pitchFamily="34" charset="-122"/>
                <a:cs typeface="Calibri" pitchFamily="34" charset="-120"/>
              </a:rPr>
              <a:t>Trabalhos relacionados: Tsonis &amp; Roebber (2004) · Donges et al. (2009) · Boers et al. (2019) · Anselin (1995, LISA)</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marL="0" indent="0">
              <a:buNone/>
            </a:pPr>
            <a:r>
              <a:rPr lang="en-US" sz="1200" b="1" kern="0" spc="200" dirty="0">
                <a:solidFill>
                  <a:srgbClr val="2E78C2"/>
                </a:solidFill>
                <a:latin typeface="Calibri" pitchFamily="34" charset="0"/>
                <a:ea typeface="Calibri" pitchFamily="34" charset="-122"/>
                <a:cs typeface="Calibri" pitchFamily="34" charset="-120"/>
              </a:rPr>
              <a:t>COLETA DE DADOS</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t"/>
          <a:lstStyle/>
          <a:p>
            <a:pPr marL="0" indent="0">
              <a:buNone/>
            </a:pPr>
            <a:r>
              <a:rPr lang="en-US" sz="2800" b="1" dirty="0">
                <a:solidFill>
                  <a:srgbClr val="0F2A44"/>
                </a:solidFill>
                <a:latin typeface="Cambria" pitchFamily="34" charset="0"/>
                <a:ea typeface="Cambria" pitchFamily="34" charset="-122"/>
                <a:cs typeface="Cambria" pitchFamily="34" charset="-120"/>
              </a:rPr>
              <a:t>Dados reais do CGE, alinhados numa janela comum</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t"/>
          <a:lstStyle/>
          <a:p>
            <a:pPr marL="0" indent="0">
              <a:buNone/>
            </a:pPr>
            <a:r>
              <a:rPr lang="en-US" sz="1000" dirty="0">
                <a:solidFill>
                  <a:srgbClr val="5F6B7A"/>
                </a:solidFill>
                <a:latin typeface="Calibri" pitchFamily="34" charset="0"/>
                <a:ea typeface="Calibri" pitchFamily="34" charset="-122"/>
                <a:cs typeface="Calibri" pitchFamily="34" charset="-120"/>
              </a:rPr>
              <a:t>Análise da rede de estações com grafos · Parte 2</a:t>
            </a:r>
            <a:endParaRPr lang="en-US" sz="1000" dirty="0"/>
          </a:p>
        </p:txBody>
      </p:sp>
      <p:sp>
        <p:nvSpPr>
          <p:cNvPr id="5" name="Text 3"/>
          <p:cNvSpPr txBox="1"/>
          <p:nvPr/>
        </p:nvSpPr>
        <p:spPr>
          <a:xfrm>
            <a:off x="10728655" y="6400800"/>
            <a:ext cx="914400" cy="228600"/>
          </a:xfrm>
          <a:prstGeom prst="rect">
            <a:avLst/>
          </a:prstGeom>
          <a:noFill/>
          <a:ln/>
        </p:spPr>
        <p:txBody>
          <a:bodyPr wrap="square" lIns="0" tIns="0" rIns="0" bIns="0" rtlCol="0" anchor="t"/>
          <a:lstStyle/>
          <a:p>
            <a:pPr marL="0" indent="0" algn="r">
              <a:buNone/>
            </a:pPr>
            <a:r>
              <a:rPr lang="en-US" sz="1000" dirty="0">
                <a:solidFill>
                  <a:srgbClr val="5F6B7A"/>
                </a:solidFill>
                <a:latin typeface="Calibri" pitchFamily="34" charset="0"/>
                <a:ea typeface="Calibri" pitchFamily="34" charset="-122"/>
                <a:cs typeface="Calibri" pitchFamily="34" charset="-120"/>
              </a:rPr>
              <a:t>4</a:t>
            </a:r>
            <a:endParaRPr lang="en-US" sz="1000" dirty="0"/>
          </a:p>
        </p:txBody>
      </p:sp>
      <p:sp>
        <p:nvSpPr>
          <p:cNvPr id="6" name="Shape 4"/>
          <p:cNvSpPr/>
          <p:nvPr/>
        </p:nvSpPr>
        <p:spPr>
          <a:xfrm>
            <a:off x="548640" y="1554480"/>
            <a:ext cx="3484778" cy="3337560"/>
          </a:xfrm>
          <a:prstGeom prst="roundRect">
            <a:avLst>
              <a:gd name="adj" fmla="val 2192"/>
            </a:avLst>
          </a:prstGeom>
          <a:solidFill>
            <a:srgbClr val="F3F6FA"/>
          </a:solidFill>
          <a:ln w="12700">
            <a:solidFill>
              <a:srgbClr val="F3F6FA"/>
            </a:solidFill>
            <a:prstDash val="solid"/>
          </a:ln>
        </p:spPr>
        <p:txBody>
          <a:bodyPr/>
          <a:lstStyle/>
          <a:p>
            <a:endParaRPr lang="pt-BR"/>
          </a:p>
        </p:txBody>
      </p:sp>
      <p:sp>
        <p:nvSpPr>
          <p:cNvPr id="7" name="Shape 5"/>
          <p:cNvSpPr/>
          <p:nvPr/>
        </p:nvSpPr>
        <p:spPr>
          <a:xfrm>
            <a:off x="822960" y="1828800"/>
            <a:ext cx="548640" cy="548640"/>
          </a:xfrm>
          <a:prstGeom prst="ellipse">
            <a:avLst/>
          </a:prstGeom>
          <a:solidFill>
            <a:srgbClr val="2E78C2"/>
          </a:solidFill>
          <a:ln w="12700">
            <a:solidFill>
              <a:srgbClr val="2E78C2"/>
            </a:solidFill>
            <a:prstDash val="solid"/>
          </a:ln>
        </p:spPr>
        <p:txBody>
          <a:bodyPr/>
          <a:lstStyle/>
          <a:p>
            <a:endParaRPr lang="pt-BR"/>
          </a:p>
        </p:txBody>
      </p:sp>
      <p:sp>
        <p:nvSpPr>
          <p:cNvPr id="8" name="Text 6"/>
          <p:cNvSpPr txBox="1"/>
          <p:nvPr/>
        </p:nvSpPr>
        <p:spPr>
          <a:xfrm>
            <a:off x="822960" y="1828800"/>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822960" y="2606040"/>
            <a:ext cx="2936138" cy="411480"/>
          </a:xfrm>
          <a:prstGeom prst="rect">
            <a:avLst/>
          </a:prstGeom>
          <a:noFill/>
          <a:ln/>
        </p:spPr>
        <p:txBody>
          <a:bodyPr wrap="square" lIns="0" tIns="0" rIns="0" bIns="0" rtlCol="0" anchor="t"/>
          <a:lstStyle/>
          <a:p>
            <a:pPr marL="0" indent="0">
              <a:buNone/>
            </a:pPr>
            <a:r>
              <a:rPr lang="en-US" sz="2000" b="1" dirty="0">
                <a:solidFill>
                  <a:srgbClr val="1F2D3D"/>
                </a:solidFill>
                <a:latin typeface="Calibri" pitchFamily="34" charset="0"/>
                <a:ea typeface="Calibri" pitchFamily="34" charset="-122"/>
                <a:cs typeface="Calibri" pitchFamily="34" charset="-120"/>
              </a:rPr>
              <a:t>Janela comum</a:t>
            </a:r>
            <a:endParaRPr lang="en-US" sz="2000" dirty="0"/>
          </a:p>
        </p:txBody>
      </p:sp>
      <p:sp>
        <p:nvSpPr>
          <p:cNvPr id="10" name="Text 8"/>
          <p:cNvSpPr txBox="1"/>
          <p:nvPr/>
        </p:nvSpPr>
        <p:spPr>
          <a:xfrm>
            <a:off x="822960" y="3063240"/>
            <a:ext cx="2936138" cy="1737360"/>
          </a:xfrm>
          <a:prstGeom prst="rect">
            <a:avLst/>
          </a:prstGeom>
          <a:noFill/>
          <a:ln/>
        </p:spPr>
        <p:txBody>
          <a:bodyPr wrap="square" lIns="0" tIns="0" rIns="0" bIns="0" rtlCol="0" anchor="t"/>
          <a:lstStyle/>
          <a:p>
            <a:pPr marL="0" indent="0">
              <a:buNone/>
            </a:pPr>
            <a:r>
              <a:rPr lang="en-US" sz="1500" dirty="0">
                <a:solidFill>
                  <a:srgbClr val="3E4C59"/>
                </a:solidFill>
                <a:latin typeface="Calibri" pitchFamily="34" charset="0"/>
                <a:ea typeface="Calibri" pitchFamily="34" charset="-122"/>
                <a:cs typeface="Calibri" pitchFamily="34" charset="-120"/>
              </a:rPr>
              <a:t>São Mateus e Tremembé foram desativadas em 2024. Para comparar as 32 estações no mesmo período: 01/01 a 30/04/2024 (121 dias, período chuvoso).</a:t>
            </a:r>
            <a:endParaRPr lang="en-US" sz="1500" dirty="0"/>
          </a:p>
        </p:txBody>
      </p:sp>
      <p:sp>
        <p:nvSpPr>
          <p:cNvPr id="11" name="Shape 9"/>
          <p:cNvSpPr/>
          <p:nvPr/>
        </p:nvSpPr>
        <p:spPr>
          <a:xfrm>
            <a:off x="4353458" y="1554480"/>
            <a:ext cx="3484778" cy="3337560"/>
          </a:xfrm>
          <a:prstGeom prst="roundRect">
            <a:avLst>
              <a:gd name="adj" fmla="val 2192"/>
            </a:avLst>
          </a:prstGeom>
          <a:solidFill>
            <a:srgbClr val="F3F6FA"/>
          </a:solidFill>
          <a:ln w="12700">
            <a:solidFill>
              <a:srgbClr val="F3F6FA"/>
            </a:solidFill>
            <a:prstDash val="solid"/>
          </a:ln>
        </p:spPr>
        <p:txBody>
          <a:bodyPr/>
          <a:lstStyle/>
          <a:p>
            <a:endParaRPr lang="pt-BR"/>
          </a:p>
        </p:txBody>
      </p:sp>
      <p:sp>
        <p:nvSpPr>
          <p:cNvPr id="12" name="Shape 10"/>
          <p:cNvSpPr/>
          <p:nvPr/>
        </p:nvSpPr>
        <p:spPr>
          <a:xfrm>
            <a:off x="4627778" y="1828800"/>
            <a:ext cx="548640" cy="548640"/>
          </a:xfrm>
          <a:prstGeom prst="ellipse">
            <a:avLst/>
          </a:prstGeom>
          <a:solidFill>
            <a:srgbClr val="2E78C2"/>
          </a:solidFill>
          <a:ln w="12700">
            <a:solidFill>
              <a:srgbClr val="2E78C2"/>
            </a:solidFill>
            <a:prstDash val="solid"/>
          </a:ln>
        </p:spPr>
        <p:txBody>
          <a:bodyPr/>
          <a:lstStyle/>
          <a:p>
            <a:endParaRPr lang="pt-BR"/>
          </a:p>
        </p:txBody>
      </p:sp>
      <p:sp>
        <p:nvSpPr>
          <p:cNvPr id="13" name="Text 11"/>
          <p:cNvSpPr txBox="1"/>
          <p:nvPr/>
        </p:nvSpPr>
        <p:spPr>
          <a:xfrm>
            <a:off x="4627778" y="1828800"/>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txBox="1"/>
          <p:nvPr/>
        </p:nvSpPr>
        <p:spPr>
          <a:xfrm>
            <a:off x="4627778" y="2606040"/>
            <a:ext cx="2936138" cy="411480"/>
          </a:xfrm>
          <a:prstGeom prst="rect">
            <a:avLst/>
          </a:prstGeom>
          <a:noFill/>
          <a:ln/>
        </p:spPr>
        <p:txBody>
          <a:bodyPr wrap="square" lIns="0" tIns="0" rIns="0" bIns="0" rtlCol="0" anchor="t"/>
          <a:lstStyle/>
          <a:p>
            <a:pPr marL="0" indent="0">
              <a:buNone/>
            </a:pPr>
            <a:r>
              <a:rPr lang="en-US" sz="2000" b="1" dirty="0">
                <a:solidFill>
                  <a:srgbClr val="1F2D3D"/>
                </a:solidFill>
                <a:latin typeface="Calibri" pitchFamily="34" charset="0"/>
                <a:ea typeface="Calibri" pitchFamily="34" charset="-122"/>
                <a:cs typeface="Calibri" pitchFamily="34" charset="-120"/>
              </a:rPr>
              <a:t>Acumulador de chuva</a:t>
            </a:r>
            <a:endParaRPr lang="en-US" sz="2000" dirty="0"/>
          </a:p>
        </p:txBody>
      </p:sp>
      <p:sp>
        <p:nvSpPr>
          <p:cNvPr id="15" name="Text 13"/>
          <p:cNvSpPr txBox="1"/>
          <p:nvPr/>
        </p:nvSpPr>
        <p:spPr>
          <a:xfrm>
            <a:off x="4627778" y="3063240"/>
            <a:ext cx="2936138" cy="1737360"/>
          </a:xfrm>
          <a:prstGeom prst="rect">
            <a:avLst/>
          </a:prstGeom>
          <a:noFill/>
          <a:ln/>
        </p:spPr>
        <p:txBody>
          <a:bodyPr wrap="square" lIns="0" tIns="0" rIns="0" bIns="0" rtlCol="0" anchor="t"/>
          <a:lstStyle/>
          <a:p>
            <a:pPr marL="0" indent="0">
              <a:buNone/>
            </a:pPr>
            <a:r>
              <a:rPr lang="en-US" sz="1500" dirty="0">
                <a:solidFill>
                  <a:srgbClr val="3E4C59"/>
                </a:solidFill>
                <a:latin typeface="Calibri" pitchFamily="34" charset="0"/>
                <a:ea typeface="Calibri" pitchFamily="34" charset="-122"/>
                <a:cs typeface="Calibri" pitchFamily="34" charset="-120"/>
              </a:rPr>
              <a:t>A coluna PLU é um total diário que zera uma vez por dia. A chuva de cada registro é o incremento; somar a coluna direto daria mais de 100.000 mm/ano.</a:t>
            </a:r>
            <a:endParaRPr lang="en-US" sz="1500" dirty="0"/>
          </a:p>
        </p:txBody>
      </p:sp>
      <p:sp>
        <p:nvSpPr>
          <p:cNvPr id="16" name="Shape 14"/>
          <p:cNvSpPr/>
          <p:nvPr/>
        </p:nvSpPr>
        <p:spPr>
          <a:xfrm>
            <a:off x="8158277" y="1554480"/>
            <a:ext cx="3484778" cy="3337560"/>
          </a:xfrm>
          <a:prstGeom prst="roundRect">
            <a:avLst>
              <a:gd name="adj" fmla="val 2192"/>
            </a:avLst>
          </a:prstGeom>
          <a:solidFill>
            <a:srgbClr val="F3F6FA"/>
          </a:solidFill>
          <a:ln w="12700">
            <a:solidFill>
              <a:srgbClr val="F3F6FA"/>
            </a:solidFill>
            <a:prstDash val="solid"/>
          </a:ln>
        </p:spPr>
        <p:txBody>
          <a:bodyPr/>
          <a:lstStyle/>
          <a:p>
            <a:endParaRPr lang="pt-BR"/>
          </a:p>
        </p:txBody>
      </p:sp>
      <p:sp>
        <p:nvSpPr>
          <p:cNvPr id="17" name="Shape 15"/>
          <p:cNvSpPr/>
          <p:nvPr/>
        </p:nvSpPr>
        <p:spPr>
          <a:xfrm>
            <a:off x="8432597" y="1828800"/>
            <a:ext cx="548640" cy="548640"/>
          </a:xfrm>
          <a:prstGeom prst="ellipse">
            <a:avLst/>
          </a:prstGeom>
          <a:solidFill>
            <a:srgbClr val="2E78C2"/>
          </a:solidFill>
          <a:ln w="12700">
            <a:solidFill>
              <a:srgbClr val="2E78C2"/>
            </a:solidFill>
            <a:prstDash val="solid"/>
          </a:ln>
        </p:spPr>
        <p:txBody>
          <a:bodyPr/>
          <a:lstStyle/>
          <a:p>
            <a:endParaRPr lang="pt-BR"/>
          </a:p>
        </p:txBody>
      </p:sp>
      <p:sp>
        <p:nvSpPr>
          <p:cNvPr id="18" name="Text 16"/>
          <p:cNvSpPr txBox="1"/>
          <p:nvPr/>
        </p:nvSpPr>
        <p:spPr>
          <a:xfrm>
            <a:off x="8432597" y="1828800"/>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8432597" y="2606040"/>
            <a:ext cx="2936138" cy="411480"/>
          </a:xfrm>
          <a:prstGeom prst="rect">
            <a:avLst/>
          </a:prstGeom>
          <a:noFill/>
          <a:ln/>
        </p:spPr>
        <p:txBody>
          <a:bodyPr wrap="square" lIns="0" tIns="0" rIns="0" bIns="0" rtlCol="0" anchor="t"/>
          <a:lstStyle/>
          <a:p>
            <a:pPr marL="0" indent="0">
              <a:buNone/>
            </a:pPr>
            <a:r>
              <a:rPr lang="en-US" sz="2000" b="1" dirty="0">
                <a:solidFill>
                  <a:srgbClr val="1F2D3D"/>
                </a:solidFill>
                <a:latin typeface="Calibri" pitchFamily="34" charset="0"/>
                <a:ea typeface="Calibri" pitchFamily="34" charset="-122"/>
                <a:cs typeface="Calibri" pitchFamily="34" charset="-120"/>
              </a:rPr>
              <a:t>Formato dos arquivos</a:t>
            </a:r>
            <a:endParaRPr lang="en-US" sz="2000" dirty="0"/>
          </a:p>
        </p:txBody>
      </p:sp>
      <p:sp>
        <p:nvSpPr>
          <p:cNvPr id="20" name="Text 18"/>
          <p:cNvSpPr txBox="1"/>
          <p:nvPr/>
        </p:nvSpPr>
        <p:spPr>
          <a:xfrm>
            <a:off x="8432597" y="3063240"/>
            <a:ext cx="2936138" cy="1737360"/>
          </a:xfrm>
          <a:prstGeom prst="rect">
            <a:avLst/>
          </a:prstGeom>
          <a:noFill/>
          <a:ln/>
        </p:spPr>
        <p:txBody>
          <a:bodyPr wrap="square" lIns="0" tIns="0" rIns="0" bIns="0" rtlCol="0" anchor="t"/>
          <a:lstStyle/>
          <a:p>
            <a:pPr marL="0" indent="0">
              <a:buNone/>
            </a:pPr>
            <a:r>
              <a:rPr lang="en-US" sz="1500" dirty="0">
                <a:solidFill>
                  <a:srgbClr val="3E4C59"/>
                </a:solidFill>
                <a:latin typeface="Calibri" pitchFamily="34" charset="0"/>
                <a:ea typeface="Calibri" pitchFamily="34" charset="-122"/>
                <a:cs typeface="Calibri" pitchFamily="34" charset="-120"/>
              </a:rPr>
              <a:t>Cabeçalho com uma coluna vazia a mais, 5 layouts de colunas diferentes e horários duplicados no Butantã. IAG-USP e INMET ficaram de fora (não são do CGE).</a:t>
            </a:r>
            <a:endParaRPr lang="en-US" sz="1500" dirty="0"/>
          </a:p>
        </p:txBody>
      </p:sp>
      <p:sp>
        <p:nvSpPr>
          <p:cNvPr id="21" name="Shape 19"/>
          <p:cNvSpPr/>
          <p:nvPr/>
        </p:nvSpPr>
        <p:spPr>
          <a:xfrm>
            <a:off x="548640" y="5166360"/>
            <a:ext cx="11094415" cy="868680"/>
          </a:xfrm>
          <a:prstGeom prst="roundRect">
            <a:avLst>
              <a:gd name="adj" fmla="val 8421"/>
            </a:avLst>
          </a:prstGeom>
          <a:solidFill>
            <a:srgbClr val="E3EEF9"/>
          </a:solidFill>
          <a:ln w="12700">
            <a:solidFill>
              <a:srgbClr val="E3EEF9"/>
            </a:solidFill>
            <a:prstDash val="solid"/>
          </a:ln>
        </p:spPr>
        <p:txBody>
          <a:bodyPr/>
          <a:lstStyle/>
          <a:p>
            <a:endParaRPr lang="pt-BR"/>
          </a:p>
        </p:txBody>
      </p:sp>
      <p:sp>
        <p:nvSpPr>
          <p:cNvPr id="22" name="Text 20"/>
          <p:cNvSpPr txBox="1"/>
          <p:nvPr/>
        </p:nvSpPr>
        <p:spPr>
          <a:xfrm>
            <a:off x="914400" y="5166360"/>
            <a:ext cx="10362895" cy="868680"/>
          </a:xfrm>
          <a:prstGeom prst="rect">
            <a:avLst/>
          </a:prstGeom>
          <a:noFill/>
          <a:ln/>
        </p:spPr>
        <p:txBody>
          <a:bodyPr wrap="square" lIns="0" tIns="0" rIns="0" bIns="0" rtlCol="0" anchor="ctr"/>
          <a:lstStyle/>
          <a:p>
            <a:pPr marL="0" indent="0">
              <a:buNone/>
            </a:pPr>
            <a:r>
              <a:rPr lang="en-US" sz="1500" b="1" dirty="0">
                <a:solidFill>
                  <a:srgbClr val="2E78C2"/>
                </a:solidFill>
                <a:latin typeface="Calibri" pitchFamily="34" charset="0"/>
                <a:ea typeface="Calibri" pitchFamily="34" charset="-122"/>
                <a:cs typeface="Calibri" pitchFamily="34" charset="-120"/>
              </a:rPr>
              <a:t>Resultado: </a:t>
            </a:r>
            <a:r>
              <a:rPr lang="en-US" sz="1500" dirty="0">
                <a:solidFill>
                  <a:srgbClr val="1F2D3D"/>
                </a:solidFill>
                <a:latin typeface="Courier New" pitchFamily="34" charset="0"/>
                <a:ea typeface="Courier New" pitchFamily="34" charset="-122"/>
                <a:cs typeface="Courier New" pitchFamily="34" charset="-120"/>
              </a:rPr>
              <a:t>dados/estacoes_resumo.csv</a:t>
            </a:r>
            <a:r>
              <a:rPr lang="en-US" sz="1500" dirty="0">
                <a:solidFill>
                  <a:srgbClr val="1F2D3D"/>
                </a:solidFill>
                <a:latin typeface="Calibri" pitchFamily="34" charset="0"/>
                <a:ea typeface="Calibri" pitchFamily="34" charset="-122"/>
                <a:cs typeface="Calibri" pitchFamily="34" charset="-120"/>
              </a:rPr>
              <a:t> — uma linha por estação com latitude, longitude, chuva acumulada, temperatura média e umidade média.</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marL="0" indent="0">
              <a:buNone/>
            </a:pPr>
            <a:r>
              <a:rPr lang="en-US" sz="1200" b="1" kern="0" spc="200" dirty="0">
                <a:solidFill>
                  <a:srgbClr val="2E78C2"/>
                </a:solidFill>
                <a:latin typeface="Calibri" pitchFamily="34" charset="0"/>
                <a:ea typeface="Calibri" pitchFamily="34" charset="-122"/>
                <a:cs typeface="Calibri" pitchFamily="34" charset="-120"/>
              </a:rPr>
              <a:t>MODELAGEM</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t"/>
          <a:lstStyle/>
          <a:p>
            <a:pPr marL="0" indent="0">
              <a:buNone/>
            </a:pPr>
            <a:r>
              <a:rPr lang="en-US" sz="2800" b="1" dirty="0">
                <a:solidFill>
                  <a:srgbClr val="0F2A44"/>
                </a:solidFill>
                <a:latin typeface="Cambria" pitchFamily="34" charset="0"/>
                <a:ea typeface="Cambria" pitchFamily="34" charset="-122"/>
                <a:cs typeface="Cambria" pitchFamily="34" charset="-120"/>
              </a:rPr>
              <a:t>Grafo tipo 3: não orientado, pesos nos vértices e arestas</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t"/>
          <a:lstStyle/>
          <a:p>
            <a:pPr marL="0" indent="0">
              <a:buNone/>
            </a:pPr>
            <a:r>
              <a:rPr lang="en-US" sz="1000" dirty="0">
                <a:solidFill>
                  <a:srgbClr val="5F6B7A"/>
                </a:solidFill>
                <a:latin typeface="Calibri" pitchFamily="34" charset="0"/>
                <a:ea typeface="Calibri" pitchFamily="34" charset="-122"/>
                <a:cs typeface="Calibri" pitchFamily="34" charset="-120"/>
              </a:rPr>
              <a:t>Análise da rede de estações com grafos · Parte 2</a:t>
            </a:r>
            <a:endParaRPr lang="en-US" sz="1000" dirty="0"/>
          </a:p>
        </p:txBody>
      </p:sp>
      <p:sp>
        <p:nvSpPr>
          <p:cNvPr id="5" name="Text 3"/>
          <p:cNvSpPr txBox="1"/>
          <p:nvPr/>
        </p:nvSpPr>
        <p:spPr>
          <a:xfrm>
            <a:off x="10728655" y="6400800"/>
            <a:ext cx="914400" cy="228600"/>
          </a:xfrm>
          <a:prstGeom prst="rect">
            <a:avLst/>
          </a:prstGeom>
          <a:noFill/>
          <a:ln/>
        </p:spPr>
        <p:txBody>
          <a:bodyPr wrap="square" lIns="0" tIns="0" rIns="0" bIns="0" rtlCol="0" anchor="t"/>
          <a:lstStyle/>
          <a:p>
            <a:pPr marL="0" indent="0" algn="r">
              <a:buNone/>
            </a:pPr>
            <a:r>
              <a:rPr lang="en-US" sz="1000" dirty="0">
                <a:solidFill>
                  <a:srgbClr val="5F6B7A"/>
                </a:solidFill>
                <a:latin typeface="Calibri" pitchFamily="34" charset="0"/>
                <a:ea typeface="Calibri" pitchFamily="34" charset="-122"/>
                <a:cs typeface="Calibri" pitchFamily="34" charset="-120"/>
              </a:rPr>
              <a:t>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7040880" cy="3474720"/>
        </p:xfrm>
        <a:graphic>
          <a:graphicData uri="http://schemas.openxmlformats.org/drawingml/2006/table">
            <a:tbl>
              <a:tblPr/>
              <a:tblGrid>
                <a:gridCol w="1828800">
                  <a:extLst>
                    <a:ext uri="{9D8B030D-6E8A-4147-A177-3AD203B41FA5}">
                      <a16:colId xmlns:a16="http://schemas.microsoft.com/office/drawing/2014/main" val="20000"/>
                    </a:ext>
                  </a:extLst>
                </a:gridCol>
                <a:gridCol w="5212080">
                  <a:extLst>
                    <a:ext uri="{9D8B030D-6E8A-4147-A177-3AD203B41FA5}">
                      <a16:colId xmlns:a16="http://schemas.microsoft.com/office/drawing/2014/main" val="20001"/>
                    </a:ext>
                  </a:extLst>
                </a:gridCol>
              </a:tblGrid>
              <a:tr h="41148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Elemento</a:t>
                      </a:r>
                      <a:endParaRPr lang="en-US" sz="1400" dirty="0">
                        <a:latin typeface="Calibri" charset="0"/>
                        <a:ea typeface="Calibri" charset="0"/>
                        <a:cs typeface="Calibri" charset="0"/>
                      </a:endParaRPr>
                    </a:p>
                  </a:txBody>
                  <a:tcPr marL="109728" marR="109728"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0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Definição no problema</a:t>
                      </a:r>
                      <a:endParaRPr lang="en-US" sz="1400" dirty="0">
                        <a:latin typeface="Calibri" charset="0"/>
                        <a:ea typeface="Calibri" charset="0"/>
                        <a:cs typeface="Calibri" charset="0"/>
                      </a:endParaRPr>
                    </a:p>
                  </a:txBody>
                  <a:tcPr marL="109728" marR="109728"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0F2A44"/>
                    </a:solidFill>
                  </a:tcPr>
                </a:tc>
                <a:extLst>
                  <a:ext uri="{0D108BD9-81ED-4DB2-BD59-A6C34878D82A}">
                    <a16:rowId xmlns:a16="http://schemas.microsoft.com/office/drawing/2014/main" val="10000"/>
                  </a:ext>
                </a:extLst>
              </a:tr>
              <a:tr h="548640">
                <a:tc>
                  <a:txBody>
                    <a:bodyPr/>
                    <a:lstStyle/>
                    <a:p>
                      <a:pPr marL="0" indent="0">
                        <a:buNone/>
                      </a:pPr>
                      <a:r>
                        <a:rPr lang="en-US" sz="1400" b="1" dirty="0">
                          <a:solidFill>
                            <a:srgbClr val="1F2D3D"/>
                          </a:solidFill>
                          <a:latin typeface="Calibri" pitchFamily="34" charset="0"/>
                          <a:ea typeface="Calibri" pitchFamily="34" charset="-122"/>
                          <a:cs typeface="Calibri" pitchFamily="34" charset="-120"/>
                        </a:rPr>
                        <a:t>Vértice</a:t>
                      </a:r>
                      <a:endParaRPr lang="en-US" sz="1400" dirty="0">
                        <a:latin typeface="Calibri" charset="0"/>
                        <a:ea typeface="Calibri" charset="0"/>
                        <a:cs typeface="Calibri" charset="0"/>
                      </a:endParaRPr>
                    </a:p>
                  </a:txBody>
                  <a:tcPr marL="109728" marR="109728"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3F6FA"/>
                    </a:solidFill>
                  </a:tcPr>
                </a:tc>
                <a:tc>
                  <a:txBody>
                    <a:bodyPr/>
                    <a:lstStyle/>
                    <a:p>
                      <a:pPr marL="0" indent="0">
                        <a:buNone/>
                      </a:pPr>
                      <a:r>
                        <a:rPr lang="en-US" sz="1400" dirty="0">
                          <a:solidFill>
                            <a:srgbClr val="3E4C59"/>
                          </a:solidFill>
                          <a:latin typeface="Calibri" pitchFamily="34" charset="0"/>
                          <a:ea typeface="Calibri" pitchFamily="34" charset="-122"/>
                          <a:cs typeface="Calibri" pitchFamily="34" charset="-120"/>
                        </a:rPr>
                        <a:t>Estação do CGE (32). Rótulo = nome da estação</a:t>
                      </a:r>
                      <a:endParaRPr lang="en-US" sz="1400" dirty="0">
                        <a:latin typeface="Calibri" charset="0"/>
                        <a:ea typeface="Calibri" charset="0"/>
                        <a:cs typeface="Calibri" charset="0"/>
                      </a:endParaRPr>
                    </a:p>
                  </a:txBody>
                  <a:tcPr marL="109728" marR="109728"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buNone/>
                      </a:pPr>
                      <a:r>
                        <a:rPr lang="en-US" sz="1400" b="1" dirty="0">
                          <a:solidFill>
                            <a:srgbClr val="1F2D3D"/>
                          </a:solidFill>
                          <a:latin typeface="Calibri" pitchFamily="34" charset="0"/>
                          <a:ea typeface="Calibri" pitchFamily="34" charset="-122"/>
                          <a:cs typeface="Calibri" pitchFamily="34" charset="-120"/>
                        </a:rPr>
                        <a:t>Peso do vértice</a:t>
                      </a:r>
                      <a:endParaRPr lang="en-US" sz="1400" dirty="0">
                        <a:latin typeface="Calibri" charset="0"/>
                        <a:ea typeface="Calibri" charset="0"/>
                        <a:cs typeface="Calibri" charset="0"/>
                      </a:endParaRPr>
                    </a:p>
                  </a:txBody>
                  <a:tcPr marL="109728" marR="109728"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3F6FA"/>
                    </a:solidFill>
                  </a:tcPr>
                </a:tc>
                <a:tc>
                  <a:txBody>
                    <a:bodyPr/>
                    <a:lstStyle/>
                    <a:p>
                      <a:pPr marL="0" indent="0">
                        <a:buNone/>
                      </a:pPr>
                      <a:r>
                        <a:rPr lang="en-US" sz="1400" dirty="0">
                          <a:solidFill>
                            <a:srgbClr val="3E4C59"/>
                          </a:solidFill>
                          <a:latin typeface="Calibri" pitchFamily="34" charset="0"/>
                          <a:ea typeface="Calibri" pitchFamily="34" charset="-122"/>
                          <a:cs typeface="Calibri" pitchFamily="34" charset="-120"/>
                        </a:rPr>
                        <a:t>Chuva acumulada (mm) de 01/01 a 30/04/2024</a:t>
                      </a:r>
                      <a:endParaRPr lang="en-US" sz="1400" dirty="0">
                        <a:latin typeface="Calibri" charset="0"/>
                        <a:ea typeface="Calibri" charset="0"/>
                        <a:cs typeface="Calibri" charset="0"/>
                      </a:endParaRPr>
                    </a:p>
                  </a:txBody>
                  <a:tcPr marL="109728" marR="109728"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extLst>
                  <a:ext uri="{0D108BD9-81ED-4DB2-BD59-A6C34878D82A}">
                    <a16:rowId xmlns:a16="http://schemas.microsoft.com/office/drawing/2014/main" val="10002"/>
                  </a:ext>
                </a:extLst>
              </a:tr>
              <a:tr h="868680">
                <a:tc>
                  <a:txBody>
                    <a:bodyPr/>
                    <a:lstStyle/>
                    <a:p>
                      <a:pPr marL="0" indent="0">
                        <a:buNone/>
                      </a:pPr>
                      <a:r>
                        <a:rPr lang="en-US" sz="1400" b="1" dirty="0">
                          <a:solidFill>
                            <a:srgbClr val="1F2D3D"/>
                          </a:solidFill>
                          <a:latin typeface="Calibri" pitchFamily="34" charset="0"/>
                          <a:ea typeface="Calibri" pitchFamily="34" charset="-122"/>
                          <a:cs typeface="Calibri" pitchFamily="34" charset="-120"/>
                        </a:rPr>
                        <a:t>Aresta</a:t>
                      </a:r>
                      <a:endParaRPr lang="en-US" sz="1400" dirty="0">
                        <a:latin typeface="Calibri" charset="0"/>
                        <a:ea typeface="Calibri" charset="0"/>
                        <a:cs typeface="Calibri" charset="0"/>
                      </a:endParaRPr>
                    </a:p>
                  </a:txBody>
                  <a:tcPr marL="109728" marR="109728"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3F6FA"/>
                    </a:solidFill>
                  </a:tcPr>
                </a:tc>
                <a:tc>
                  <a:txBody>
                    <a:bodyPr/>
                    <a:lstStyle/>
                    <a:p>
                      <a:pPr marL="0" indent="0">
                        <a:buNone/>
                      </a:pPr>
                      <a:r>
                        <a:rPr lang="en-US" sz="1400" dirty="0">
                          <a:solidFill>
                            <a:srgbClr val="3E4C59"/>
                          </a:solidFill>
                          <a:latin typeface="Calibri" pitchFamily="34" charset="0"/>
                          <a:ea typeface="Calibri" pitchFamily="34" charset="-122"/>
                          <a:cs typeface="Calibri" pitchFamily="34" charset="-120"/>
                        </a:rPr>
                        <a:t>Vizinhança geográfica: {u, v} existe se v está entre os 4 mais próximos de u ou u entre os 4 mais próximos de v</a:t>
                      </a:r>
                      <a:endParaRPr lang="en-US" sz="1400" dirty="0">
                        <a:latin typeface="Calibri" charset="0"/>
                        <a:ea typeface="Calibri" charset="0"/>
                        <a:cs typeface="Calibri" charset="0"/>
                      </a:endParaRPr>
                    </a:p>
                  </a:txBody>
                  <a:tcPr marL="109728" marR="109728"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buNone/>
                      </a:pPr>
                      <a:r>
                        <a:rPr lang="en-US" sz="1400" b="1" dirty="0">
                          <a:solidFill>
                            <a:srgbClr val="1F2D3D"/>
                          </a:solidFill>
                          <a:latin typeface="Calibri" pitchFamily="34" charset="0"/>
                          <a:ea typeface="Calibri" pitchFamily="34" charset="-122"/>
                          <a:cs typeface="Calibri" pitchFamily="34" charset="-120"/>
                        </a:rPr>
                        <a:t>Peso da aresta</a:t>
                      </a:r>
                      <a:endParaRPr lang="en-US" sz="1400" dirty="0">
                        <a:latin typeface="Calibri" charset="0"/>
                        <a:ea typeface="Calibri" charset="0"/>
                        <a:cs typeface="Calibri" charset="0"/>
                      </a:endParaRPr>
                    </a:p>
                  </a:txBody>
                  <a:tcPr marL="109728" marR="109728"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3F6FA"/>
                    </a:solidFill>
                  </a:tcPr>
                </a:tc>
                <a:tc>
                  <a:txBody>
                    <a:bodyPr/>
                    <a:lstStyle/>
                    <a:p>
                      <a:pPr marL="0" indent="0">
                        <a:buNone/>
                      </a:pPr>
                      <a:r>
                        <a:rPr lang="en-US" sz="1400" dirty="0">
                          <a:solidFill>
                            <a:srgbClr val="3E4C59"/>
                          </a:solidFill>
                          <a:latin typeface="Calibri" pitchFamily="34" charset="0"/>
                          <a:ea typeface="Calibri" pitchFamily="34" charset="-122"/>
                          <a:cs typeface="Calibri" pitchFamily="34" charset="-120"/>
                        </a:rPr>
                        <a:t>Distância de Haversine (km) entre as estações</a:t>
                      </a:r>
                      <a:endParaRPr lang="en-US" sz="1400" dirty="0">
                        <a:latin typeface="Calibri" charset="0"/>
                        <a:ea typeface="Calibri" charset="0"/>
                        <a:cs typeface="Calibri" charset="0"/>
                      </a:endParaRPr>
                    </a:p>
                  </a:txBody>
                  <a:tcPr marL="109728" marR="109728"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extLst>
                  <a:ext uri="{0D108BD9-81ED-4DB2-BD59-A6C34878D82A}">
                    <a16:rowId xmlns:a16="http://schemas.microsoft.com/office/drawing/2014/main" val="10004"/>
                  </a:ext>
                </a:extLst>
              </a:tr>
              <a:tr h="548640">
                <a:tc>
                  <a:txBody>
                    <a:bodyPr/>
                    <a:lstStyle/>
                    <a:p>
                      <a:pPr marL="0" indent="0">
                        <a:buNone/>
                      </a:pPr>
                      <a:r>
                        <a:rPr lang="en-US" sz="1400" b="1" dirty="0">
                          <a:solidFill>
                            <a:srgbClr val="1F2D3D"/>
                          </a:solidFill>
                          <a:latin typeface="Calibri" pitchFamily="34" charset="0"/>
                          <a:ea typeface="Calibri" pitchFamily="34" charset="-122"/>
                          <a:cs typeface="Calibri" pitchFamily="34" charset="-120"/>
                        </a:rPr>
                        <a:t>Orientação</a:t>
                      </a:r>
                      <a:endParaRPr lang="en-US" sz="1400" dirty="0">
                        <a:latin typeface="Calibri" charset="0"/>
                        <a:ea typeface="Calibri" charset="0"/>
                        <a:cs typeface="Calibri" charset="0"/>
                      </a:endParaRPr>
                    </a:p>
                  </a:txBody>
                  <a:tcPr marL="109728" marR="109728"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3F6FA"/>
                    </a:solidFill>
                  </a:tcPr>
                </a:tc>
                <a:tc>
                  <a:txBody>
                    <a:bodyPr/>
                    <a:lstStyle/>
                    <a:p>
                      <a:pPr marL="0" indent="0">
                        <a:buNone/>
                      </a:pPr>
                      <a:r>
                        <a:rPr lang="en-US" sz="1400" dirty="0">
                          <a:solidFill>
                            <a:srgbClr val="3E4C59"/>
                          </a:solidFill>
                          <a:latin typeface="Calibri" pitchFamily="34" charset="0"/>
                          <a:ea typeface="Calibri" pitchFamily="34" charset="-122"/>
                          <a:cs typeface="Calibri" pitchFamily="34" charset="-120"/>
                        </a:rPr>
                        <a:t>Não orientado: vizinhança e distância são simétricas</a:t>
                      </a:r>
                      <a:endParaRPr lang="en-US" sz="1400" dirty="0">
                        <a:latin typeface="Calibri" charset="0"/>
                        <a:ea typeface="Calibri" charset="0"/>
                        <a:cs typeface="Calibri" charset="0"/>
                      </a:endParaRPr>
                    </a:p>
                  </a:txBody>
                  <a:tcPr marL="109728" marR="109728" marT="73152" marB="73152"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Shape 4"/>
          <p:cNvSpPr/>
          <p:nvPr/>
        </p:nvSpPr>
        <p:spPr>
          <a:xfrm>
            <a:off x="8001000" y="1554480"/>
            <a:ext cx="3639312" cy="3474720"/>
          </a:xfrm>
          <a:prstGeom prst="roundRect">
            <a:avLst>
              <a:gd name="adj" fmla="val 2105"/>
            </a:avLst>
          </a:prstGeom>
          <a:solidFill>
            <a:srgbClr val="0F2A44"/>
          </a:solidFill>
          <a:ln w="12700">
            <a:solidFill>
              <a:srgbClr val="0F2A44"/>
            </a:solidFill>
            <a:prstDash val="solid"/>
          </a:ln>
        </p:spPr>
        <p:txBody>
          <a:bodyPr/>
          <a:lstStyle/>
          <a:p>
            <a:endParaRPr lang="pt-BR"/>
          </a:p>
        </p:txBody>
      </p:sp>
      <p:sp>
        <p:nvSpPr>
          <p:cNvPr id="8" name="Text 5"/>
          <p:cNvSpPr txBox="1"/>
          <p:nvPr/>
        </p:nvSpPr>
        <p:spPr>
          <a:xfrm>
            <a:off x="8275320" y="1737360"/>
            <a:ext cx="3108960" cy="320040"/>
          </a:xfrm>
          <a:prstGeom prst="rect">
            <a:avLst/>
          </a:prstGeom>
          <a:noFill/>
          <a:ln/>
        </p:spPr>
        <p:txBody>
          <a:bodyPr wrap="square" lIns="0" tIns="0" rIns="0" bIns="0" rtlCol="0" anchor="t"/>
          <a:lstStyle/>
          <a:p>
            <a:pPr marL="0" indent="0">
              <a:buNone/>
            </a:pPr>
            <a:r>
              <a:rPr lang="en-US" sz="1400" b="1" dirty="0">
                <a:solidFill>
                  <a:srgbClr val="7FB3E6"/>
                </a:solidFill>
                <a:latin typeface="Courier New" pitchFamily="34" charset="0"/>
                <a:ea typeface="Courier New" pitchFamily="34" charset="-122"/>
                <a:cs typeface="Courier New" pitchFamily="34" charset="-120"/>
              </a:rPr>
              <a:t>grafo.txt</a:t>
            </a:r>
            <a:endParaRPr lang="en-US" sz="1400" dirty="0"/>
          </a:p>
        </p:txBody>
      </p:sp>
      <p:sp>
        <p:nvSpPr>
          <p:cNvPr id="9" name="Text 6"/>
          <p:cNvSpPr txBox="1"/>
          <p:nvPr/>
        </p:nvSpPr>
        <p:spPr>
          <a:xfrm>
            <a:off x="8275320" y="2148840"/>
            <a:ext cx="3108960" cy="2743200"/>
          </a:xfrm>
          <a:prstGeom prst="rect">
            <a:avLst/>
          </a:prstGeom>
          <a:noFill/>
          <a:ln/>
        </p:spPr>
        <p:txBody>
          <a:bodyPr wrap="square" lIns="0" tIns="0" rIns="0" bIns="0" rtlCol="0" anchor="t"/>
          <a:lstStyle/>
          <a:p>
            <a:pPr marL="0" indent="0">
              <a:lnSpc>
                <a:spcPct val="110000"/>
              </a:lnSpc>
              <a:buNone/>
            </a:pPr>
            <a:r>
              <a:rPr lang="en-US" sz="1400" dirty="0">
                <a:solidFill>
                  <a:srgbClr val="FFFFFF"/>
                </a:solidFill>
                <a:latin typeface="Courier New" pitchFamily="34" charset="0"/>
                <a:ea typeface="Courier New" pitchFamily="34" charset="-122"/>
                <a:cs typeface="Courier New" pitchFamily="34" charset="-120"/>
              </a:rPr>
              <a:t>3</a:t>
            </a:r>
            <a:endParaRPr lang="en-US" sz="1400" dirty="0"/>
          </a:p>
          <a:p>
            <a:pPr marL="0" indent="0">
              <a:lnSpc>
                <a:spcPct val="110000"/>
              </a:lnSpc>
              <a:buNone/>
            </a:pPr>
            <a:r>
              <a:rPr lang="en-US" sz="1400" dirty="0">
                <a:solidFill>
                  <a:srgbClr val="FFFFFF"/>
                </a:solidFill>
                <a:latin typeface="Courier New" pitchFamily="34" charset="0"/>
                <a:ea typeface="Courier New" pitchFamily="34" charset="-122"/>
                <a:cs typeface="Courier New" pitchFamily="34" charset="-120"/>
              </a:rPr>
              <a:t>32</a:t>
            </a:r>
            <a:endParaRPr lang="en-US" sz="1400" dirty="0"/>
          </a:p>
          <a:p>
            <a:pPr marL="0" indent="0">
              <a:lnSpc>
                <a:spcPct val="110000"/>
              </a:lnSpc>
              <a:buNone/>
            </a:pPr>
            <a:r>
              <a:rPr lang="en-US" sz="1400" dirty="0">
                <a:solidFill>
                  <a:srgbClr val="FFFFFF"/>
                </a:solidFill>
                <a:latin typeface="Courier New" pitchFamily="34" charset="0"/>
                <a:ea typeface="Courier New" pitchFamily="34" charset="-122"/>
                <a:cs typeface="Courier New" pitchFamily="34" charset="-120"/>
              </a:rPr>
              <a:t>0 "Perus" 552.8</a:t>
            </a:r>
            <a:endParaRPr lang="en-US" sz="1400" dirty="0"/>
          </a:p>
          <a:p>
            <a:pPr marL="0" indent="0">
              <a:lnSpc>
                <a:spcPct val="110000"/>
              </a:lnSpc>
              <a:buNone/>
            </a:pPr>
            <a:r>
              <a:rPr lang="en-US" sz="1400" dirty="0">
                <a:solidFill>
                  <a:srgbClr val="FFFFFF"/>
                </a:solidFill>
                <a:latin typeface="Courier New" pitchFamily="34" charset="0"/>
                <a:ea typeface="Courier New" pitchFamily="34" charset="-122"/>
                <a:cs typeface="Courier New" pitchFamily="34" charset="-120"/>
              </a:rPr>
              <a:t>1 "Tremembe" 707</a:t>
            </a:r>
            <a:endParaRPr lang="en-US" sz="1400" dirty="0"/>
          </a:p>
          <a:p>
            <a:pPr marL="0" indent="0">
              <a:lnSpc>
                <a:spcPct val="110000"/>
              </a:lnSpc>
              <a:buNone/>
            </a:pPr>
            <a:r>
              <a:rPr lang="en-US" sz="1400" dirty="0">
                <a:solidFill>
                  <a:srgbClr val="FFFFFF"/>
                </a:solidFill>
                <a:latin typeface="Courier New" pitchFamily="34" charset="0"/>
                <a:ea typeface="Courier New" pitchFamily="34" charset="-122"/>
                <a:cs typeface="Courier New" pitchFamily="34" charset="-120"/>
              </a:rPr>
              <a:t>...</a:t>
            </a:r>
            <a:endParaRPr lang="en-US" sz="1400" dirty="0"/>
          </a:p>
          <a:p>
            <a:pPr marL="0" indent="0">
              <a:lnSpc>
                <a:spcPct val="110000"/>
              </a:lnSpc>
              <a:buNone/>
            </a:pPr>
            <a:r>
              <a:rPr lang="en-US" sz="1400" dirty="0">
                <a:solidFill>
                  <a:srgbClr val="FFFFFF"/>
                </a:solidFill>
                <a:latin typeface="Courier New" pitchFamily="34" charset="0"/>
                <a:ea typeface="Courier New" pitchFamily="34" charset="-122"/>
                <a:cs typeface="Courier New" pitchFamily="34" charset="-120"/>
              </a:rPr>
              <a:t>84</a:t>
            </a:r>
            <a:endParaRPr lang="en-US" sz="1400" dirty="0"/>
          </a:p>
          <a:p>
            <a:pPr marL="0" indent="0">
              <a:lnSpc>
                <a:spcPct val="110000"/>
              </a:lnSpc>
              <a:buNone/>
            </a:pPr>
            <a:r>
              <a:rPr lang="en-US" sz="1400" dirty="0">
                <a:solidFill>
                  <a:srgbClr val="FFFFFF"/>
                </a:solidFill>
                <a:latin typeface="Courier New" pitchFamily="34" charset="0"/>
                <a:ea typeface="Courier New" pitchFamily="34" charset="-122"/>
                <a:cs typeface="Courier New" pitchFamily="34" charset="-120"/>
              </a:rPr>
              <a:t>0 4 7.85</a:t>
            </a:r>
            <a:endParaRPr lang="en-US" sz="1400" dirty="0"/>
          </a:p>
          <a:p>
            <a:pPr marL="0" indent="0">
              <a:lnSpc>
                <a:spcPct val="110000"/>
              </a:lnSpc>
              <a:buNone/>
            </a:pPr>
            <a:r>
              <a:rPr lang="en-US" sz="1400" dirty="0">
                <a:solidFill>
                  <a:srgbClr val="FFFFFF"/>
                </a:solidFill>
                <a:latin typeface="Courier New" pitchFamily="34" charset="0"/>
                <a:ea typeface="Courier New" pitchFamily="34" charset="-122"/>
                <a:cs typeface="Courier New" pitchFamily="34" charset="-120"/>
              </a:rPr>
              <a:t>0 5 9.93</a:t>
            </a:r>
            <a:endParaRPr lang="en-US" sz="1400" dirty="0"/>
          </a:p>
          <a:p>
            <a:pPr marL="0" indent="0">
              <a:lnSpc>
                <a:spcPct val="110000"/>
              </a:lnSpc>
              <a:buNone/>
            </a:pPr>
            <a:r>
              <a:rPr lang="en-US" sz="1400" dirty="0">
                <a:solidFill>
                  <a:srgbClr val="FFFFFF"/>
                </a:solidFill>
                <a:latin typeface="Courier New" pitchFamily="34" charset="0"/>
                <a:ea typeface="Courier New" pitchFamily="34" charset="-122"/>
                <a:cs typeface="Courier New" pitchFamily="34" charset="-120"/>
              </a:rPr>
              <a:t>...</a:t>
            </a:r>
            <a:endParaRPr lang="en-US" sz="1400" dirty="0"/>
          </a:p>
        </p:txBody>
      </p:sp>
      <p:sp>
        <p:nvSpPr>
          <p:cNvPr id="10" name="Text 7"/>
          <p:cNvSpPr txBox="1"/>
          <p:nvPr/>
        </p:nvSpPr>
        <p:spPr>
          <a:xfrm>
            <a:off x="8001000" y="5166360"/>
            <a:ext cx="3639312" cy="640080"/>
          </a:xfrm>
          <a:prstGeom prst="rect">
            <a:avLst/>
          </a:prstGeom>
          <a:noFill/>
          <a:ln/>
        </p:spPr>
        <p:txBody>
          <a:bodyPr wrap="square" lIns="0" tIns="0" rIns="0" bIns="0" rtlCol="0" anchor="t"/>
          <a:lstStyle/>
          <a:p>
            <a:pPr marL="0" indent="0">
              <a:buNone/>
            </a:pPr>
            <a:r>
              <a:rPr lang="en-US" sz="1200" dirty="0">
                <a:solidFill>
                  <a:srgbClr val="5F6B7A"/>
                </a:solidFill>
                <a:latin typeface="Calibri" pitchFamily="34" charset="0"/>
                <a:ea typeface="Calibri" pitchFamily="34" charset="-122"/>
                <a:cs typeface="Calibri" pitchFamily="34" charset="-120"/>
              </a:rPr>
              <a:t>tipo · n · um vértice por linha (nº, rótulo, chuva) · m · uma aresta por linha (v, w, km)</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Grafo das 32 estações do CGE desenhado sobre latitude e longitude; cor do vértice = chuva acumulada, número na aresta = distância em km"/>
          <p:cNvPicPr>
            <a:picLocks noChangeAspect="1"/>
          </p:cNvPicPr>
          <p:nvPr/>
        </p:nvPicPr>
        <p:blipFill>
          <a:blip r:embed="rId3"/>
          <a:stretch>
            <a:fillRect/>
          </a:stretch>
        </p:blipFill>
        <p:spPr>
          <a:xfrm>
            <a:off x="548640" y="411480"/>
            <a:ext cx="6553200" cy="5897880"/>
          </a:xfrm>
          <a:prstGeom prst="rect">
            <a:avLst/>
          </a:prstGeom>
        </p:spPr>
      </p:pic>
      <p:sp>
        <p:nvSpPr>
          <p:cNvPr id="3" name="Text 0"/>
          <p:cNvSpPr txBox="1"/>
          <p:nvPr/>
        </p:nvSpPr>
        <p:spPr>
          <a:xfrm>
            <a:off x="7513320" y="548640"/>
            <a:ext cx="4129735" cy="274320"/>
          </a:xfrm>
          <a:prstGeom prst="rect">
            <a:avLst/>
          </a:prstGeom>
          <a:noFill/>
          <a:ln/>
        </p:spPr>
        <p:txBody>
          <a:bodyPr wrap="square" lIns="0" tIns="0" rIns="0" bIns="0" rtlCol="0" anchor="t"/>
          <a:lstStyle/>
          <a:p>
            <a:pPr marL="0" indent="0">
              <a:buNone/>
            </a:pPr>
            <a:r>
              <a:rPr lang="en-US" sz="1200" b="1" kern="0" spc="200" dirty="0">
                <a:solidFill>
                  <a:srgbClr val="2E78C2"/>
                </a:solidFill>
                <a:latin typeface="Calibri" pitchFamily="34" charset="0"/>
                <a:ea typeface="Calibri" pitchFamily="34" charset="-122"/>
                <a:cs typeface="Calibri" pitchFamily="34" charset="-120"/>
              </a:rPr>
              <a:t>O GRAFO</a:t>
            </a:r>
            <a:endParaRPr lang="en-US" sz="1200" dirty="0"/>
          </a:p>
        </p:txBody>
      </p:sp>
      <p:sp>
        <p:nvSpPr>
          <p:cNvPr id="4" name="Text 1"/>
          <p:cNvSpPr txBox="1"/>
          <p:nvPr/>
        </p:nvSpPr>
        <p:spPr>
          <a:xfrm>
            <a:off x="7513320" y="822960"/>
            <a:ext cx="4129735" cy="914400"/>
          </a:xfrm>
          <a:prstGeom prst="rect">
            <a:avLst/>
          </a:prstGeom>
          <a:noFill/>
          <a:ln/>
        </p:spPr>
        <p:txBody>
          <a:bodyPr wrap="square" lIns="0" tIns="0" rIns="0" bIns="0" rtlCol="0" anchor="t"/>
          <a:lstStyle/>
          <a:p>
            <a:pPr marL="0" indent="0">
              <a:buNone/>
            </a:pPr>
            <a:r>
              <a:rPr lang="en-US" sz="2600" b="1" dirty="0">
                <a:solidFill>
                  <a:srgbClr val="0F2A44"/>
                </a:solidFill>
                <a:latin typeface="Cambria" pitchFamily="34" charset="0"/>
                <a:ea typeface="Cambria" pitchFamily="34" charset="-122"/>
                <a:cs typeface="Cambria" pitchFamily="34" charset="-120"/>
              </a:rPr>
              <a:t>A rede sobre as coordenadas reais</a:t>
            </a:r>
            <a:endParaRPr lang="en-US" sz="2600" dirty="0"/>
          </a:p>
        </p:txBody>
      </p:sp>
      <p:sp>
        <p:nvSpPr>
          <p:cNvPr id="5" name="Shape 2"/>
          <p:cNvSpPr/>
          <p:nvPr/>
        </p:nvSpPr>
        <p:spPr>
          <a:xfrm>
            <a:off x="7513320" y="1965960"/>
            <a:ext cx="1927708" cy="1234440"/>
          </a:xfrm>
          <a:prstGeom prst="roundRect">
            <a:avLst>
              <a:gd name="adj" fmla="val 5926"/>
            </a:avLst>
          </a:prstGeom>
          <a:solidFill>
            <a:srgbClr val="F3F6FA"/>
          </a:solidFill>
          <a:ln w="12700">
            <a:solidFill>
              <a:srgbClr val="F3F6FA"/>
            </a:solidFill>
            <a:prstDash val="solid"/>
          </a:ln>
        </p:spPr>
        <p:txBody>
          <a:bodyPr/>
          <a:lstStyle/>
          <a:p>
            <a:endParaRPr lang="pt-BR"/>
          </a:p>
        </p:txBody>
      </p:sp>
      <p:sp>
        <p:nvSpPr>
          <p:cNvPr id="6" name="Text 3"/>
          <p:cNvSpPr txBox="1"/>
          <p:nvPr/>
        </p:nvSpPr>
        <p:spPr>
          <a:xfrm>
            <a:off x="7741920" y="2103120"/>
            <a:ext cx="1470508" cy="594360"/>
          </a:xfrm>
          <a:prstGeom prst="rect">
            <a:avLst/>
          </a:prstGeom>
          <a:noFill/>
          <a:ln/>
        </p:spPr>
        <p:txBody>
          <a:bodyPr wrap="square" lIns="0" tIns="0" rIns="0" bIns="0" rtlCol="0" anchor="t"/>
          <a:lstStyle/>
          <a:p>
            <a:pPr marL="0" indent="0">
              <a:buNone/>
            </a:pPr>
            <a:r>
              <a:rPr lang="en-US" sz="3200" b="1" dirty="0">
                <a:solidFill>
                  <a:srgbClr val="2E78C2"/>
                </a:solidFill>
                <a:latin typeface="Cambria" pitchFamily="34" charset="0"/>
                <a:ea typeface="Cambria" pitchFamily="34" charset="-122"/>
                <a:cs typeface="Cambria" pitchFamily="34" charset="-120"/>
              </a:rPr>
              <a:t>32</a:t>
            </a:r>
            <a:endParaRPr lang="en-US" sz="3200" dirty="0"/>
          </a:p>
        </p:txBody>
      </p:sp>
      <p:sp>
        <p:nvSpPr>
          <p:cNvPr id="7" name="Text 4"/>
          <p:cNvSpPr txBox="1"/>
          <p:nvPr/>
        </p:nvSpPr>
        <p:spPr>
          <a:xfrm>
            <a:off x="7741920" y="2715768"/>
            <a:ext cx="1470508" cy="365760"/>
          </a:xfrm>
          <a:prstGeom prst="rect">
            <a:avLst/>
          </a:prstGeom>
          <a:noFill/>
          <a:ln/>
        </p:spPr>
        <p:txBody>
          <a:bodyPr wrap="square" lIns="0" tIns="0" rIns="0" bIns="0" rtlCol="0" anchor="t"/>
          <a:lstStyle/>
          <a:p>
            <a:pPr marL="0" indent="0">
              <a:buNone/>
            </a:pPr>
            <a:r>
              <a:rPr lang="en-US" sz="1300" dirty="0">
                <a:solidFill>
                  <a:srgbClr val="3E4C59"/>
                </a:solidFill>
                <a:latin typeface="Calibri" pitchFamily="34" charset="0"/>
                <a:ea typeface="Calibri" pitchFamily="34" charset="-122"/>
                <a:cs typeface="Calibri" pitchFamily="34" charset="-120"/>
              </a:rPr>
              <a:t>vértices</a:t>
            </a:r>
            <a:endParaRPr lang="en-US" sz="1300" dirty="0"/>
          </a:p>
        </p:txBody>
      </p:sp>
      <p:sp>
        <p:nvSpPr>
          <p:cNvPr id="8" name="Shape 5"/>
          <p:cNvSpPr/>
          <p:nvPr/>
        </p:nvSpPr>
        <p:spPr>
          <a:xfrm>
            <a:off x="9715348" y="1965960"/>
            <a:ext cx="1927708" cy="1234440"/>
          </a:xfrm>
          <a:prstGeom prst="roundRect">
            <a:avLst>
              <a:gd name="adj" fmla="val 5926"/>
            </a:avLst>
          </a:prstGeom>
          <a:solidFill>
            <a:srgbClr val="F3F6FA"/>
          </a:solidFill>
          <a:ln w="12700">
            <a:solidFill>
              <a:srgbClr val="F3F6FA"/>
            </a:solidFill>
            <a:prstDash val="solid"/>
          </a:ln>
        </p:spPr>
        <p:txBody>
          <a:bodyPr/>
          <a:lstStyle/>
          <a:p>
            <a:endParaRPr lang="pt-BR"/>
          </a:p>
        </p:txBody>
      </p:sp>
      <p:sp>
        <p:nvSpPr>
          <p:cNvPr id="9" name="Text 6"/>
          <p:cNvSpPr txBox="1"/>
          <p:nvPr/>
        </p:nvSpPr>
        <p:spPr>
          <a:xfrm>
            <a:off x="9943948" y="2103120"/>
            <a:ext cx="1470508" cy="594360"/>
          </a:xfrm>
          <a:prstGeom prst="rect">
            <a:avLst/>
          </a:prstGeom>
          <a:noFill/>
          <a:ln/>
        </p:spPr>
        <p:txBody>
          <a:bodyPr wrap="square" lIns="0" tIns="0" rIns="0" bIns="0" rtlCol="0" anchor="t"/>
          <a:lstStyle/>
          <a:p>
            <a:pPr marL="0" indent="0">
              <a:buNone/>
            </a:pPr>
            <a:r>
              <a:rPr lang="en-US" sz="3200" b="1" dirty="0">
                <a:solidFill>
                  <a:srgbClr val="2E78C2"/>
                </a:solidFill>
                <a:latin typeface="Cambria" pitchFamily="34" charset="0"/>
                <a:ea typeface="Cambria" pitchFamily="34" charset="-122"/>
                <a:cs typeface="Cambria" pitchFamily="34" charset="-120"/>
              </a:rPr>
              <a:t>84</a:t>
            </a:r>
            <a:endParaRPr lang="en-US" sz="3200" dirty="0"/>
          </a:p>
        </p:txBody>
      </p:sp>
      <p:sp>
        <p:nvSpPr>
          <p:cNvPr id="10" name="Text 7"/>
          <p:cNvSpPr txBox="1"/>
          <p:nvPr/>
        </p:nvSpPr>
        <p:spPr>
          <a:xfrm>
            <a:off x="9943948" y="2715768"/>
            <a:ext cx="1470508" cy="365760"/>
          </a:xfrm>
          <a:prstGeom prst="rect">
            <a:avLst/>
          </a:prstGeom>
          <a:noFill/>
          <a:ln/>
        </p:spPr>
        <p:txBody>
          <a:bodyPr wrap="square" lIns="0" tIns="0" rIns="0" bIns="0" rtlCol="0" anchor="t"/>
          <a:lstStyle/>
          <a:p>
            <a:pPr marL="0" indent="0">
              <a:buNone/>
            </a:pPr>
            <a:r>
              <a:rPr lang="en-US" sz="1300" dirty="0">
                <a:solidFill>
                  <a:srgbClr val="3E4C59"/>
                </a:solidFill>
                <a:latin typeface="Calibri" pitchFamily="34" charset="0"/>
                <a:ea typeface="Calibri" pitchFamily="34" charset="-122"/>
                <a:cs typeface="Calibri" pitchFamily="34" charset="-120"/>
              </a:rPr>
              <a:t>arestas</a:t>
            </a:r>
            <a:endParaRPr lang="en-US" sz="1300" dirty="0"/>
          </a:p>
        </p:txBody>
      </p:sp>
      <p:sp>
        <p:nvSpPr>
          <p:cNvPr id="11" name="Shape 8"/>
          <p:cNvSpPr/>
          <p:nvPr/>
        </p:nvSpPr>
        <p:spPr>
          <a:xfrm>
            <a:off x="7513320" y="3429000"/>
            <a:ext cx="1927708" cy="1234440"/>
          </a:xfrm>
          <a:prstGeom prst="roundRect">
            <a:avLst>
              <a:gd name="adj" fmla="val 5926"/>
            </a:avLst>
          </a:prstGeom>
          <a:solidFill>
            <a:srgbClr val="F3F6FA"/>
          </a:solidFill>
          <a:ln w="12700">
            <a:solidFill>
              <a:srgbClr val="F3F6FA"/>
            </a:solidFill>
            <a:prstDash val="solid"/>
          </a:ln>
        </p:spPr>
        <p:txBody>
          <a:bodyPr/>
          <a:lstStyle/>
          <a:p>
            <a:endParaRPr lang="pt-BR"/>
          </a:p>
        </p:txBody>
      </p:sp>
      <p:sp>
        <p:nvSpPr>
          <p:cNvPr id="12" name="Text 9"/>
          <p:cNvSpPr txBox="1"/>
          <p:nvPr/>
        </p:nvSpPr>
        <p:spPr>
          <a:xfrm>
            <a:off x="7741920" y="3566160"/>
            <a:ext cx="1470508" cy="594360"/>
          </a:xfrm>
          <a:prstGeom prst="rect">
            <a:avLst/>
          </a:prstGeom>
          <a:noFill/>
          <a:ln/>
        </p:spPr>
        <p:txBody>
          <a:bodyPr wrap="square" lIns="0" tIns="0" rIns="0" bIns="0" rtlCol="0" anchor="t"/>
          <a:lstStyle/>
          <a:p>
            <a:pPr marL="0" indent="0">
              <a:buNone/>
            </a:pPr>
            <a:r>
              <a:rPr lang="en-US" sz="3200" b="1" dirty="0">
                <a:solidFill>
                  <a:srgbClr val="2E78C2"/>
                </a:solidFill>
                <a:latin typeface="Cambria" pitchFamily="34" charset="0"/>
                <a:ea typeface="Cambria" pitchFamily="34" charset="-122"/>
                <a:cs typeface="Cambria" pitchFamily="34" charset="-120"/>
              </a:rPr>
              <a:t>1</a:t>
            </a:r>
            <a:endParaRPr lang="en-US" sz="3200" dirty="0"/>
          </a:p>
        </p:txBody>
      </p:sp>
      <p:sp>
        <p:nvSpPr>
          <p:cNvPr id="13" name="Text 10"/>
          <p:cNvSpPr txBox="1"/>
          <p:nvPr/>
        </p:nvSpPr>
        <p:spPr>
          <a:xfrm>
            <a:off x="7741920" y="4178808"/>
            <a:ext cx="1470508" cy="365760"/>
          </a:xfrm>
          <a:prstGeom prst="rect">
            <a:avLst/>
          </a:prstGeom>
          <a:noFill/>
          <a:ln/>
        </p:spPr>
        <p:txBody>
          <a:bodyPr wrap="square" lIns="0" tIns="0" rIns="0" bIns="0" rtlCol="0" anchor="t"/>
          <a:lstStyle/>
          <a:p>
            <a:pPr marL="0" indent="0">
              <a:buNone/>
            </a:pPr>
            <a:r>
              <a:rPr lang="en-US" sz="1300" dirty="0">
                <a:solidFill>
                  <a:srgbClr val="3E4C59"/>
                </a:solidFill>
                <a:latin typeface="Calibri" pitchFamily="34" charset="0"/>
                <a:ea typeface="Calibri" pitchFamily="34" charset="-122"/>
                <a:cs typeface="Calibri" pitchFamily="34" charset="-120"/>
              </a:rPr>
              <a:t>componente: conexo</a:t>
            </a:r>
            <a:endParaRPr lang="en-US" sz="1300" dirty="0"/>
          </a:p>
        </p:txBody>
      </p:sp>
      <p:sp>
        <p:nvSpPr>
          <p:cNvPr id="14" name="Shape 11"/>
          <p:cNvSpPr/>
          <p:nvPr/>
        </p:nvSpPr>
        <p:spPr>
          <a:xfrm>
            <a:off x="9715348" y="3429000"/>
            <a:ext cx="1927708" cy="1234440"/>
          </a:xfrm>
          <a:prstGeom prst="roundRect">
            <a:avLst>
              <a:gd name="adj" fmla="val 5926"/>
            </a:avLst>
          </a:prstGeom>
          <a:solidFill>
            <a:srgbClr val="F3F6FA"/>
          </a:solidFill>
          <a:ln w="12700">
            <a:solidFill>
              <a:srgbClr val="F3F6FA"/>
            </a:solidFill>
            <a:prstDash val="solid"/>
          </a:ln>
        </p:spPr>
        <p:txBody>
          <a:bodyPr/>
          <a:lstStyle/>
          <a:p>
            <a:endParaRPr lang="pt-BR"/>
          </a:p>
        </p:txBody>
      </p:sp>
      <p:sp>
        <p:nvSpPr>
          <p:cNvPr id="15" name="Text 12"/>
          <p:cNvSpPr txBox="1"/>
          <p:nvPr/>
        </p:nvSpPr>
        <p:spPr>
          <a:xfrm>
            <a:off x="9943948" y="3566160"/>
            <a:ext cx="1470508" cy="594360"/>
          </a:xfrm>
          <a:prstGeom prst="rect">
            <a:avLst/>
          </a:prstGeom>
          <a:noFill/>
          <a:ln/>
        </p:spPr>
        <p:txBody>
          <a:bodyPr wrap="square" lIns="0" tIns="0" rIns="0" bIns="0" rtlCol="0" anchor="t"/>
          <a:lstStyle/>
          <a:p>
            <a:pPr marL="0" indent="0">
              <a:buNone/>
            </a:pPr>
            <a:r>
              <a:rPr lang="en-US" sz="3200" b="1" dirty="0">
                <a:solidFill>
                  <a:srgbClr val="2E78C2"/>
                </a:solidFill>
                <a:latin typeface="Cambria" pitchFamily="34" charset="0"/>
                <a:ea typeface="Cambria" pitchFamily="34" charset="-122"/>
                <a:cs typeface="Cambria" pitchFamily="34" charset="-120"/>
              </a:rPr>
              <a:t>4 a 7</a:t>
            </a:r>
            <a:endParaRPr lang="en-US" sz="3200" dirty="0"/>
          </a:p>
        </p:txBody>
      </p:sp>
      <p:sp>
        <p:nvSpPr>
          <p:cNvPr id="16" name="Text 13"/>
          <p:cNvSpPr txBox="1"/>
          <p:nvPr/>
        </p:nvSpPr>
        <p:spPr>
          <a:xfrm>
            <a:off x="9943948" y="4178808"/>
            <a:ext cx="1470508" cy="365760"/>
          </a:xfrm>
          <a:prstGeom prst="rect">
            <a:avLst/>
          </a:prstGeom>
          <a:noFill/>
          <a:ln/>
        </p:spPr>
        <p:txBody>
          <a:bodyPr wrap="square" lIns="0" tIns="0" rIns="0" bIns="0" rtlCol="0" anchor="t"/>
          <a:lstStyle/>
          <a:p>
            <a:pPr marL="0" indent="0">
              <a:buNone/>
            </a:pPr>
            <a:r>
              <a:rPr lang="en-US" sz="1300" dirty="0">
                <a:solidFill>
                  <a:srgbClr val="3E4C59"/>
                </a:solidFill>
                <a:latin typeface="Calibri" pitchFamily="34" charset="0"/>
                <a:ea typeface="Calibri" pitchFamily="34" charset="-122"/>
                <a:cs typeface="Calibri" pitchFamily="34" charset="-120"/>
              </a:rPr>
              <a:t>grau (média 5,25)</a:t>
            </a:r>
            <a:endParaRPr lang="en-US" sz="1300" dirty="0"/>
          </a:p>
        </p:txBody>
      </p:sp>
      <p:sp>
        <p:nvSpPr>
          <p:cNvPr id="17" name="Text 14"/>
          <p:cNvSpPr txBox="1"/>
          <p:nvPr/>
        </p:nvSpPr>
        <p:spPr>
          <a:xfrm>
            <a:off x="7513320" y="5029200"/>
            <a:ext cx="4129735" cy="1188720"/>
          </a:xfrm>
          <a:prstGeom prst="rect">
            <a:avLst/>
          </a:prstGeom>
          <a:noFill/>
          <a:ln/>
        </p:spPr>
        <p:txBody>
          <a:bodyPr wrap="square" lIns="0" tIns="0" rIns="0" bIns="0" rtlCol="0" anchor="t"/>
          <a:lstStyle/>
          <a:p>
            <a:pPr marL="0" indent="0">
              <a:buNone/>
            </a:pPr>
            <a:r>
              <a:rPr lang="en-US" sz="1300" dirty="0">
                <a:solidFill>
                  <a:srgbClr val="5F6B7A"/>
                </a:solidFill>
                <a:latin typeface="Calibri" pitchFamily="34" charset="0"/>
                <a:ea typeface="Calibri" pitchFamily="34" charset="-122"/>
                <a:cs typeface="Calibri" pitchFamily="34" charset="-120"/>
              </a:rPr>
              <a:t>Cor do vértice = chuva acumulada (mais escuro, mais chuva). Número na aresta = distância em km. O extremo sul (Marsilac, Parelheiros) se liga ao resto por arestas longas.</a:t>
            </a:r>
            <a:endParaRPr lang="en-US" sz="1300" dirty="0"/>
          </a:p>
        </p:txBody>
      </p:sp>
      <p:sp>
        <p:nvSpPr>
          <p:cNvPr id="18" name="Text 15"/>
          <p:cNvSpPr txBox="1"/>
          <p:nvPr/>
        </p:nvSpPr>
        <p:spPr>
          <a:xfrm>
            <a:off x="10728655" y="6400800"/>
            <a:ext cx="914400" cy="228600"/>
          </a:xfrm>
          <a:prstGeom prst="rect">
            <a:avLst/>
          </a:prstGeom>
          <a:noFill/>
          <a:ln/>
        </p:spPr>
        <p:txBody>
          <a:bodyPr wrap="square" lIns="0" tIns="0" rIns="0" bIns="0" rtlCol="0" anchor="t"/>
          <a:lstStyle/>
          <a:p>
            <a:pPr marL="0" indent="0" algn="r">
              <a:buNone/>
            </a:pPr>
            <a:r>
              <a:rPr lang="en-US" sz="1000" dirty="0">
                <a:solidFill>
                  <a:srgbClr val="5F6B7A"/>
                </a:solidFill>
                <a:latin typeface="Calibri" pitchFamily="34" charset="0"/>
                <a:ea typeface="Calibri" pitchFamily="34" charset="-122"/>
                <a:cs typeface="Calibri" pitchFamily="34" charset="-120"/>
              </a:rPr>
              <a:t>6</a:t>
            </a:r>
            <a:endParaRPr lang="en-US" sz="1000" dirty="0"/>
          </a:p>
        </p:txBody>
      </p:sp>
      <p:pic>
        <p:nvPicPr>
          <p:cNvPr id="19" name="Imagem 18">
            <a:extLst>
              <a:ext uri="{FF2B5EF4-FFF2-40B4-BE49-F238E27FC236}">
                <a16:creationId xmlns:a16="http://schemas.microsoft.com/office/drawing/2014/main" id="{8F8C9AE7-C21D-290F-58F8-6423BA9E8435}"/>
              </a:ext>
            </a:extLst>
          </p:cNvPr>
          <p:cNvPicPr>
            <a:picLocks noChangeAspect="1"/>
          </p:cNvPicPr>
          <p:nvPr/>
        </p:nvPicPr>
        <p:blipFill>
          <a:blip r:embed="rId4"/>
          <a:stretch>
            <a:fillRect/>
          </a:stretch>
        </p:blipFill>
        <p:spPr>
          <a:xfrm>
            <a:off x="624529" y="777404"/>
            <a:ext cx="6136746" cy="544051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marL="0" indent="0">
              <a:buNone/>
            </a:pPr>
            <a:r>
              <a:rPr lang="en-US" sz="1200" b="1" kern="0" spc="200" dirty="0">
                <a:solidFill>
                  <a:srgbClr val="2E78C2"/>
                </a:solidFill>
                <a:latin typeface="Calibri" pitchFamily="34" charset="0"/>
                <a:ea typeface="Calibri" pitchFamily="34" charset="-122"/>
                <a:cs typeface="Calibri" pitchFamily="34" charset="-120"/>
              </a:rPr>
              <a:t>DECISÃO DE PROJETO</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t"/>
          <a:lstStyle/>
          <a:p>
            <a:pPr marL="0" indent="0">
              <a:buNone/>
            </a:pPr>
            <a:r>
              <a:rPr lang="en-US" sz="2800" b="1" dirty="0">
                <a:solidFill>
                  <a:srgbClr val="0F2A44"/>
                </a:solidFill>
                <a:latin typeface="Cambria" pitchFamily="34" charset="0"/>
                <a:ea typeface="Cambria" pitchFamily="34" charset="-122"/>
                <a:cs typeface="Cambria" pitchFamily="34" charset="-120"/>
              </a:rPr>
              <a:t>Por que k vizinhos mais próximos, com k = 4</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t"/>
          <a:lstStyle/>
          <a:p>
            <a:pPr marL="0" indent="0">
              <a:buNone/>
            </a:pPr>
            <a:r>
              <a:rPr lang="en-US" sz="1000" dirty="0">
                <a:solidFill>
                  <a:srgbClr val="5F6B7A"/>
                </a:solidFill>
                <a:latin typeface="Calibri" pitchFamily="34" charset="0"/>
                <a:ea typeface="Calibri" pitchFamily="34" charset="-122"/>
                <a:cs typeface="Calibri" pitchFamily="34" charset="-120"/>
              </a:rPr>
              <a:t>Análise da rede de estações com grafos · Parte 2</a:t>
            </a:r>
            <a:endParaRPr lang="en-US" sz="1000" dirty="0"/>
          </a:p>
        </p:txBody>
      </p:sp>
      <p:sp>
        <p:nvSpPr>
          <p:cNvPr id="5" name="Text 3"/>
          <p:cNvSpPr txBox="1"/>
          <p:nvPr/>
        </p:nvSpPr>
        <p:spPr>
          <a:xfrm>
            <a:off x="10728655" y="6400800"/>
            <a:ext cx="914400" cy="228600"/>
          </a:xfrm>
          <a:prstGeom prst="rect">
            <a:avLst/>
          </a:prstGeom>
          <a:noFill/>
          <a:ln/>
        </p:spPr>
        <p:txBody>
          <a:bodyPr wrap="square" lIns="0" tIns="0" rIns="0" bIns="0" rtlCol="0" anchor="t"/>
          <a:lstStyle/>
          <a:p>
            <a:pPr marL="0" indent="0" algn="r">
              <a:buNone/>
            </a:pPr>
            <a:r>
              <a:rPr lang="en-US" sz="1000" dirty="0">
                <a:solidFill>
                  <a:srgbClr val="5F6B7A"/>
                </a:solidFill>
                <a:latin typeface="Calibri" pitchFamily="34" charset="0"/>
                <a:ea typeface="Calibri" pitchFamily="34" charset="-122"/>
                <a:cs typeface="Calibri" pitchFamily="34" charset="-120"/>
              </a:rPr>
              <a:t>7</a:t>
            </a:r>
            <a:endParaRPr lang="en-US" sz="1000" dirty="0"/>
          </a:p>
        </p:txBody>
      </p:sp>
      <p:sp>
        <p:nvSpPr>
          <p:cNvPr id="6" name="Shape 4"/>
          <p:cNvSpPr/>
          <p:nvPr/>
        </p:nvSpPr>
        <p:spPr>
          <a:xfrm>
            <a:off x="548640" y="1554480"/>
            <a:ext cx="5669280" cy="1280160"/>
          </a:xfrm>
          <a:prstGeom prst="roundRect">
            <a:avLst>
              <a:gd name="adj" fmla="val 5714"/>
            </a:avLst>
          </a:prstGeom>
          <a:solidFill>
            <a:srgbClr val="F3F6FA"/>
          </a:solidFill>
          <a:ln w="12700">
            <a:solidFill>
              <a:srgbClr val="F3F6FA"/>
            </a:solidFill>
            <a:prstDash val="solid"/>
          </a:ln>
        </p:spPr>
        <p:txBody>
          <a:bodyPr/>
          <a:lstStyle/>
          <a:p>
            <a:endParaRPr lang="pt-BR"/>
          </a:p>
        </p:txBody>
      </p:sp>
      <p:sp>
        <p:nvSpPr>
          <p:cNvPr id="7" name="Text 5"/>
          <p:cNvSpPr txBox="1"/>
          <p:nvPr/>
        </p:nvSpPr>
        <p:spPr>
          <a:xfrm>
            <a:off x="868680" y="1755648"/>
            <a:ext cx="3474720" cy="365760"/>
          </a:xfrm>
          <a:prstGeom prst="rect">
            <a:avLst/>
          </a:prstGeom>
          <a:noFill/>
          <a:ln/>
        </p:spPr>
        <p:txBody>
          <a:bodyPr wrap="square" lIns="0" tIns="0" rIns="0" bIns="0" rtlCol="0" anchor="t"/>
          <a:lstStyle/>
          <a:p>
            <a:pPr marL="0" indent="0">
              <a:buNone/>
            </a:pPr>
            <a:r>
              <a:rPr lang="en-US" sz="1900" b="1" dirty="0">
                <a:solidFill>
                  <a:srgbClr val="1F2D3D"/>
                </a:solidFill>
                <a:latin typeface="Calibri" pitchFamily="34" charset="0"/>
                <a:ea typeface="Calibri" pitchFamily="34" charset="-122"/>
                <a:cs typeface="Calibri" pitchFamily="34" charset="-120"/>
              </a:rPr>
              <a:t>Grafo completo</a:t>
            </a:r>
            <a:endParaRPr lang="en-US" sz="1900" dirty="0"/>
          </a:p>
        </p:txBody>
      </p:sp>
      <p:sp>
        <p:nvSpPr>
          <p:cNvPr id="8" name="Text 6"/>
          <p:cNvSpPr txBox="1"/>
          <p:nvPr/>
        </p:nvSpPr>
        <p:spPr>
          <a:xfrm>
            <a:off x="868680" y="2176272"/>
            <a:ext cx="5029200" cy="548640"/>
          </a:xfrm>
          <a:prstGeom prst="rect">
            <a:avLst/>
          </a:prstGeom>
          <a:noFill/>
          <a:ln/>
        </p:spPr>
        <p:txBody>
          <a:bodyPr wrap="square" lIns="0" tIns="0" rIns="0" bIns="0" rtlCol="0" anchor="t"/>
          <a:lstStyle/>
          <a:p>
            <a:pPr marL="0" indent="0">
              <a:buNone/>
            </a:pPr>
            <a:r>
              <a:rPr lang="en-US" sz="1400" dirty="0">
                <a:solidFill>
                  <a:srgbClr val="3E4C59"/>
                </a:solidFill>
                <a:latin typeface="Calibri" pitchFamily="34" charset="0"/>
                <a:ea typeface="Calibri" pitchFamily="34" charset="-122"/>
                <a:cs typeface="Calibri" pitchFamily="34" charset="-120"/>
              </a:rPr>
              <a:t>496 arestas; não diz nada sobre vizinhança.</a:t>
            </a:r>
            <a:endParaRPr lang="en-US" sz="1400" dirty="0"/>
          </a:p>
        </p:txBody>
      </p:sp>
      <p:sp>
        <p:nvSpPr>
          <p:cNvPr id="9" name="Shape 7"/>
          <p:cNvSpPr/>
          <p:nvPr/>
        </p:nvSpPr>
        <p:spPr>
          <a:xfrm>
            <a:off x="4800600" y="1773936"/>
            <a:ext cx="1188720" cy="310896"/>
          </a:xfrm>
          <a:prstGeom prst="roundRect">
            <a:avLst>
              <a:gd name="adj" fmla="val 50000"/>
            </a:avLst>
          </a:prstGeom>
          <a:solidFill>
            <a:srgbClr val="E4E8ED"/>
          </a:solidFill>
          <a:ln w="12700">
            <a:solidFill>
              <a:srgbClr val="E4E8ED"/>
            </a:solidFill>
            <a:prstDash val="solid"/>
          </a:ln>
        </p:spPr>
        <p:txBody>
          <a:bodyPr/>
          <a:lstStyle/>
          <a:p>
            <a:endParaRPr lang="pt-BR"/>
          </a:p>
        </p:txBody>
      </p:sp>
      <p:sp>
        <p:nvSpPr>
          <p:cNvPr id="10" name="Text 8"/>
          <p:cNvSpPr txBox="1"/>
          <p:nvPr/>
        </p:nvSpPr>
        <p:spPr>
          <a:xfrm>
            <a:off x="4800600" y="1773936"/>
            <a:ext cx="1188720" cy="310896"/>
          </a:xfrm>
          <a:prstGeom prst="rect">
            <a:avLst/>
          </a:prstGeom>
          <a:noFill/>
          <a:ln/>
        </p:spPr>
        <p:txBody>
          <a:bodyPr wrap="square" lIns="0" tIns="0" rIns="0" bIns="0" rtlCol="0" anchor="ctr"/>
          <a:lstStyle/>
          <a:p>
            <a:pPr marL="0" indent="0" algn="ctr">
              <a:buNone/>
            </a:pPr>
            <a:r>
              <a:rPr lang="en-US" sz="1100" b="1" dirty="0">
                <a:solidFill>
                  <a:srgbClr val="3E4C59"/>
                </a:solidFill>
                <a:latin typeface="Calibri" pitchFamily="34" charset="0"/>
                <a:ea typeface="Calibri" pitchFamily="34" charset="-122"/>
                <a:cs typeface="Calibri" pitchFamily="34" charset="-120"/>
              </a:rPr>
              <a:t>Descartado</a:t>
            </a:r>
            <a:endParaRPr lang="en-US" sz="1100" dirty="0"/>
          </a:p>
        </p:txBody>
      </p:sp>
      <p:sp>
        <p:nvSpPr>
          <p:cNvPr id="11" name="Shape 9"/>
          <p:cNvSpPr/>
          <p:nvPr/>
        </p:nvSpPr>
        <p:spPr>
          <a:xfrm>
            <a:off x="548640" y="3017520"/>
            <a:ext cx="5669280" cy="1280160"/>
          </a:xfrm>
          <a:prstGeom prst="roundRect">
            <a:avLst>
              <a:gd name="adj" fmla="val 5714"/>
            </a:avLst>
          </a:prstGeom>
          <a:solidFill>
            <a:srgbClr val="F3F6FA"/>
          </a:solidFill>
          <a:ln w="12700">
            <a:solidFill>
              <a:srgbClr val="F3F6FA"/>
            </a:solidFill>
            <a:prstDash val="solid"/>
          </a:ln>
        </p:spPr>
        <p:txBody>
          <a:bodyPr/>
          <a:lstStyle/>
          <a:p>
            <a:endParaRPr lang="pt-BR"/>
          </a:p>
        </p:txBody>
      </p:sp>
      <p:sp>
        <p:nvSpPr>
          <p:cNvPr id="12" name="Text 10"/>
          <p:cNvSpPr txBox="1"/>
          <p:nvPr/>
        </p:nvSpPr>
        <p:spPr>
          <a:xfrm>
            <a:off x="868680" y="3218688"/>
            <a:ext cx="3474720" cy="365760"/>
          </a:xfrm>
          <a:prstGeom prst="rect">
            <a:avLst/>
          </a:prstGeom>
          <a:noFill/>
          <a:ln/>
        </p:spPr>
        <p:txBody>
          <a:bodyPr wrap="square" lIns="0" tIns="0" rIns="0" bIns="0" rtlCol="0" anchor="t"/>
          <a:lstStyle/>
          <a:p>
            <a:pPr marL="0" indent="0">
              <a:buNone/>
            </a:pPr>
            <a:r>
              <a:rPr lang="en-US" sz="1900" b="1" dirty="0">
                <a:solidFill>
                  <a:srgbClr val="1F2D3D"/>
                </a:solidFill>
                <a:latin typeface="Calibri" pitchFamily="34" charset="0"/>
                <a:ea typeface="Calibri" pitchFamily="34" charset="-122"/>
                <a:cs typeface="Calibri" pitchFamily="34" charset="-120"/>
              </a:rPr>
              <a:t>Raio fixo</a:t>
            </a:r>
            <a:endParaRPr lang="en-US" sz="1900" dirty="0"/>
          </a:p>
        </p:txBody>
      </p:sp>
      <p:sp>
        <p:nvSpPr>
          <p:cNvPr id="13" name="Text 11"/>
          <p:cNvSpPr txBox="1"/>
          <p:nvPr/>
        </p:nvSpPr>
        <p:spPr>
          <a:xfrm>
            <a:off x="868680" y="3639312"/>
            <a:ext cx="5029200" cy="548640"/>
          </a:xfrm>
          <a:prstGeom prst="rect">
            <a:avLst/>
          </a:prstGeom>
          <a:noFill/>
          <a:ln/>
        </p:spPr>
        <p:txBody>
          <a:bodyPr wrap="square" lIns="0" tIns="0" rIns="0" bIns="0" rtlCol="0" anchor="t"/>
          <a:lstStyle/>
          <a:p>
            <a:pPr marL="0" indent="0">
              <a:buNone/>
            </a:pPr>
            <a:r>
              <a:rPr lang="en-US" sz="1400" dirty="0">
                <a:solidFill>
                  <a:srgbClr val="3E4C59"/>
                </a:solidFill>
                <a:latin typeface="Calibri" pitchFamily="34" charset="0"/>
                <a:ea typeface="Calibri" pitchFamily="34" charset="-122"/>
                <a:cs typeface="Calibri" pitchFamily="34" charset="-120"/>
              </a:rPr>
              <a:t>Isola o extremo sul ou deixa o centro quase completo.</a:t>
            </a:r>
            <a:endParaRPr lang="en-US" sz="1400" dirty="0"/>
          </a:p>
        </p:txBody>
      </p:sp>
      <p:sp>
        <p:nvSpPr>
          <p:cNvPr id="14" name="Shape 12"/>
          <p:cNvSpPr/>
          <p:nvPr/>
        </p:nvSpPr>
        <p:spPr>
          <a:xfrm>
            <a:off x="4800600" y="3236976"/>
            <a:ext cx="1188720" cy="310896"/>
          </a:xfrm>
          <a:prstGeom prst="roundRect">
            <a:avLst>
              <a:gd name="adj" fmla="val 50000"/>
            </a:avLst>
          </a:prstGeom>
          <a:solidFill>
            <a:srgbClr val="E4E8ED"/>
          </a:solidFill>
          <a:ln w="12700">
            <a:solidFill>
              <a:srgbClr val="E4E8ED"/>
            </a:solidFill>
            <a:prstDash val="solid"/>
          </a:ln>
        </p:spPr>
        <p:txBody>
          <a:bodyPr/>
          <a:lstStyle/>
          <a:p>
            <a:endParaRPr lang="pt-BR"/>
          </a:p>
        </p:txBody>
      </p:sp>
      <p:sp>
        <p:nvSpPr>
          <p:cNvPr id="15" name="Text 13"/>
          <p:cNvSpPr txBox="1"/>
          <p:nvPr/>
        </p:nvSpPr>
        <p:spPr>
          <a:xfrm>
            <a:off x="4800600" y="3236976"/>
            <a:ext cx="1188720" cy="310896"/>
          </a:xfrm>
          <a:prstGeom prst="rect">
            <a:avLst/>
          </a:prstGeom>
          <a:noFill/>
          <a:ln/>
        </p:spPr>
        <p:txBody>
          <a:bodyPr wrap="square" lIns="0" tIns="0" rIns="0" bIns="0" rtlCol="0" anchor="ctr"/>
          <a:lstStyle/>
          <a:p>
            <a:pPr marL="0" indent="0" algn="ctr">
              <a:buNone/>
            </a:pPr>
            <a:r>
              <a:rPr lang="en-US" sz="1100" b="1" dirty="0">
                <a:solidFill>
                  <a:srgbClr val="3E4C59"/>
                </a:solidFill>
                <a:latin typeface="Calibri" pitchFamily="34" charset="0"/>
                <a:ea typeface="Calibri" pitchFamily="34" charset="-122"/>
                <a:cs typeface="Calibri" pitchFamily="34" charset="-120"/>
              </a:rPr>
              <a:t>Descartado</a:t>
            </a:r>
            <a:endParaRPr lang="en-US" sz="1100" dirty="0"/>
          </a:p>
        </p:txBody>
      </p:sp>
      <p:sp>
        <p:nvSpPr>
          <p:cNvPr id="16" name="Shape 14"/>
          <p:cNvSpPr/>
          <p:nvPr/>
        </p:nvSpPr>
        <p:spPr>
          <a:xfrm>
            <a:off x="548640" y="4480560"/>
            <a:ext cx="5669280" cy="1280160"/>
          </a:xfrm>
          <a:prstGeom prst="roundRect">
            <a:avLst>
              <a:gd name="adj" fmla="val 5714"/>
            </a:avLst>
          </a:prstGeom>
          <a:solidFill>
            <a:srgbClr val="E3EEF9"/>
          </a:solidFill>
          <a:ln w="12700">
            <a:solidFill>
              <a:srgbClr val="E3EEF9"/>
            </a:solidFill>
            <a:prstDash val="solid"/>
          </a:ln>
        </p:spPr>
        <p:txBody>
          <a:bodyPr/>
          <a:lstStyle/>
          <a:p>
            <a:endParaRPr lang="pt-BR"/>
          </a:p>
        </p:txBody>
      </p:sp>
      <p:sp>
        <p:nvSpPr>
          <p:cNvPr id="17" name="Text 15"/>
          <p:cNvSpPr txBox="1"/>
          <p:nvPr/>
        </p:nvSpPr>
        <p:spPr>
          <a:xfrm>
            <a:off x="868680" y="4681728"/>
            <a:ext cx="3474720" cy="365760"/>
          </a:xfrm>
          <a:prstGeom prst="rect">
            <a:avLst/>
          </a:prstGeom>
          <a:noFill/>
          <a:ln/>
        </p:spPr>
        <p:txBody>
          <a:bodyPr wrap="square" lIns="0" tIns="0" rIns="0" bIns="0" rtlCol="0" anchor="t"/>
          <a:lstStyle/>
          <a:p>
            <a:pPr marL="0" indent="0">
              <a:buNone/>
            </a:pPr>
            <a:r>
              <a:rPr lang="en-US" sz="1900" b="1" dirty="0">
                <a:solidFill>
                  <a:srgbClr val="1F2D3D"/>
                </a:solidFill>
                <a:latin typeface="Calibri" pitchFamily="34" charset="0"/>
                <a:ea typeface="Calibri" pitchFamily="34" charset="-122"/>
                <a:cs typeface="Calibri" pitchFamily="34" charset="-120"/>
              </a:rPr>
              <a:t>k-NN, k = 4</a:t>
            </a:r>
            <a:endParaRPr lang="en-US" sz="1900" dirty="0"/>
          </a:p>
        </p:txBody>
      </p:sp>
      <p:sp>
        <p:nvSpPr>
          <p:cNvPr id="18" name="Text 16"/>
          <p:cNvSpPr txBox="1"/>
          <p:nvPr/>
        </p:nvSpPr>
        <p:spPr>
          <a:xfrm>
            <a:off x="868680" y="5102352"/>
            <a:ext cx="5029200" cy="548640"/>
          </a:xfrm>
          <a:prstGeom prst="rect">
            <a:avLst/>
          </a:prstGeom>
          <a:noFill/>
          <a:ln/>
        </p:spPr>
        <p:txBody>
          <a:bodyPr wrap="square" lIns="0" tIns="0" rIns="0" bIns="0" rtlCol="0" anchor="t"/>
          <a:lstStyle/>
          <a:p>
            <a:pPr marL="0" indent="0">
              <a:buNone/>
            </a:pPr>
            <a:r>
              <a:rPr lang="en-US" sz="1400" dirty="0">
                <a:solidFill>
                  <a:srgbClr val="3E4C59"/>
                </a:solidFill>
                <a:latin typeface="Calibri" pitchFamily="34" charset="0"/>
                <a:ea typeface="Calibri" pitchFamily="34" charset="-122"/>
                <a:cs typeface="Calibri" pitchFamily="34" charset="-120"/>
              </a:rPr>
              <a:t>Grau mínimo 4, nenhum vértice isolado, grafo esparso.</a:t>
            </a:r>
            <a:endParaRPr lang="en-US" sz="1400" dirty="0"/>
          </a:p>
        </p:txBody>
      </p:sp>
      <p:sp>
        <p:nvSpPr>
          <p:cNvPr id="19" name="Shape 17"/>
          <p:cNvSpPr/>
          <p:nvPr/>
        </p:nvSpPr>
        <p:spPr>
          <a:xfrm>
            <a:off x="4800600" y="4700016"/>
            <a:ext cx="1188720" cy="310896"/>
          </a:xfrm>
          <a:prstGeom prst="roundRect">
            <a:avLst>
              <a:gd name="adj" fmla="val 50000"/>
            </a:avLst>
          </a:prstGeom>
          <a:solidFill>
            <a:srgbClr val="2E78C2"/>
          </a:solidFill>
          <a:ln w="12700">
            <a:solidFill>
              <a:srgbClr val="2E78C2"/>
            </a:solidFill>
            <a:prstDash val="solid"/>
          </a:ln>
        </p:spPr>
        <p:txBody>
          <a:bodyPr/>
          <a:lstStyle/>
          <a:p>
            <a:endParaRPr lang="pt-BR"/>
          </a:p>
        </p:txBody>
      </p:sp>
      <p:sp>
        <p:nvSpPr>
          <p:cNvPr id="20" name="Text 18"/>
          <p:cNvSpPr txBox="1"/>
          <p:nvPr/>
        </p:nvSpPr>
        <p:spPr>
          <a:xfrm>
            <a:off x="4800600" y="4700016"/>
            <a:ext cx="118872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Escolhido</a:t>
            </a:r>
            <a:endParaRPr lang="en-US" sz="1100" dirty="0"/>
          </a:p>
        </p:txBody>
      </p:sp>
      <p:sp>
        <p:nvSpPr>
          <p:cNvPr id="21" name="Text 19"/>
          <p:cNvSpPr txBox="1"/>
          <p:nvPr/>
        </p:nvSpPr>
        <p:spPr>
          <a:xfrm>
            <a:off x="6629400" y="1554480"/>
            <a:ext cx="5013655" cy="320040"/>
          </a:xfrm>
          <a:prstGeom prst="rect">
            <a:avLst/>
          </a:prstGeom>
          <a:noFill/>
          <a:ln/>
        </p:spPr>
        <p:txBody>
          <a:bodyPr wrap="square" lIns="0" tIns="0" rIns="0" bIns="0" rtlCol="0" anchor="t"/>
          <a:lstStyle/>
          <a:p>
            <a:pPr marL="0" indent="0">
              <a:buNone/>
            </a:pPr>
            <a:r>
              <a:rPr lang="en-US" sz="1400" b="1" dirty="0">
                <a:solidFill>
                  <a:srgbClr val="1F2D3D"/>
                </a:solidFill>
                <a:latin typeface="Calibri" pitchFamily="34" charset="0"/>
                <a:ea typeface="Calibri" pitchFamily="34" charset="-122"/>
                <a:cs typeface="Calibri" pitchFamily="34" charset="-120"/>
              </a:rPr>
              <a:t>Sensibilidade a k (rodando gera_grafo.py)</a:t>
            </a:r>
            <a:endParaRPr lang="en-US" sz="14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629400" y="1965960"/>
          <a:ext cx="5013655" cy="2743200"/>
        </p:xfrm>
        <a:graphic>
          <a:graphicData uri="http://schemas.openxmlformats.org/drawingml/2006/table">
            <a:tbl>
              <a:tblPr/>
              <a:tblGrid>
                <a:gridCol w="82296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264615">
                  <a:extLst>
                    <a:ext uri="{9D8B030D-6E8A-4147-A177-3AD203B41FA5}">
                      <a16:colId xmlns:a16="http://schemas.microsoft.com/office/drawing/2014/main" val="20003"/>
                    </a:ext>
                  </a:extLst>
                </a:gridCol>
              </a:tblGrid>
              <a:tr h="457200">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k</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0F2A44"/>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arestas</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0F2A44"/>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componentes</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0F2A44"/>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grau</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0F2A44"/>
                    </a:solidFill>
                  </a:tcPr>
                </a:tc>
                <a:extLst>
                  <a:ext uri="{0D108BD9-81ED-4DB2-BD59-A6C34878D82A}">
                    <a16:rowId xmlns:a16="http://schemas.microsoft.com/office/drawing/2014/main" val="10000"/>
                  </a:ext>
                </a:extLst>
              </a:tr>
              <a:tr h="457200">
                <a:tc>
                  <a:txBody>
                    <a:bodyPr/>
                    <a:lstStyle/>
                    <a:p>
                      <a:pPr marL="0" indent="0" algn="ctr">
                        <a:buNone/>
                      </a:pPr>
                      <a:r>
                        <a:rPr lang="en-US" sz="1500" dirty="0">
                          <a:solidFill>
                            <a:srgbClr val="3E4C59"/>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ctr">
                        <a:buNone/>
                      </a:pPr>
                      <a:r>
                        <a:rPr lang="en-US" sz="1500" dirty="0">
                          <a:solidFill>
                            <a:srgbClr val="3E4C59"/>
                          </a:solidFill>
                          <a:latin typeface="Calibri" pitchFamily="34" charset="0"/>
                          <a:ea typeface="Calibri" pitchFamily="34" charset="-122"/>
                          <a:cs typeface="Calibri" pitchFamily="34" charset="-120"/>
                        </a:rPr>
                        <a:t>45</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ctr">
                        <a:buNone/>
                      </a:pPr>
                      <a:r>
                        <a:rPr lang="en-US" sz="1500" dirty="0">
                          <a:solidFill>
                            <a:srgbClr val="3E4C59"/>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ctr">
                        <a:buNone/>
                      </a:pPr>
                      <a:r>
                        <a:rPr lang="en-US" sz="1500" dirty="0">
                          <a:solidFill>
                            <a:srgbClr val="3E4C59"/>
                          </a:solidFill>
                          <a:latin typeface="Calibri" pitchFamily="34" charset="0"/>
                          <a:ea typeface="Calibri" pitchFamily="34" charset="-122"/>
                          <a:cs typeface="Calibri" pitchFamily="34" charset="-120"/>
                        </a:rPr>
                        <a:t>2–5</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lgn="ctr">
                        <a:buNone/>
                      </a:pPr>
                      <a:r>
                        <a:rPr lang="en-US" sz="1500" dirty="0">
                          <a:solidFill>
                            <a:srgbClr val="3E4C59"/>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ctr">
                        <a:buNone/>
                      </a:pPr>
                      <a:r>
                        <a:rPr lang="en-US" sz="1500" dirty="0">
                          <a:solidFill>
                            <a:srgbClr val="3E4C59"/>
                          </a:solidFill>
                          <a:latin typeface="Calibri" pitchFamily="34" charset="0"/>
                          <a:ea typeface="Calibri" pitchFamily="34" charset="-122"/>
                          <a:cs typeface="Calibri" pitchFamily="34" charset="-120"/>
                        </a:rPr>
                        <a:t>63</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ctr">
                        <a:buNone/>
                      </a:pPr>
                      <a:r>
                        <a:rPr lang="en-US" sz="1500" dirty="0">
                          <a:solidFill>
                            <a:srgbClr val="3E4C59"/>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ctr">
                        <a:buNone/>
                      </a:pPr>
                      <a:r>
                        <a:rPr lang="en-US" sz="1500" dirty="0">
                          <a:solidFill>
                            <a:srgbClr val="3E4C59"/>
                          </a:solidFill>
                          <a:latin typeface="Calibri" pitchFamily="34" charset="0"/>
                          <a:ea typeface="Calibri" pitchFamily="34" charset="-122"/>
                          <a:cs typeface="Calibri" pitchFamily="34" charset="-120"/>
                        </a:rPr>
                        <a:t>3–6</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lgn="ctr">
                        <a:buNone/>
                      </a:pPr>
                      <a:r>
                        <a:rPr lang="en-US" sz="1500" b="1" dirty="0">
                          <a:solidFill>
                            <a:srgbClr val="0F2A44"/>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3EEF9"/>
                    </a:solidFill>
                  </a:tcPr>
                </a:tc>
                <a:tc>
                  <a:txBody>
                    <a:bodyPr/>
                    <a:lstStyle/>
                    <a:p>
                      <a:pPr marL="0" indent="0" algn="ctr">
                        <a:buNone/>
                      </a:pPr>
                      <a:r>
                        <a:rPr lang="en-US" sz="1500" b="1" dirty="0">
                          <a:solidFill>
                            <a:srgbClr val="0F2A44"/>
                          </a:solidFill>
                          <a:latin typeface="Calibri" pitchFamily="34" charset="0"/>
                          <a:ea typeface="Calibri" pitchFamily="34" charset="-122"/>
                          <a:cs typeface="Calibri" pitchFamily="34" charset="-120"/>
                        </a:rPr>
                        <a:t>84</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3EEF9"/>
                    </a:solidFill>
                  </a:tcPr>
                </a:tc>
                <a:tc>
                  <a:txBody>
                    <a:bodyPr/>
                    <a:lstStyle/>
                    <a:p>
                      <a:pPr marL="0" indent="0" algn="ctr">
                        <a:buNone/>
                      </a:pPr>
                      <a:r>
                        <a:rPr lang="en-US" sz="1500" b="1" dirty="0">
                          <a:solidFill>
                            <a:srgbClr val="0F2A44"/>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3EEF9"/>
                    </a:solidFill>
                  </a:tcPr>
                </a:tc>
                <a:tc>
                  <a:txBody>
                    <a:bodyPr/>
                    <a:lstStyle/>
                    <a:p>
                      <a:pPr marL="0" indent="0" algn="ctr">
                        <a:buNone/>
                      </a:pPr>
                      <a:r>
                        <a:rPr lang="en-US" sz="1500" b="1" dirty="0">
                          <a:solidFill>
                            <a:srgbClr val="0F2A44"/>
                          </a:solidFill>
                          <a:latin typeface="Calibri" pitchFamily="34" charset="0"/>
                          <a:ea typeface="Calibri" pitchFamily="34" charset="-122"/>
                          <a:cs typeface="Calibri" pitchFamily="34" charset="-120"/>
                        </a:rPr>
                        <a:t>4–7</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3EEF9"/>
                    </a:solidFill>
                  </a:tcPr>
                </a:tc>
                <a:extLst>
                  <a:ext uri="{0D108BD9-81ED-4DB2-BD59-A6C34878D82A}">
                    <a16:rowId xmlns:a16="http://schemas.microsoft.com/office/drawing/2014/main" val="10003"/>
                  </a:ext>
                </a:extLst>
              </a:tr>
              <a:tr h="457200">
                <a:tc>
                  <a:txBody>
                    <a:bodyPr/>
                    <a:lstStyle/>
                    <a:p>
                      <a:pPr marL="0" indent="0" algn="ctr">
                        <a:buNone/>
                      </a:pPr>
                      <a:r>
                        <a:rPr lang="en-US" sz="1500" dirty="0">
                          <a:solidFill>
                            <a:srgbClr val="3E4C59"/>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ctr">
                        <a:buNone/>
                      </a:pPr>
                      <a:r>
                        <a:rPr lang="en-US" sz="1500" dirty="0">
                          <a:solidFill>
                            <a:srgbClr val="3E4C59"/>
                          </a:solidFill>
                          <a:latin typeface="Calibri" pitchFamily="34" charset="0"/>
                          <a:ea typeface="Calibri" pitchFamily="34" charset="-122"/>
                          <a:cs typeface="Calibri" pitchFamily="34" charset="-120"/>
                        </a:rPr>
                        <a:t>106</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ctr">
                        <a:buNone/>
                      </a:pPr>
                      <a:r>
                        <a:rPr lang="en-US" sz="1500" dirty="0">
                          <a:solidFill>
                            <a:srgbClr val="3E4C59"/>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ctr">
                        <a:buNone/>
                      </a:pPr>
                      <a:r>
                        <a:rPr lang="en-US" sz="1500" dirty="0">
                          <a:solidFill>
                            <a:srgbClr val="3E4C59"/>
                          </a:solidFill>
                          <a:latin typeface="Calibri" pitchFamily="34" charset="0"/>
                          <a:ea typeface="Calibri" pitchFamily="34" charset="-122"/>
                          <a:cs typeface="Calibri" pitchFamily="34" charset="-120"/>
                        </a:rPr>
                        <a:t>5–9</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lgn="ctr">
                        <a:buNone/>
                      </a:pPr>
                      <a:r>
                        <a:rPr lang="en-US" sz="1500" dirty="0">
                          <a:solidFill>
                            <a:srgbClr val="3E4C59"/>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ctr">
                        <a:buNone/>
                      </a:pPr>
                      <a:r>
                        <a:rPr lang="en-US" sz="1500" dirty="0">
                          <a:solidFill>
                            <a:srgbClr val="3E4C59"/>
                          </a:solidFill>
                          <a:latin typeface="Calibri" pitchFamily="34" charset="0"/>
                          <a:ea typeface="Calibri" pitchFamily="34" charset="-122"/>
                          <a:cs typeface="Calibri" pitchFamily="34" charset="-120"/>
                        </a:rPr>
                        <a:t>129</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ctr">
                        <a:buNone/>
                      </a:pPr>
                      <a:r>
                        <a:rPr lang="en-US" sz="1500" dirty="0">
                          <a:solidFill>
                            <a:srgbClr val="3E4C59"/>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ctr">
                        <a:buNone/>
                      </a:pPr>
                      <a:r>
                        <a:rPr lang="en-US" sz="1500" dirty="0">
                          <a:solidFill>
                            <a:srgbClr val="3E4C59"/>
                          </a:solidFill>
                          <a:latin typeface="Calibri" pitchFamily="34" charset="0"/>
                          <a:ea typeface="Calibri" pitchFamily="34" charset="-122"/>
                          <a:cs typeface="Calibri" pitchFamily="34" charset="-120"/>
                        </a:rPr>
                        <a:t>6–12</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3" name="Text 20"/>
          <p:cNvSpPr txBox="1"/>
          <p:nvPr/>
        </p:nvSpPr>
        <p:spPr>
          <a:xfrm>
            <a:off x="6629400" y="4892040"/>
            <a:ext cx="5013655" cy="822960"/>
          </a:xfrm>
          <a:prstGeom prst="rect">
            <a:avLst/>
          </a:prstGeom>
          <a:noFill/>
          <a:ln/>
        </p:spPr>
        <p:txBody>
          <a:bodyPr wrap="square" lIns="0" tIns="0" rIns="0" bIns="0" rtlCol="0" anchor="t"/>
          <a:lstStyle/>
          <a:p>
            <a:pPr marL="0" indent="0">
              <a:buNone/>
            </a:pPr>
            <a:r>
              <a:rPr lang="en-US" sz="1300" dirty="0">
                <a:solidFill>
                  <a:srgbClr val="5F6B7A"/>
                </a:solidFill>
                <a:latin typeface="Calibri" pitchFamily="34" charset="0"/>
                <a:ea typeface="Calibri" pitchFamily="34" charset="-122"/>
                <a:cs typeface="Calibri" pitchFamily="34" charset="-120"/>
              </a:rPr>
              <a:t>Com k = 2 o grafo ainda se parte em 2 componentes; k = 3 é o primeiro conexo. k = 4 dá folga de conectividade sem perder a esparsidade.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marL="0" indent="0">
              <a:buNone/>
            </a:pPr>
            <a:r>
              <a:rPr lang="en-US" sz="1200" b="1" kern="0" spc="200" dirty="0">
                <a:solidFill>
                  <a:srgbClr val="2E78C2"/>
                </a:solidFill>
                <a:latin typeface="Calibri" pitchFamily="34" charset="0"/>
                <a:ea typeface="Calibri" pitchFamily="34" charset="-122"/>
                <a:cs typeface="Calibri" pitchFamily="34" charset="-120"/>
              </a:rPr>
              <a:t>ORGANIZAÇÃO DO CÓDIGO</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t"/>
          <a:lstStyle/>
          <a:p>
            <a:pPr marL="0" indent="0">
              <a:buNone/>
            </a:pPr>
            <a:r>
              <a:rPr lang="en-US" sz="2800" b="1" dirty="0">
                <a:solidFill>
                  <a:srgbClr val="0F2A44"/>
                </a:solidFill>
                <a:latin typeface="Cambria" pitchFamily="34" charset="0"/>
                <a:ea typeface="Cambria" pitchFamily="34" charset="-122"/>
                <a:cs typeface="Cambria" pitchFamily="34" charset="-120"/>
              </a:rPr>
              <a:t>Scripts geram o grafo.txt; a classe Grafo faz o resto</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t"/>
          <a:lstStyle/>
          <a:p>
            <a:pPr marL="0" indent="0">
              <a:buNone/>
            </a:pPr>
            <a:r>
              <a:rPr lang="en-US" sz="1000" dirty="0">
                <a:solidFill>
                  <a:srgbClr val="5F6B7A"/>
                </a:solidFill>
                <a:latin typeface="Calibri" pitchFamily="34" charset="0"/>
                <a:ea typeface="Calibri" pitchFamily="34" charset="-122"/>
                <a:cs typeface="Calibri" pitchFamily="34" charset="-120"/>
              </a:rPr>
              <a:t>Análise da rede de estações com grafos · Parte 2</a:t>
            </a:r>
            <a:endParaRPr lang="en-US" sz="1000" dirty="0"/>
          </a:p>
        </p:txBody>
      </p:sp>
      <p:sp>
        <p:nvSpPr>
          <p:cNvPr id="5" name="Text 3"/>
          <p:cNvSpPr txBox="1"/>
          <p:nvPr/>
        </p:nvSpPr>
        <p:spPr>
          <a:xfrm>
            <a:off x="10728655" y="6400800"/>
            <a:ext cx="914400" cy="228600"/>
          </a:xfrm>
          <a:prstGeom prst="rect">
            <a:avLst/>
          </a:prstGeom>
          <a:noFill/>
          <a:ln/>
        </p:spPr>
        <p:txBody>
          <a:bodyPr wrap="square" lIns="0" tIns="0" rIns="0" bIns="0" rtlCol="0" anchor="t"/>
          <a:lstStyle/>
          <a:p>
            <a:pPr marL="0" indent="0" algn="r">
              <a:buNone/>
            </a:pPr>
            <a:r>
              <a:rPr lang="en-US" sz="1000" dirty="0">
                <a:solidFill>
                  <a:srgbClr val="5F6B7A"/>
                </a:solidFill>
                <a:latin typeface="Calibri" pitchFamily="34" charset="0"/>
                <a:ea typeface="Calibri" pitchFamily="34" charset="-122"/>
                <a:cs typeface="Calibri" pitchFamily="34" charset="-120"/>
              </a:rPr>
              <a:t>8</a:t>
            </a:r>
            <a:endParaRPr lang="en-US" sz="1000" dirty="0"/>
          </a:p>
        </p:txBody>
      </p:sp>
      <p:sp>
        <p:nvSpPr>
          <p:cNvPr id="6" name="Shape 4"/>
          <p:cNvSpPr/>
          <p:nvPr/>
        </p:nvSpPr>
        <p:spPr>
          <a:xfrm>
            <a:off x="548640" y="1600200"/>
            <a:ext cx="2542032" cy="1005840"/>
          </a:xfrm>
          <a:prstGeom prst="roundRect">
            <a:avLst>
              <a:gd name="adj" fmla="val 7273"/>
            </a:avLst>
          </a:prstGeom>
          <a:solidFill>
            <a:srgbClr val="F3F6FA"/>
          </a:solidFill>
          <a:ln w="12700">
            <a:solidFill>
              <a:srgbClr val="D5DEE8"/>
            </a:solidFill>
            <a:prstDash val="solid"/>
          </a:ln>
        </p:spPr>
        <p:txBody>
          <a:bodyPr/>
          <a:lstStyle/>
          <a:p>
            <a:endParaRPr lang="pt-BR"/>
          </a:p>
        </p:txBody>
      </p:sp>
      <p:sp>
        <p:nvSpPr>
          <p:cNvPr id="7" name="Text 5"/>
          <p:cNvSpPr txBox="1"/>
          <p:nvPr/>
        </p:nvSpPr>
        <p:spPr>
          <a:xfrm>
            <a:off x="548640" y="1783080"/>
            <a:ext cx="2542032" cy="365760"/>
          </a:xfrm>
          <a:prstGeom prst="rect">
            <a:avLst/>
          </a:prstGeom>
          <a:noFill/>
          <a:ln/>
        </p:spPr>
        <p:txBody>
          <a:bodyPr wrap="square" lIns="0" tIns="0" rIns="0" bIns="0" rtlCol="0" anchor="t"/>
          <a:lstStyle/>
          <a:p>
            <a:pPr marL="0" indent="0" algn="ctr">
              <a:buNone/>
            </a:pPr>
            <a:r>
              <a:rPr lang="en-US" sz="1400" b="1" dirty="0">
                <a:solidFill>
                  <a:srgbClr val="1F2D3D"/>
                </a:solidFill>
                <a:latin typeface="Courier New" pitchFamily="34" charset="0"/>
                <a:ea typeface="Courier New" pitchFamily="34" charset="-122"/>
                <a:cs typeface="Courier New" pitchFamily="34" charset="-120"/>
              </a:rPr>
              <a:t>prepara_dados.py</a:t>
            </a:r>
            <a:endParaRPr lang="en-US" sz="1400" dirty="0"/>
          </a:p>
        </p:txBody>
      </p:sp>
      <p:sp>
        <p:nvSpPr>
          <p:cNvPr id="8" name="Text 6"/>
          <p:cNvSpPr txBox="1"/>
          <p:nvPr/>
        </p:nvSpPr>
        <p:spPr>
          <a:xfrm>
            <a:off x="548640" y="2167128"/>
            <a:ext cx="2542032" cy="320040"/>
          </a:xfrm>
          <a:prstGeom prst="rect">
            <a:avLst/>
          </a:prstGeom>
          <a:noFill/>
          <a:ln/>
        </p:spPr>
        <p:txBody>
          <a:bodyPr wrap="square" lIns="0" tIns="0" rIns="0" bIns="0" rtlCol="0" anchor="t"/>
          <a:lstStyle/>
          <a:p>
            <a:pPr marL="0" indent="0" algn="ctr">
              <a:buNone/>
            </a:pPr>
            <a:r>
              <a:rPr lang="en-US" sz="1300" dirty="0">
                <a:solidFill>
                  <a:srgbClr val="3E4C59"/>
                </a:solidFill>
                <a:latin typeface="Calibri" pitchFamily="34" charset="0"/>
                <a:ea typeface="Calibri" pitchFamily="34" charset="-122"/>
                <a:cs typeface="Calibri" pitchFamily="34" charset="-120"/>
              </a:rPr>
              <a:t>CSVs do CGE → janela comum</a:t>
            </a:r>
            <a:endParaRPr lang="en-US" sz="1300" dirty="0"/>
          </a:p>
        </p:txBody>
      </p:sp>
      <p:sp>
        <p:nvSpPr>
          <p:cNvPr id="9" name="Shape 7"/>
          <p:cNvSpPr/>
          <p:nvPr/>
        </p:nvSpPr>
        <p:spPr>
          <a:xfrm>
            <a:off x="3136392" y="2103120"/>
            <a:ext cx="217322" cy="914"/>
          </a:xfrm>
          <a:prstGeom prst="line">
            <a:avLst/>
          </a:prstGeom>
          <a:noFill/>
          <a:ln w="19050">
            <a:solidFill>
              <a:srgbClr val="5F6B7A"/>
            </a:solidFill>
            <a:prstDash val="solid"/>
            <a:tailEnd type="triangle"/>
          </a:ln>
        </p:spPr>
        <p:txBody>
          <a:bodyPr/>
          <a:lstStyle/>
          <a:p>
            <a:endParaRPr lang="pt-BR"/>
          </a:p>
        </p:txBody>
      </p:sp>
      <p:sp>
        <p:nvSpPr>
          <p:cNvPr id="10" name="Shape 8"/>
          <p:cNvSpPr/>
          <p:nvPr/>
        </p:nvSpPr>
        <p:spPr>
          <a:xfrm>
            <a:off x="3399434" y="1600200"/>
            <a:ext cx="2542032" cy="1005840"/>
          </a:xfrm>
          <a:prstGeom prst="roundRect">
            <a:avLst>
              <a:gd name="adj" fmla="val 7273"/>
            </a:avLst>
          </a:prstGeom>
          <a:solidFill>
            <a:srgbClr val="F3F6FA"/>
          </a:solidFill>
          <a:ln w="12700">
            <a:solidFill>
              <a:srgbClr val="D5DEE8"/>
            </a:solidFill>
            <a:prstDash val="solid"/>
          </a:ln>
        </p:spPr>
        <p:txBody>
          <a:bodyPr/>
          <a:lstStyle/>
          <a:p>
            <a:endParaRPr lang="pt-BR"/>
          </a:p>
        </p:txBody>
      </p:sp>
      <p:sp>
        <p:nvSpPr>
          <p:cNvPr id="11" name="Text 9"/>
          <p:cNvSpPr txBox="1"/>
          <p:nvPr/>
        </p:nvSpPr>
        <p:spPr>
          <a:xfrm>
            <a:off x="3399434" y="1783080"/>
            <a:ext cx="2542032" cy="365760"/>
          </a:xfrm>
          <a:prstGeom prst="rect">
            <a:avLst/>
          </a:prstGeom>
          <a:noFill/>
          <a:ln/>
        </p:spPr>
        <p:txBody>
          <a:bodyPr wrap="square" lIns="0" tIns="0" rIns="0" bIns="0" rtlCol="0" anchor="t"/>
          <a:lstStyle/>
          <a:p>
            <a:pPr marL="0" indent="0" algn="ctr">
              <a:buNone/>
            </a:pPr>
            <a:r>
              <a:rPr lang="en-US" sz="1400" b="1" dirty="0">
                <a:solidFill>
                  <a:srgbClr val="1F2D3D"/>
                </a:solidFill>
                <a:latin typeface="Courier New" pitchFamily="34" charset="0"/>
                <a:ea typeface="Courier New" pitchFamily="34" charset="-122"/>
                <a:cs typeface="Courier New" pitchFamily="34" charset="-120"/>
              </a:rPr>
              <a:t>estacoes_resumo.csv</a:t>
            </a:r>
            <a:endParaRPr lang="en-US" sz="1400" dirty="0"/>
          </a:p>
        </p:txBody>
      </p:sp>
      <p:sp>
        <p:nvSpPr>
          <p:cNvPr id="12" name="Text 10"/>
          <p:cNvSpPr txBox="1"/>
          <p:nvPr/>
        </p:nvSpPr>
        <p:spPr>
          <a:xfrm>
            <a:off x="3399434" y="2167128"/>
            <a:ext cx="2542032" cy="320040"/>
          </a:xfrm>
          <a:prstGeom prst="rect">
            <a:avLst/>
          </a:prstGeom>
          <a:noFill/>
          <a:ln/>
        </p:spPr>
        <p:txBody>
          <a:bodyPr wrap="square" lIns="0" tIns="0" rIns="0" bIns="0" rtlCol="0" anchor="t"/>
          <a:lstStyle/>
          <a:p>
            <a:pPr marL="0" indent="0" algn="ctr">
              <a:buNone/>
            </a:pPr>
            <a:r>
              <a:rPr lang="en-US" sz="1300" dirty="0">
                <a:solidFill>
                  <a:srgbClr val="3E4C59"/>
                </a:solidFill>
                <a:latin typeface="Calibri" pitchFamily="34" charset="0"/>
                <a:ea typeface="Calibri" pitchFamily="34" charset="-122"/>
                <a:cs typeface="Calibri" pitchFamily="34" charset="-120"/>
              </a:rPr>
              <a:t>32 estações e atributos</a:t>
            </a:r>
            <a:endParaRPr lang="en-US" sz="1300" dirty="0"/>
          </a:p>
        </p:txBody>
      </p:sp>
      <p:sp>
        <p:nvSpPr>
          <p:cNvPr id="13" name="Shape 11"/>
          <p:cNvSpPr/>
          <p:nvPr/>
        </p:nvSpPr>
        <p:spPr>
          <a:xfrm>
            <a:off x="5987186" y="2103120"/>
            <a:ext cx="217322" cy="914"/>
          </a:xfrm>
          <a:prstGeom prst="line">
            <a:avLst/>
          </a:prstGeom>
          <a:noFill/>
          <a:ln w="19050">
            <a:solidFill>
              <a:srgbClr val="5F6B7A"/>
            </a:solidFill>
            <a:prstDash val="solid"/>
            <a:tailEnd type="triangle"/>
          </a:ln>
        </p:spPr>
        <p:txBody>
          <a:bodyPr/>
          <a:lstStyle/>
          <a:p>
            <a:endParaRPr lang="pt-BR"/>
          </a:p>
        </p:txBody>
      </p:sp>
      <p:sp>
        <p:nvSpPr>
          <p:cNvPr id="14" name="Shape 12"/>
          <p:cNvSpPr/>
          <p:nvPr/>
        </p:nvSpPr>
        <p:spPr>
          <a:xfrm>
            <a:off x="6250229" y="1600200"/>
            <a:ext cx="2542032" cy="1005840"/>
          </a:xfrm>
          <a:prstGeom prst="roundRect">
            <a:avLst>
              <a:gd name="adj" fmla="val 7273"/>
            </a:avLst>
          </a:prstGeom>
          <a:solidFill>
            <a:srgbClr val="F3F6FA"/>
          </a:solidFill>
          <a:ln w="12700">
            <a:solidFill>
              <a:srgbClr val="D5DEE8"/>
            </a:solidFill>
            <a:prstDash val="solid"/>
          </a:ln>
        </p:spPr>
        <p:txBody>
          <a:bodyPr/>
          <a:lstStyle/>
          <a:p>
            <a:endParaRPr lang="pt-BR"/>
          </a:p>
        </p:txBody>
      </p:sp>
      <p:sp>
        <p:nvSpPr>
          <p:cNvPr id="15" name="Text 13"/>
          <p:cNvSpPr txBox="1"/>
          <p:nvPr/>
        </p:nvSpPr>
        <p:spPr>
          <a:xfrm>
            <a:off x="6250229" y="1783080"/>
            <a:ext cx="2542032" cy="365760"/>
          </a:xfrm>
          <a:prstGeom prst="rect">
            <a:avLst/>
          </a:prstGeom>
          <a:noFill/>
          <a:ln/>
        </p:spPr>
        <p:txBody>
          <a:bodyPr wrap="square" lIns="0" tIns="0" rIns="0" bIns="0" rtlCol="0" anchor="t"/>
          <a:lstStyle/>
          <a:p>
            <a:pPr marL="0" indent="0" algn="ctr">
              <a:buNone/>
            </a:pPr>
            <a:r>
              <a:rPr lang="en-US" sz="1400" b="1" dirty="0">
                <a:solidFill>
                  <a:srgbClr val="1F2D3D"/>
                </a:solidFill>
                <a:latin typeface="Courier New" pitchFamily="34" charset="0"/>
                <a:ea typeface="Courier New" pitchFamily="34" charset="-122"/>
                <a:cs typeface="Courier New" pitchFamily="34" charset="-120"/>
              </a:rPr>
              <a:t>gera_grafo.py</a:t>
            </a:r>
            <a:endParaRPr lang="en-US" sz="1400" dirty="0"/>
          </a:p>
        </p:txBody>
      </p:sp>
      <p:sp>
        <p:nvSpPr>
          <p:cNvPr id="16" name="Text 14"/>
          <p:cNvSpPr txBox="1"/>
          <p:nvPr/>
        </p:nvSpPr>
        <p:spPr>
          <a:xfrm>
            <a:off x="6250229" y="2167128"/>
            <a:ext cx="2542032" cy="320040"/>
          </a:xfrm>
          <a:prstGeom prst="rect">
            <a:avLst/>
          </a:prstGeom>
          <a:noFill/>
          <a:ln/>
        </p:spPr>
        <p:txBody>
          <a:bodyPr wrap="square" lIns="0" tIns="0" rIns="0" bIns="0" rtlCol="0" anchor="t"/>
          <a:lstStyle/>
          <a:p>
            <a:pPr marL="0" indent="0" algn="ctr">
              <a:buNone/>
            </a:pPr>
            <a:r>
              <a:rPr lang="en-US" sz="1300" dirty="0">
                <a:solidFill>
                  <a:srgbClr val="3E4C59"/>
                </a:solidFill>
                <a:latin typeface="Calibri" pitchFamily="34" charset="0"/>
                <a:ea typeface="Calibri" pitchFamily="34" charset="-122"/>
                <a:cs typeface="Calibri" pitchFamily="34" charset="-120"/>
              </a:rPr>
              <a:t>k-NN (k = 4) + Haversine</a:t>
            </a:r>
            <a:endParaRPr lang="en-US" sz="1300" dirty="0"/>
          </a:p>
        </p:txBody>
      </p:sp>
      <p:sp>
        <p:nvSpPr>
          <p:cNvPr id="17" name="Shape 15"/>
          <p:cNvSpPr/>
          <p:nvPr/>
        </p:nvSpPr>
        <p:spPr>
          <a:xfrm>
            <a:off x="8837981" y="2103120"/>
            <a:ext cx="217322" cy="914"/>
          </a:xfrm>
          <a:prstGeom prst="line">
            <a:avLst/>
          </a:prstGeom>
          <a:noFill/>
          <a:ln w="19050">
            <a:solidFill>
              <a:srgbClr val="5F6B7A"/>
            </a:solidFill>
            <a:prstDash val="solid"/>
            <a:tailEnd type="triangle"/>
          </a:ln>
        </p:spPr>
        <p:txBody>
          <a:bodyPr/>
          <a:lstStyle/>
          <a:p>
            <a:endParaRPr lang="pt-BR"/>
          </a:p>
        </p:txBody>
      </p:sp>
      <p:sp>
        <p:nvSpPr>
          <p:cNvPr id="18" name="Shape 16"/>
          <p:cNvSpPr/>
          <p:nvPr/>
        </p:nvSpPr>
        <p:spPr>
          <a:xfrm>
            <a:off x="9101023" y="1600200"/>
            <a:ext cx="2542032" cy="1005840"/>
          </a:xfrm>
          <a:prstGeom prst="roundRect">
            <a:avLst>
              <a:gd name="adj" fmla="val 7273"/>
            </a:avLst>
          </a:prstGeom>
          <a:solidFill>
            <a:srgbClr val="E3EEF9"/>
          </a:solidFill>
          <a:ln w="12700">
            <a:solidFill>
              <a:srgbClr val="2E78C2"/>
            </a:solidFill>
            <a:prstDash val="solid"/>
          </a:ln>
        </p:spPr>
        <p:txBody>
          <a:bodyPr/>
          <a:lstStyle/>
          <a:p>
            <a:endParaRPr lang="pt-BR"/>
          </a:p>
        </p:txBody>
      </p:sp>
      <p:sp>
        <p:nvSpPr>
          <p:cNvPr id="19" name="Text 17"/>
          <p:cNvSpPr txBox="1"/>
          <p:nvPr/>
        </p:nvSpPr>
        <p:spPr>
          <a:xfrm>
            <a:off x="9101023" y="1783080"/>
            <a:ext cx="2542032" cy="365760"/>
          </a:xfrm>
          <a:prstGeom prst="rect">
            <a:avLst/>
          </a:prstGeom>
          <a:noFill/>
          <a:ln/>
        </p:spPr>
        <p:txBody>
          <a:bodyPr wrap="square" lIns="0" tIns="0" rIns="0" bIns="0" rtlCol="0" anchor="t"/>
          <a:lstStyle/>
          <a:p>
            <a:pPr marL="0" indent="0" algn="ctr">
              <a:buNone/>
            </a:pPr>
            <a:r>
              <a:rPr lang="en-US" sz="1400" b="1" dirty="0">
                <a:solidFill>
                  <a:srgbClr val="1F2D3D"/>
                </a:solidFill>
                <a:latin typeface="Courier New" pitchFamily="34" charset="0"/>
                <a:ea typeface="Courier New" pitchFamily="34" charset="-122"/>
                <a:cs typeface="Courier New" pitchFamily="34" charset="-120"/>
              </a:rPr>
              <a:t>grafo.txt</a:t>
            </a:r>
            <a:endParaRPr lang="en-US" sz="1400" dirty="0"/>
          </a:p>
        </p:txBody>
      </p:sp>
      <p:sp>
        <p:nvSpPr>
          <p:cNvPr id="20" name="Text 18"/>
          <p:cNvSpPr txBox="1"/>
          <p:nvPr/>
        </p:nvSpPr>
        <p:spPr>
          <a:xfrm>
            <a:off x="9101023" y="2167128"/>
            <a:ext cx="2542032" cy="320040"/>
          </a:xfrm>
          <a:prstGeom prst="rect">
            <a:avLst/>
          </a:prstGeom>
          <a:noFill/>
          <a:ln/>
        </p:spPr>
        <p:txBody>
          <a:bodyPr wrap="square" lIns="0" tIns="0" rIns="0" bIns="0" rtlCol="0" anchor="t"/>
          <a:lstStyle/>
          <a:p>
            <a:pPr marL="0" indent="0" algn="ctr">
              <a:buNone/>
            </a:pPr>
            <a:r>
              <a:rPr lang="en-US" sz="1300" dirty="0">
                <a:solidFill>
                  <a:srgbClr val="3E4C59"/>
                </a:solidFill>
                <a:latin typeface="Calibri" pitchFamily="34" charset="0"/>
                <a:ea typeface="Calibri" pitchFamily="34" charset="-122"/>
                <a:cs typeface="Calibri" pitchFamily="34" charset="-120"/>
              </a:rPr>
              <a:t>tipo 3, n = 32, m = 84</a:t>
            </a:r>
            <a:endParaRPr lang="en-US" sz="1300" dirty="0"/>
          </a:p>
        </p:txBody>
      </p:sp>
      <p:sp>
        <p:nvSpPr>
          <p:cNvPr id="21" name="Shape 19"/>
          <p:cNvSpPr/>
          <p:nvPr/>
        </p:nvSpPr>
        <p:spPr>
          <a:xfrm>
            <a:off x="10372039" y="2651760"/>
            <a:ext cx="914" cy="457200"/>
          </a:xfrm>
          <a:prstGeom prst="line">
            <a:avLst/>
          </a:prstGeom>
          <a:noFill/>
          <a:ln w="19050">
            <a:solidFill>
              <a:srgbClr val="5F6B7A"/>
            </a:solidFill>
            <a:prstDash val="solid"/>
            <a:headEnd type="triangle"/>
            <a:tailEnd type="triangle"/>
          </a:ln>
        </p:spPr>
        <p:txBody>
          <a:bodyPr/>
          <a:lstStyle/>
          <a:p>
            <a:endParaRPr lang="pt-BR"/>
          </a:p>
        </p:txBody>
      </p:sp>
      <p:sp>
        <p:nvSpPr>
          <p:cNvPr id="22" name="Text 20"/>
          <p:cNvSpPr txBox="1"/>
          <p:nvPr/>
        </p:nvSpPr>
        <p:spPr>
          <a:xfrm>
            <a:off x="7537399" y="2715768"/>
            <a:ext cx="2697480" cy="274320"/>
          </a:xfrm>
          <a:prstGeom prst="rect">
            <a:avLst/>
          </a:prstGeom>
          <a:noFill/>
          <a:ln/>
        </p:spPr>
        <p:txBody>
          <a:bodyPr wrap="square" lIns="0" tIns="0" rIns="0" bIns="0" rtlCol="0" anchor="t"/>
          <a:lstStyle/>
          <a:p>
            <a:pPr marL="0" indent="0" algn="r">
              <a:buNone/>
            </a:pPr>
            <a:r>
              <a:rPr lang="en-US" sz="1200" dirty="0">
                <a:solidFill>
                  <a:srgbClr val="5F6B7A"/>
                </a:solidFill>
                <a:latin typeface="Calibri" pitchFamily="34" charset="0"/>
                <a:ea typeface="Calibri" pitchFamily="34" charset="-122"/>
                <a:cs typeface="Calibri" pitchFamily="34" charset="-120"/>
              </a:rPr>
              <a:t>lerArquivo / gravarArquivo</a:t>
            </a:r>
            <a:endParaRPr lang="en-US" sz="1200" dirty="0"/>
          </a:p>
        </p:txBody>
      </p:sp>
      <p:sp>
        <p:nvSpPr>
          <p:cNvPr id="23" name="Shape 21"/>
          <p:cNvSpPr/>
          <p:nvPr/>
        </p:nvSpPr>
        <p:spPr>
          <a:xfrm>
            <a:off x="548640" y="3154680"/>
            <a:ext cx="11094415" cy="1325880"/>
          </a:xfrm>
          <a:prstGeom prst="roundRect">
            <a:avLst>
              <a:gd name="adj" fmla="val 5517"/>
            </a:avLst>
          </a:prstGeom>
          <a:solidFill>
            <a:srgbClr val="0F2A44"/>
          </a:solidFill>
          <a:ln w="12700">
            <a:solidFill>
              <a:srgbClr val="0F2A44"/>
            </a:solidFill>
            <a:prstDash val="solid"/>
          </a:ln>
        </p:spPr>
        <p:txBody>
          <a:bodyPr/>
          <a:lstStyle/>
          <a:p>
            <a:endParaRPr lang="pt-BR"/>
          </a:p>
        </p:txBody>
      </p:sp>
      <p:sp>
        <p:nvSpPr>
          <p:cNvPr id="24" name="Text 22"/>
          <p:cNvSpPr txBox="1"/>
          <p:nvPr/>
        </p:nvSpPr>
        <p:spPr>
          <a:xfrm>
            <a:off x="548640" y="3337560"/>
            <a:ext cx="11094415" cy="411480"/>
          </a:xfrm>
          <a:prstGeom prst="rect">
            <a:avLst/>
          </a:prstGeom>
          <a:noFill/>
          <a:ln/>
        </p:spPr>
        <p:txBody>
          <a:bodyPr wrap="square" lIns="0" tIns="0" rIns="0" bIns="0" rtlCol="0" anchor="t"/>
          <a:lstStyle/>
          <a:p>
            <a:pPr marL="0" indent="0" algn="ctr">
              <a:buNone/>
            </a:pPr>
            <a:r>
              <a:rPr lang="en-US" sz="1800" b="1" dirty="0">
                <a:solidFill>
                  <a:srgbClr val="FFFFFF"/>
                </a:solidFill>
                <a:latin typeface="Courier New" pitchFamily="34" charset="0"/>
                <a:ea typeface="Courier New" pitchFamily="34" charset="-122"/>
                <a:cs typeface="Courier New" pitchFamily="34" charset="-120"/>
              </a:rPr>
              <a:t>src/grafo.py · classe Grafo (lista de adjacência)</a:t>
            </a:r>
            <a:endParaRPr lang="en-US" sz="1800" dirty="0"/>
          </a:p>
        </p:txBody>
      </p:sp>
      <p:sp>
        <p:nvSpPr>
          <p:cNvPr id="25" name="Text 23"/>
          <p:cNvSpPr txBox="1"/>
          <p:nvPr/>
        </p:nvSpPr>
        <p:spPr>
          <a:xfrm>
            <a:off x="548640" y="3776472"/>
            <a:ext cx="11094415" cy="594360"/>
          </a:xfrm>
          <a:prstGeom prst="rect">
            <a:avLst/>
          </a:prstGeom>
          <a:noFill/>
          <a:ln/>
        </p:spPr>
        <p:txBody>
          <a:bodyPr wrap="square" lIns="0" tIns="0" rIns="0" bIns="0" rtlCol="0" anchor="t"/>
          <a:lstStyle/>
          <a:p>
            <a:pPr marL="0" indent="0" algn="ctr">
              <a:buNone/>
            </a:pPr>
            <a:r>
              <a:rPr lang="en-US" sz="1400" dirty="0">
                <a:solidFill>
                  <a:srgbClr val="CADCFC"/>
                </a:solidFill>
                <a:latin typeface="Calibri" pitchFamily="34" charset="0"/>
                <a:ea typeface="Calibri" pitchFamily="34" charset="-122"/>
                <a:cs typeface="Calibri" pitchFamily="34" charset="-120"/>
              </a:rPr>
              <a:t>insereV · removeV · insereA · removeA · lerArquivo · gravarArquivo · show</a:t>
            </a:r>
            <a:endParaRPr lang="en-US" sz="1400" dirty="0"/>
          </a:p>
          <a:p>
            <a:pPr marL="0" indent="0" algn="ctr">
              <a:buNone/>
            </a:pPr>
            <a:r>
              <a:rPr lang="en-US" sz="1400" dirty="0">
                <a:solidFill>
                  <a:srgbClr val="CADCFC"/>
                </a:solidFill>
                <a:latin typeface="Calibri" pitchFamily="34" charset="0"/>
                <a:ea typeface="Calibri" pitchFamily="34" charset="-122"/>
                <a:cs typeface="Calibri" pitchFamily="34" charset="-120"/>
              </a:rPr>
              <a:t>componentesConexas (BFS) · fconex · grafoReduzido · categoriaConexidade (C0 a C3)</a:t>
            </a:r>
            <a:endParaRPr lang="en-US" sz="1400" dirty="0"/>
          </a:p>
        </p:txBody>
      </p:sp>
      <p:sp>
        <p:nvSpPr>
          <p:cNvPr id="26" name="Shape 24"/>
          <p:cNvSpPr/>
          <p:nvPr/>
        </p:nvSpPr>
        <p:spPr>
          <a:xfrm>
            <a:off x="548640" y="4937760"/>
            <a:ext cx="3393338" cy="1005840"/>
          </a:xfrm>
          <a:prstGeom prst="roundRect">
            <a:avLst>
              <a:gd name="adj" fmla="val 7273"/>
            </a:avLst>
          </a:prstGeom>
          <a:solidFill>
            <a:srgbClr val="F3F6FA"/>
          </a:solidFill>
          <a:ln w="12700">
            <a:solidFill>
              <a:srgbClr val="D5DEE8"/>
            </a:solidFill>
            <a:prstDash val="solid"/>
          </a:ln>
        </p:spPr>
        <p:txBody>
          <a:bodyPr/>
          <a:lstStyle/>
          <a:p>
            <a:endParaRPr lang="pt-BR"/>
          </a:p>
        </p:txBody>
      </p:sp>
      <p:sp>
        <p:nvSpPr>
          <p:cNvPr id="27" name="Text 25"/>
          <p:cNvSpPr txBox="1"/>
          <p:nvPr/>
        </p:nvSpPr>
        <p:spPr>
          <a:xfrm>
            <a:off x="548640" y="5120640"/>
            <a:ext cx="3393338" cy="365760"/>
          </a:xfrm>
          <a:prstGeom prst="rect">
            <a:avLst/>
          </a:prstGeom>
          <a:noFill/>
          <a:ln/>
        </p:spPr>
        <p:txBody>
          <a:bodyPr wrap="square" lIns="0" tIns="0" rIns="0" bIns="0" rtlCol="0" anchor="t"/>
          <a:lstStyle/>
          <a:p>
            <a:pPr marL="0" indent="0" algn="ctr">
              <a:buNone/>
            </a:pPr>
            <a:r>
              <a:rPr lang="en-US" sz="1400" b="1" dirty="0">
                <a:solidFill>
                  <a:srgbClr val="1F2D3D"/>
                </a:solidFill>
                <a:latin typeface="Courier New" pitchFamily="34" charset="0"/>
                <a:ea typeface="Courier New" pitchFamily="34" charset="-122"/>
                <a:cs typeface="Courier New" pitchFamily="34" charset="-120"/>
              </a:rPr>
              <a:t>main.py</a:t>
            </a:r>
            <a:endParaRPr lang="en-US" sz="1400" dirty="0"/>
          </a:p>
        </p:txBody>
      </p:sp>
      <p:sp>
        <p:nvSpPr>
          <p:cNvPr id="28" name="Text 26"/>
          <p:cNvSpPr txBox="1"/>
          <p:nvPr/>
        </p:nvSpPr>
        <p:spPr>
          <a:xfrm>
            <a:off x="548640" y="5504688"/>
            <a:ext cx="3393338" cy="320040"/>
          </a:xfrm>
          <a:prstGeom prst="rect">
            <a:avLst/>
          </a:prstGeom>
          <a:noFill/>
          <a:ln/>
        </p:spPr>
        <p:txBody>
          <a:bodyPr wrap="square" lIns="0" tIns="0" rIns="0" bIns="0" rtlCol="0" anchor="t"/>
          <a:lstStyle/>
          <a:p>
            <a:pPr marL="0" indent="0" algn="ctr">
              <a:buNone/>
            </a:pPr>
            <a:r>
              <a:rPr lang="en-US" sz="1300" dirty="0">
                <a:solidFill>
                  <a:srgbClr val="3E4C59"/>
                </a:solidFill>
                <a:latin typeface="Calibri" pitchFamily="34" charset="0"/>
                <a:ea typeface="Calibri" pitchFamily="34" charset="-122"/>
                <a:cs typeface="Calibri" pitchFamily="34" charset="-120"/>
              </a:rPr>
              <a:t>menu de opções a) a j)</a:t>
            </a:r>
            <a:endParaRPr lang="en-US" sz="1300" dirty="0"/>
          </a:p>
        </p:txBody>
      </p:sp>
      <p:sp>
        <p:nvSpPr>
          <p:cNvPr id="29" name="Shape 27"/>
          <p:cNvSpPr/>
          <p:nvPr/>
        </p:nvSpPr>
        <p:spPr>
          <a:xfrm flipV="1">
            <a:off x="2245309" y="4526280"/>
            <a:ext cx="914" cy="365760"/>
          </a:xfrm>
          <a:prstGeom prst="line">
            <a:avLst/>
          </a:prstGeom>
          <a:noFill/>
          <a:ln w="19050">
            <a:solidFill>
              <a:srgbClr val="5F6B7A"/>
            </a:solidFill>
            <a:prstDash val="dash"/>
            <a:tailEnd type="triangle"/>
          </a:ln>
        </p:spPr>
        <p:txBody>
          <a:bodyPr/>
          <a:lstStyle/>
          <a:p>
            <a:endParaRPr lang="pt-BR"/>
          </a:p>
        </p:txBody>
      </p:sp>
      <p:sp>
        <p:nvSpPr>
          <p:cNvPr id="30" name="Shape 28"/>
          <p:cNvSpPr/>
          <p:nvPr/>
        </p:nvSpPr>
        <p:spPr>
          <a:xfrm>
            <a:off x="4399178" y="4937760"/>
            <a:ext cx="3393338" cy="1005840"/>
          </a:xfrm>
          <a:prstGeom prst="roundRect">
            <a:avLst>
              <a:gd name="adj" fmla="val 7273"/>
            </a:avLst>
          </a:prstGeom>
          <a:solidFill>
            <a:srgbClr val="F3F6FA"/>
          </a:solidFill>
          <a:ln w="12700">
            <a:solidFill>
              <a:srgbClr val="D5DEE8"/>
            </a:solidFill>
            <a:prstDash val="solid"/>
          </a:ln>
        </p:spPr>
        <p:txBody>
          <a:bodyPr/>
          <a:lstStyle/>
          <a:p>
            <a:endParaRPr lang="pt-BR"/>
          </a:p>
        </p:txBody>
      </p:sp>
      <p:sp>
        <p:nvSpPr>
          <p:cNvPr id="31" name="Text 29"/>
          <p:cNvSpPr txBox="1"/>
          <p:nvPr/>
        </p:nvSpPr>
        <p:spPr>
          <a:xfrm>
            <a:off x="4399178" y="5120640"/>
            <a:ext cx="3393338" cy="365760"/>
          </a:xfrm>
          <a:prstGeom prst="rect">
            <a:avLst/>
          </a:prstGeom>
          <a:noFill/>
          <a:ln/>
        </p:spPr>
        <p:txBody>
          <a:bodyPr wrap="square" lIns="0" tIns="0" rIns="0" bIns="0" rtlCol="0" anchor="t"/>
          <a:lstStyle/>
          <a:p>
            <a:pPr marL="0" indent="0" algn="ctr">
              <a:buNone/>
            </a:pPr>
            <a:r>
              <a:rPr lang="en-US" sz="1400" b="1" dirty="0">
                <a:solidFill>
                  <a:srgbClr val="1F2D3D"/>
                </a:solidFill>
                <a:latin typeface="Courier New" pitchFamily="34" charset="0"/>
                <a:ea typeface="Courier New" pitchFamily="34" charset="-122"/>
                <a:cs typeface="Courier New" pitchFamily="34" charset="-120"/>
              </a:rPr>
              <a:t>roda_testes.py</a:t>
            </a:r>
            <a:endParaRPr lang="en-US" sz="1400" dirty="0"/>
          </a:p>
        </p:txBody>
      </p:sp>
      <p:sp>
        <p:nvSpPr>
          <p:cNvPr id="32" name="Text 30"/>
          <p:cNvSpPr txBox="1"/>
          <p:nvPr/>
        </p:nvSpPr>
        <p:spPr>
          <a:xfrm>
            <a:off x="4399178" y="5504688"/>
            <a:ext cx="3393338" cy="320040"/>
          </a:xfrm>
          <a:prstGeom prst="rect">
            <a:avLst/>
          </a:prstGeom>
          <a:noFill/>
          <a:ln/>
        </p:spPr>
        <p:txBody>
          <a:bodyPr wrap="square" lIns="0" tIns="0" rIns="0" bIns="0" rtlCol="0" anchor="t"/>
          <a:lstStyle/>
          <a:p>
            <a:pPr marL="0" indent="0" algn="ctr">
              <a:buNone/>
            </a:pPr>
            <a:r>
              <a:rPr lang="en-US" sz="1300" dirty="0">
                <a:solidFill>
                  <a:srgbClr val="3E4C59"/>
                </a:solidFill>
                <a:latin typeface="Calibri" pitchFamily="34" charset="0"/>
                <a:ea typeface="Calibri" pitchFamily="34" charset="-122"/>
                <a:cs typeface="Calibri" pitchFamily="34" charset="-120"/>
              </a:rPr>
              <a:t>21 testes automáticos</a:t>
            </a:r>
            <a:endParaRPr lang="en-US" sz="1300" dirty="0"/>
          </a:p>
        </p:txBody>
      </p:sp>
      <p:sp>
        <p:nvSpPr>
          <p:cNvPr id="33" name="Shape 31"/>
          <p:cNvSpPr/>
          <p:nvPr/>
        </p:nvSpPr>
        <p:spPr>
          <a:xfrm>
            <a:off x="8249717" y="4937760"/>
            <a:ext cx="3393338" cy="1005840"/>
          </a:xfrm>
          <a:prstGeom prst="roundRect">
            <a:avLst>
              <a:gd name="adj" fmla="val 7273"/>
            </a:avLst>
          </a:prstGeom>
          <a:solidFill>
            <a:srgbClr val="F3F6FA"/>
          </a:solidFill>
          <a:ln w="12700">
            <a:solidFill>
              <a:srgbClr val="D5DEE8"/>
            </a:solidFill>
            <a:prstDash val="solid"/>
          </a:ln>
        </p:spPr>
        <p:txBody>
          <a:bodyPr/>
          <a:lstStyle/>
          <a:p>
            <a:endParaRPr lang="pt-BR"/>
          </a:p>
        </p:txBody>
      </p:sp>
      <p:sp>
        <p:nvSpPr>
          <p:cNvPr id="34" name="Text 32"/>
          <p:cNvSpPr txBox="1"/>
          <p:nvPr/>
        </p:nvSpPr>
        <p:spPr>
          <a:xfrm>
            <a:off x="8249717" y="5120640"/>
            <a:ext cx="3393338" cy="365760"/>
          </a:xfrm>
          <a:prstGeom prst="rect">
            <a:avLst/>
          </a:prstGeom>
          <a:noFill/>
          <a:ln/>
        </p:spPr>
        <p:txBody>
          <a:bodyPr wrap="square" lIns="0" tIns="0" rIns="0" bIns="0" rtlCol="0" anchor="t"/>
          <a:lstStyle/>
          <a:p>
            <a:pPr marL="0" indent="0" algn="ctr">
              <a:buNone/>
            </a:pPr>
            <a:r>
              <a:rPr lang="en-US" sz="1400" b="1" dirty="0">
                <a:solidFill>
                  <a:srgbClr val="1F2D3D"/>
                </a:solidFill>
                <a:latin typeface="Courier New" pitchFamily="34" charset="0"/>
                <a:ea typeface="Courier New" pitchFamily="34" charset="-122"/>
                <a:cs typeface="Courier New" pitchFamily="34" charset="-120"/>
              </a:rPr>
              <a:t>analise_preliminar.py</a:t>
            </a:r>
            <a:endParaRPr lang="en-US" sz="1400" dirty="0"/>
          </a:p>
        </p:txBody>
      </p:sp>
      <p:sp>
        <p:nvSpPr>
          <p:cNvPr id="35" name="Text 33"/>
          <p:cNvSpPr txBox="1"/>
          <p:nvPr/>
        </p:nvSpPr>
        <p:spPr>
          <a:xfrm>
            <a:off x="8249717" y="5504688"/>
            <a:ext cx="3393338" cy="320040"/>
          </a:xfrm>
          <a:prstGeom prst="rect">
            <a:avLst/>
          </a:prstGeom>
          <a:noFill/>
          <a:ln/>
        </p:spPr>
        <p:txBody>
          <a:bodyPr wrap="square" lIns="0" tIns="0" rIns="0" bIns="0" rtlCol="0" anchor="t"/>
          <a:lstStyle/>
          <a:p>
            <a:pPr marL="0" indent="0" algn="ctr">
              <a:buNone/>
            </a:pPr>
            <a:r>
              <a:rPr lang="en-US" sz="1300" dirty="0">
                <a:solidFill>
                  <a:srgbClr val="3E4C59"/>
                </a:solidFill>
                <a:latin typeface="Calibri" pitchFamily="34" charset="0"/>
                <a:ea typeface="Calibri" pitchFamily="34" charset="-122"/>
                <a:cs typeface="Calibri" pitchFamily="34" charset="-120"/>
              </a:rPr>
              <a:t>graus, densidade, discrepância</a:t>
            </a:r>
            <a:endParaRPr lang="en-US" sz="1300" dirty="0"/>
          </a:p>
        </p:txBody>
      </p:sp>
      <p:sp>
        <p:nvSpPr>
          <p:cNvPr id="36" name="Shape 34"/>
          <p:cNvSpPr/>
          <p:nvPr/>
        </p:nvSpPr>
        <p:spPr>
          <a:xfrm flipV="1">
            <a:off x="9946386" y="4526280"/>
            <a:ext cx="914" cy="365760"/>
          </a:xfrm>
          <a:prstGeom prst="line">
            <a:avLst/>
          </a:prstGeom>
          <a:noFill/>
          <a:ln w="19050">
            <a:solidFill>
              <a:srgbClr val="5F6B7A"/>
            </a:solidFill>
            <a:prstDash val="dash"/>
            <a:tailEnd type="triangle"/>
          </a:ln>
        </p:spPr>
        <p:txBody>
          <a:bodyPr/>
          <a:lstStyle/>
          <a:p>
            <a:endParaRPr lang="pt-BR"/>
          </a:p>
        </p:txBody>
      </p:sp>
      <p:sp>
        <p:nvSpPr>
          <p:cNvPr id="37" name="Shape 35"/>
          <p:cNvSpPr/>
          <p:nvPr/>
        </p:nvSpPr>
        <p:spPr>
          <a:xfrm flipH="1">
            <a:off x="3987698" y="5440680"/>
            <a:ext cx="365760" cy="914"/>
          </a:xfrm>
          <a:prstGeom prst="line">
            <a:avLst/>
          </a:prstGeom>
          <a:noFill/>
          <a:ln w="19050">
            <a:solidFill>
              <a:srgbClr val="5F6B7A"/>
            </a:solidFill>
            <a:prstDash val="solid"/>
            <a:tailEnd type="triangle"/>
          </a:ln>
        </p:spPr>
        <p:txBody>
          <a:bodyPr/>
          <a:lstStyle/>
          <a:p>
            <a:endParaRPr lang="pt-BR"/>
          </a:p>
        </p:txBody>
      </p:sp>
      <p:sp>
        <p:nvSpPr>
          <p:cNvPr id="38" name="Text 36"/>
          <p:cNvSpPr txBox="1"/>
          <p:nvPr/>
        </p:nvSpPr>
        <p:spPr>
          <a:xfrm>
            <a:off x="2382469" y="4617720"/>
            <a:ext cx="2743200" cy="274320"/>
          </a:xfrm>
          <a:prstGeom prst="rect">
            <a:avLst/>
          </a:prstGeom>
          <a:noFill/>
          <a:ln/>
        </p:spPr>
        <p:txBody>
          <a:bodyPr wrap="square" lIns="0" tIns="0" rIns="0" bIns="0" rtlCol="0" anchor="t"/>
          <a:lstStyle/>
          <a:p>
            <a:pPr marL="0" indent="0">
              <a:buNone/>
            </a:pPr>
            <a:r>
              <a:rPr lang="en-US" sz="1200" dirty="0">
                <a:solidFill>
                  <a:srgbClr val="5F6B7A"/>
                </a:solidFill>
                <a:latin typeface="Calibri" pitchFamily="34" charset="0"/>
                <a:ea typeface="Calibri" pitchFamily="34" charset="-122"/>
                <a:cs typeface="Calibri" pitchFamily="34" charset="-120"/>
              </a:rPr>
              <a:t>importam a classe Grafo</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marL="0" indent="0">
              <a:buNone/>
            </a:pPr>
            <a:r>
              <a:rPr lang="en-US" sz="1200" b="1" kern="0" spc="200" dirty="0">
                <a:solidFill>
                  <a:srgbClr val="2E78C2"/>
                </a:solidFill>
                <a:latin typeface="Calibri" pitchFamily="34" charset="0"/>
                <a:ea typeface="Calibri" pitchFamily="34" charset="-122"/>
                <a:cs typeface="Calibri" pitchFamily="34" charset="-120"/>
              </a:rPr>
              <a:t>REPRESENTAÇÃO COMPUTACIONAL</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t"/>
          <a:lstStyle/>
          <a:p>
            <a:pPr marL="0" indent="0">
              <a:buNone/>
            </a:pPr>
            <a:r>
              <a:rPr lang="en-US" sz="2800" b="1" dirty="0">
                <a:solidFill>
                  <a:srgbClr val="0F2A44"/>
                </a:solidFill>
                <a:latin typeface="Cambria" pitchFamily="34" charset="0"/>
                <a:ea typeface="Cambria" pitchFamily="34" charset="-122"/>
                <a:cs typeface="Cambria" pitchFamily="34" charset="-120"/>
              </a:rPr>
              <a:t>Lista de adjacência, porque o grafo é esparso</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t"/>
          <a:lstStyle/>
          <a:p>
            <a:pPr marL="0" indent="0">
              <a:buNone/>
            </a:pPr>
            <a:r>
              <a:rPr lang="en-US" sz="1000" dirty="0">
                <a:solidFill>
                  <a:srgbClr val="5F6B7A"/>
                </a:solidFill>
                <a:latin typeface="Calibri" pitchFamily="34" charset="0"/>
                <a:ea typeface="Calibri" pitchFamily="34" charset="-122"/>
                <a:cs typeface="Calibri" pitchFamily="34" charset="-120"/>
              </a:rPr>
              <a:t>Análise da rede de estações com grafos · Parte 2</a:t>
            </a:r>
            <a:endParaRPr lang="en-US" sz="1000" dirty="0"/>
          </a:p>
        </p:txBody>
      </p:sp>
      <p:sp>
        <p:nvSpPr>
          <p:cNvPr id="5" name="Text 3"/>
          <p:cNvSpPr txBox="1"/>
          <p:nvPr/>
        </p:nvSpPr>
        <p:spPr>
          <a:xfrm>
            <a:off x="10728655" y="6400800"/>
            <a:ext cx="914400" cy="228600"/>
          </a:xfrm>
          <a:prstGeom prst="rect">
            <a:avLst/>
          </a:prstGeom>
          <a:noFill/>
          <a:ln/>
        </p:spPr>
        <p:txBody>
          <a:bodyPr wrap="square" lIns="0" tIns="0" rIns="0" bIns="0" rtlCol="0" anchor="t"/>
          <a:lstStyle/>
          <a:p>
            <a:pPr marL="0" indent="0" algn="r">
              <a:buNone/>
            </a:pPr>
            <a:r>
              <a:rPr lang="en-US" sz="1000" dirty="0">
                <a:solidFill>
                  <a:srgbClr val="5F6B7A"/>
                </a:solidFill>
                <a:latin typeface="Calibri" pitchFamily="34" charset="0"/>
                <a:ea typeface="Calibri" pitchFamily="34" charset="-122"/>
                <a:cs typeface="Calibri" pitchFamily="34" charset="-120"/>
              </a:rPr>
              <a:t>9</a:t>
            </a:r>
            <a:endParaRPr lang="en-US" sz="1000" dirty="0"/>
          </a:p>
        </p:txBody>
      </p:sp>
      <p:sp>
        <p:nvSpPr>
          <p:cNvPr id="6" name="Shape 4"/>
          <p:cNvSpPr/>
          <p:nvPr/>
        </p:nvSpPr>
        <p:spPr>
          <a:xfrm>
            <a:off x="548640" y="1554480"/>
            <a:ext cx="5760720" cy="4480560"/>
          </a:xfrm>
          <a:prstGeom prst="roundRect">
            <a:avLst>
              <a:gd name="adj" fmla="val 1633"/>
            </a:avLst>
          </a:prstGeom>
          <a:solidFill>
            <a:srgbClr val="0F2A44"/>
          </a:solidFill>
          <a:ln w="12700">
            <a:solidFill>
              <a:srgbClr val="0F2A44"/>
            </a:solidFill>
            <a:prstDash val="solid"/>
          </a:ln>
        </p:spPr>
        <p:txBody>
          <a:bodyPr/>
          <a:lstStyle/>
          <a:p>
            <a:endParaRPr lang="pt-BR"/>
          </a:p>
        </p:txBody>
      </p:sp>
      <p:sp>
        <p:nvSpPr>
          <p:cNvPr id="7" name="Text 5"/>
          <p:cNvSpPr txBox="1"/>
          <p:nvPr/>
        </p:nvSpPr>
        <p:spPr>
          <a:xfrm>
            <a:off x="868680" y="1737360"/>
            <a:ext cx="5120640" cy="320040"/>
          </a:xfrm>
          <a:prstGeom prst="rect">
            <a:avLst/>
          </a:prstGeom>
          <a:noFill/>
          <a:ln/>
        </p:spPr>
        <p:txBody>
          <a:bodyPr wrap="square" lIns="0" tIns="0" rIns="0" bIns="0" rtlCol="0" anchor="t"/>
          <a:lstStyle/>
          <a:p>
            <a:pPr marL="0" indent="0">
              <a:buNone/>
            </a:pPr>
            <a:r>
              <a:rPr lang="en-US" sz="1300" b="1" dirty="0">
                <a:solidFill>
                  <a:srgbClr val="7FB3E6"/>
                </a:solidFill>
                <a:latin typeface="Calibri" pitchFamily="34" charset="0"/>
                <a:ea typeface="Calibri" pitchFamily="34" charset="-122"/>
                <a:cs typeface="Calibri" pitchFamily="34" charset="-120"/>
              </a:rPr>
              <a:t>Atributos da classe Grafo</a:t>
            </a:r>
            <a:endParaRPr lang="en-US" sz="1300" dirty="0"/>
          </a:p>
        </p:txBody>
      </p:sp>
      <p:sp>
        <p:nvSpPr>
          <p:cNvPr id="8" name="Text 6"/>
          <p:cNvSpPr txBox="1"/>
          <p:nvPr/>
        </p:nvSpPr>
        <p:spPr>
          <a:xfrm>
            <a:off x="868680" y="2103120"/>
            <a:ext cx="5303520" cy="1371600"/>
          </a:xfrm>
          <a:prstGeom prst="rect">
            <a:avLst/>
          </a:prstGeom>
          <a:noFill/>
          <a:ln/>
        </p:spPr>
        <p:txBody>
          <a:bodyPr wrap="square" lIns="0" tIns="0" rIns="0" bIns="0" rtlCol="0" anchor="t"/>
          <a:lstStyle/>
          <a:p>
            <a:pPr marL="0" indent="0">
              <a:lnSpc>
                <a:spcPct val="115000"/>
              </a:lnSpc>
              <a:buNone/>
            </a:pPr>
            <a:r>
              <a:rPr lang="en-US" sz="1400" dirty="0">
                <a:solidFill>
                  <a:srgbClr val="FFFFFF"/>
                </a:solidFill>
                <a:latin typeface="Courier New" pitchFamily="34" charset="0"/>
                <a:ea typeface="Courier New" pitchFamily="34" charset="-122"/>
                <a:cs typeface="Courier New" pitchFamily="34" charset="-120"/>
              </a:rPr>
              <a:t>listaAdj[v] = [[w, peso], ...]</a:t>
            </a:r>
            <a:endParaRPr lang="en-US" sz="1400" dirty="0"/>
          </a:p>
          <a:p>
            <a:pPr marL="0" indent="0">
              <a:lnSpc>
                <a:spcPct val="115000"/>
              </a:lnSpc>
              <a:buNone/>
            </a:pPr>
            <a:r>
              <a:rPr lang="en-US" sz="1400" dirty="0">
                <a:solidFill>
                  <a:srgbClr val="FFFFFF"/>
                </a:solidFill>
                <a:latin typeface="Courier New" pitchFamily="34" charset="0"/>
                <a:ea typeface="Courier New" pitchFamily="34" charset="-122"/>
                <a:cs typeface="Courier New" pitchFamily="34" charset="-120"/>
              </a:rPr>
              <a:t>rotulos[v]  = nome da estação</a:t>
            </a:r>
            <a:endParaRPr lang="en-US" sz="1400" dirty="0"/>
          </a:p>
          <a:p>
            <a:pPr marL="0" indent="0">
              <a:lnSpc>
                <a:spcPct val="115000"/>
              </a:lnSpc>
              <a:buNone/>
            </a:pPr>
            <a:r>
              <a:rPr lang="en-US" sz="1400" dirty="0">
                <a:solidFill>
                  <a:srgbClr val="FFFFFF"/>
                </a:solidFill>
                <a:latin typeface="Courier New" pitchFamily="34" charset="0"/>
                <a:ea typeface="Courier New" pitchFamily="34" charset="-122"/>
                <a:cs typeface="Courier New" pitchFamily="34" charset="-120"/>
              </a:rPr>
              <a:t>pesosV[v]   = chuva (mm)</a:t>
            </a:r>
            <a:endParaRPr lang="en-US" sz="1400" dirty="0"/>
          </a:p>
          <a:p>
            <a:pPr marL="0" indent="0">
              <a:lnSpc>
                <a:spcPct val="115000"/>
              </a:lnSpc>
              <a:buNone/>
            </a:pPr>
            <a:r>
              <a:rPr lang="en-US" sz="1400" dirty="0">
                <a:solidFill>
                  <a:srgbClr val="FFFFFF"/>
                </a:solidFill>
                <a:latin typeface="Courier New" pitchFamily="34" charset="0"/>
                <a:ea typeface="Courier New" pitchFamily="34" charset="-122"/>
                <a:cs typeface="Courier New" pitchFamily="34" charset="-120"/>
              </a:rPr>
              <a:t>tipo        = 0 a 7 (aqui 3)</a:t>
            </a:r>
            <a:endParaRPr lang="en-US" sz="1400" dirty="0"/>
          </a:p>
        </p:txBody>
      </p:sp>
      <p:sp>
        <p:nvSpPr>
          <p:cNvPr id="9" name="Text 7"/>
          <p:cNvSpPr txBox="1"/>
          <p:nvPr/>
        </p:nvSpPr>
        <p:spPr>
          <a:xfrm>
            <a:off x="868680" y="3703320"/>
            <a:ext cx="5120640" cy="320040"/>
          </a:xfrm>
          <a:prstGeom prst="rect">
            <a:avLst/>
          </a:prstGeom>
          <a:noFill/>
          <a:ln/>
        </p:spPr>
        <p:txBody>
          <a:bodyPr wrap="square" lIns="0" tIns="0" rIns="0" bIns="0" rtlCol="0" anchor="t"/>
          <a:lstStyle/>
          <a:p>
            <a:pPr marL="0" indent="0">
              <a:buNone/>
            </a:pPr>
            <a:r>
              <a:rPr lang="en-US" sz="1300" b="1" dirty="0">
                <a:solidFill>
                  <a:srgbClr val="7FB3E6"/>
                </a:solidFill>
                <a:latin typeface="Calibri" pitchFamily="34" charset="0"/>
                <a:ea typeface="Calibri" pitchFamily="34" charset="-122"/>
                <a:cs typeface="Calibri" pitchFamily="34" charset="-120"/>
              </a:rPr>
              <a:t>Saída da opção h) para o vértice 0</a:t>
            </a:r>
            <a:endParaRPr lang="en-US" sz="1300" dirty="0"/>
          </a:p>
        </p:txBody>
      </p:sp>
      <p:sp>
        <p:nvSpPr>
          <p:cNvPr id="10" name="Text 8"/>
          <p:cNvSpPr txBox="1"/>
          <p:nvPr/>
        </p:nvSpPr>
        <p:spPr>
          <a:xfrm>
            <a:off x="868680" y="4069080"/>
            <a:ext cx="5303520" cy="1097280"/>
          </a:xfrm>
          <a:prstGeom prst="rect">
            <a:avLst/>
          </a:prstGeom>
          <a:noFill/>
          <a:ln/>
        </p:spPr>
        <p:txBody>
          <a:bodyPr wrap="square" lIns="0" tIns="0" rIns="0" bIns="0" rtlCol="0" anchor="t"/>
          <a:lstStyle/>
          <a:p>
            <a:pPr marL="0" indent="0">
              <a:lnSpc>
                <a:spcPct val="115000"/>
              </a:lnSpc>
              <a:buNone/>
            </a:pPr>
            <a:r>
              <a:rPr lang="en-US" sz="1400" dirty="0">
                <a:solidFill>
                  <a:srgbClr val="FFFFFF"/>
                </a:solidFill>
                <a:latin typeface="Courier New" pitchFamily="34" charset="0"/>
                <a:ea typeface="Courier New" pitchFamily="34" charset="-122"/>
                <a:cs typeface="Courier New" pitchFamily="34" charset="-120"/>
              </a:rPr>
              <a:t>0 Perus [552.8] -&gt;</a:t>
            </a:r>
            <a:endParaRPr lang="en-US" sz="1400" dirty="0"/>
          </a:p>
          <a:p>
            <a:pPr marL="0" indent="0">
              <a:lnSpc>
                <a:spcPct val="115000"/>
              </a:lnSpc>
              <a:buNone/>
            </a:pPr>
            <a:r>
              <a:rPr lang="en-US" sz="1400" dirty="0">
                <a:solidFill>
                  <a:srgbClr val="FFFFFF"/>
                </a:solidFill>
                <a:latin typeface="Courier New" pitchFamily="34" charset="0"/>
                <a:ea typeface="Courier New" pitchFamily="34" charset="-122"/>
                <a:cs typeface="Courier New" pitchFamily="34" charset="-120"/>
              </a:rPr>
              <a:t>   4(7.85), 5(9.93), 10(13.3),</a:t>
            </a:r>
            <a:endParaRPr lang="en-US" sz="1400" dirty="0"/>
          </a:p>
          <a:p>
            <a:pPr marL="0" indent="0">
              <a:lnSpc>
                <a:spcPct val="115000"/>
              </a:lnSpc>
              <a:buNone/>
            </a:pPr>
            <a:r>
              <a:rPr lang="en-US" sz="1400" dirty="0">
                <a:solidFill>
                  <a:srgbClr val="FFFFFF"/>
                </a:solidFill>
                <a:latin typeface="Courier New" pitchFamily="34" charset="0"/>
                <a:ea typeface="Courier New" pitchFamily="34" charset="-122"/>
                <a:cs typeface="Courier New" pitchFamily="34" charset="-120"/>
              </a:rPr>
              <a:t>   3(15.73), 2(17.24)</a:t>
            </a:r>
            <a:endParaRPr lang="en-US" sz="1400" dirty="0"/>
          </a:p>
        </p:txBody>
      </p:sp>
      <p:sp>
        <p:nvSpPr>
          <p:cNvPr id="11" name="Shape 9"/>
          <p:cNvSpPr/>
          <p:nvPr/>
        </p:nvSpPr>
        <p:spPr>
          <a:xfrm>
            <a:off x="6675120" y="1554480"/>
            <a:ext cx="2346808" cy="1417320"/>
          </a:xfrm>
          <a:prstGeom prst="roundRect">
            <a:avLst>
              <a:gd name="adj" fmla="val 5161"/>
            </a:avLst>
          </a:prstGeom>
          <a:solidFill>
            <a:srgbClr val="F3F6FA"/>
          </a:solidFill>
          <a:ln w="12700">
            <a:solidFill>
              <a:srgbClr val="F3F6FA"/>
            </a:solidFill>
            <a:prstDash val="solid"/>
          </a:ln>
        </p:spPr>
        <p:txBody>
          <a:bodyPr/>
          <a:lstStyle/>
          <a:p>
            <a:endParaRPr lang="pt-BR"/>
          </a:p>
        </p:txBody>
      </p:sp>
      <p:sp>
        <p:nvSpPr>
          <p:cNvPr id="12" name="Text 10"/>
          <p:cNvSpPr txBox="1"/>
          <p:nvPr/>
        </p:nvSpPr>
        <p:spPr>
          <a:xfrm>
            <a:off x="6903720" y="1691640"/>
            <a:ext cx="1889608" cy="640080"/>
          </a:xfrm>
          <a:prstGeom prst="rect">
            <a:avLst/>
          </a:prstGeom>
          <a:noFill/>
          <a:ln/>
        </p:spPr>
        <p:txBody>
          <a:bodyPr wrap="square" lIns="0" tIns="0" rIns="0" bIns="0" rtlCol="0" anchor="t"/>
          <a:lstStyle/>
          <a:p>
            <a:pPr marL="0" indent="0">
              <a:buNone/>
            </a:pPr>
            <a:r>
              <a:rPr lang="en-US" sz="3400" b="1" dirty="0">
                <a:solidFill>
                  <a:srgbClr val="3E4C59"/>
                </a:solidFill>
                <a:latin typeface="Cambria" pitchFamily="34" charset="0"/>
                <a:ea typeface="Cambria" pitchFamily="34" charset="-122"/>
                <a:cs typeface="Cambria" pitchFamily="34" charset="-120"/>
              </a:rPr>
              <a:t>1.024</a:t>
            </a:r>
            <a:endParaRPr lang="en-US" sz="3400" dirty="0"/>
          </a:p>
        </p:txBody>
      </p:sp>
      <p:sp>
        <p:nvSpPr>
          <p:cNvPr id="13" name="Text 11"/>
          <p:cNvSpPr txBox="1"/>
          <p:nvPr/>
        </p:nvSpPr>
        <p:spPr>
          <a:xfrm>
            <a:off x="6903720" y="2377440"/>
            <a:ext cx="1889608" cy="502920"/>
          </a:xfrm>
          <a:prstGeom prst="rect">
            <a:avLst/>
          </a:prstGeom>
          <a:noFill/>
          <a:ln/>
        </p:spPr>
        <p:txBody>
          <a:bodyPr wrap="square" lIns="0" tIns="0" rIns="0" bIns="0" rtlCol="0" anchor="t"/>
          <a:lstStyle/>
          <a:p>
            <a:pPr marL="0" indent="0">
              <a:buNone/>
            </a:pPr>
            <a:r>
              <a:rPr lang="en-US" sz="1300" dirty="0">
                <a:solidFill>
                  <a:srgbClr val="3E4C59"/>
                </a:solidFill>
                <a:latin typeface="Calibri" pitchFamily="34" charset="0"/>
                <a:ea typeface="Calibri" pitchFamily="34" charset="-122"/>
                <a:cs typeface="Calibri" pitchFamily="34" charset="-120"/>
              </a:rPr>
              <a:t>posições na matriz (32 × 32)</a:t>
            </a:r>
            <a:endParaRPr lang="en-US" sz="1300" dirty="0"/>
          </a:p>
        </p:txBody>
      </p:sp>
      <p:sp>
        <p:nvSpPr>
          <p:cNvPr id="14" name="Shape 12"/>
          <p:cNvSpPr/>
          <p:nvPr/>
        </p:nvSpPr>
        <p:spPr>
          <a:xfrm>
            <a:off x="9296248" y="1554480"/>
            <a:ext cx="2346808" cy="1417320"/>
          </a:xfrm>
          <a:prstGeom prst="roundRect">
            <a:avLst>
              <a:gd name="adj" fmla="val 5161"/>
            </a:avLst>
          </a:prstGeom>
          <a:solidFill>
            <a:srgbClr val="E3EEF9"/>
          </a:solidFill>
          <a:ln w="12700">
            <a:solidFill>
              <a:srgbClr val="E3EEF9"/>
            </a:solidFill>
            <a:prstDash val="solid"/>
          </a:ln>
        </p:spPr>
        <p:txBody>
          <a:bodyPr/>
          <a:lstStyle/>
          <a:p>
            <a:endParaRPr lang="pt-BR"/>
          </a:p>
        </p:txBody>
      </p:sp>
      <p:sp>
        <p:nvSpPr>
          <p:cNvPr id="15" name="Text 13"/>
          <p:cNvSpPr txBox="1"/>
          <p:nvPr/>
        </p:nvSpPr>
        <p:spPr>
          <a:xfrm>
            <a:off x="9524848" y="1691640"/>
            <a:ext cx="1889608" cy="640080"/>
          </a:xfrm>
          <a:prstGeom prst="rect">
            <a:avLst/>
          </a:prstGeom>
          <a:noFill/>
          <a:ln/>
        </p:spPr>
        <p:txBody>
          <a:bodyPr wrap="square" lIns="0" tIns="0" rIns="0" bIns="0" rtlCol="0" anchor="t"/>
          <a:lstStyle/>
          <a:p>
            <a:pPr marL="0" indent="0">
              <a:buNone/>
            </a:pPr>
            <a:r>
              <a:rPr lang="en-US" sz="3400" b="1" dirty="0">
                <a:solidFill>
                  <a:srgbClr val="2E78C2"/>
                </a:solidFill>
                <a:latin typeface="Cambria" pitchFamily="34" charset="0"/>
                <a:ea typeface="Cambria" pitchFamily="34" charset="-122"/>
                <a:cs typeface="Cambria" pitchFamily="34" charset="-120"/>
              </a:rPr>
              <a:t>200</a:t>
            </a:r>
            <a:endParaRPr lang="en-US" sz="3400" dirty="0"/>
          </a:p>
        </p:txBody>
      </p:sp>
      <p:sp>
        <p:nvSpPr>
          <p:cNvPr id="16" name="Text 14"/>
          <p:cNvSpPr txBox="1"/>
          <p:nvPr/>
        </p:nvSpPr>
        <p:spPr>
          <a:xfrm>
            <a:off x="9524848" y="2377440"/>
            <a:ext cx="1889608" cy="502920"/>
          </a:xfrm>
          <a:prstGeom prst="rect">
            <a:avLst/>
          </a:prstGeom>
          <a:noFill/>
          <a:ln/>
        </p:spPr>
        <p:txBody>
          <a:bodyPr wrap="square" lIns="0" tIns="0" rIns="0" bIns="0" rtlCol="0" anchor="t"/>
          <a:lstStyle/>
          <a:p>
            <a:pPr marL="0" indent="0">
              <a:buNone/>
            </a:pPr>
            <a:r>
              <a:rPr lang="en-US" sz="1300" dirty="0">
                <a:solidFill>
                  <a:srgbClr val="3E4C59"/>
                </a:solidFill>
                <a:latin typeface="Calibri" pitchFamily="34" charset="0"/>
                <a:ea typeface="Calibri" pitchFamily="34" charset="-122"/>
                <a:cs typeface="Calibri" pitchFamily="34" charset="-120"/>
              </a:rPr>
              <a:t>entradas na lista (32 + 2 × 84)</a:t>
            </a:r>
            <a:endParaRPr lang="en-US" sz="1300" dirty="0"/>
          </a:p>
        </p:txBody>
      </p:sp>
      <p:sp>
        <p:nvSpPr>
          <p:cNvPr id="17" name="Text 15"/>
          <p:cNvSpPr txBox="1"/>
          <p:nvPr/>
        </p:nvSpPr>
        <p:spPr>
          <a:xfrm>
            <a:off x="6675120" y="3246120"/>
            <a:ext cx="4967935"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E4C59"/>
                </a:solidFill>
                <a:latin typeface="Calibri" pitchFamily="34" charset="0"/>
                <a:ea typeface="Calibri" pitchFamily="34" charset="-122"/>
                <a:cs typeface="Calibri" pitchFamily="34" charset="-120"/>
              </a:rPr>
              <a:t>Densidade 0,169: a matriz seria quase toda zero.</a:t>
            </a:r>
            <a:endParaRPr lang="en-US" sz="1500" dirty="0"/>
          </a:p>
          <a:p>
            <a:pPr marL="342900" indent="-342900">
              <a:spcAft>
                <a:spcPts val="800"/>
              </a:spcAft>
              <a:buSzPct val="100000"/>
              <a:buChar char="•"/>
            </a:pPr>
            <a:r>
              <a:rPr lang="en-US" sz="1500" dirty="0">
                <a:solidFill>
                  <a:srgbClr val="3E4C59"/>
                </a:solidFill>
                <a:latin typeface="Calibri" pitchFamily="34" charset="0"/>
                <a:ea typeface="Calibri" pitchFamily="34" charset="-122"/>
                <a:cs typeface="Calibri" pitchFamily="34" charset="-120"/>
              </a:rPr>
              <a:t>Aresta não orientada fica nas duas listas, mas conta 1 vez em m.</a:t>
            </a:r>
            <a:endParaRPr lang="en-US" sz="1500" dirty="0"/>
          </a:p>
          <a:p>
            <a:pPr marL="342900" indent="-342900">
              <a:spcAft>
                <a:spcPts val="800"/>
              </a:spcAft>
              <a:buSzPct val="100000"/>
              <a:buChar char="•"/>
            </a:pPr>
            <a:r>
              <a:rPr lang="en-US" sz="1500" dirty="0">
                <a:solidFill>
                  <a:srgbClr val="3E4C59"/>
                </a:solidFill>
                <a:latin typeface="Calibri" pitchFamily="34" charset="0"/>
                <a:ea typeface="Calibri" pitchFamily="34" charset="-122"/>
                <a:cs typeface="Calibri" pitchFamily="34" charset="-120"/>
              </a:rPr>
              <a:t>O tipo (0 a 7) define orientação e pesos: a mesma classe serve aos 8 tipos do enunciado.</a:t>
            </a:r>
            <a:endParaRPr lang="en-US" sz="1500" dirty="0"/>
          </a:p>
          <a:p>
            <a:pPr marL="342900" indent="-342900">
              <a:spcAft>
                <a:spcPts val="800"/>
              </a:spcAft>
              <a:buSzPct val="100000"/>
              <a:buChar char="•"/>
            </a:pPr>
            <a:r>
              <a:rPr lang="en-US" sz="1500" dirty="0">
                <a:solidFill>
                  <a:srgbClr val="3E4C59"/>
                </a:solidFill>
                <a:latin typeface="Calibri" pitchFamily="34" charset="0"/>
                <a:ea typeface="Calibri" pitchFamily="34" charset="-122"/>
                <a:cs typeface="Calibri" pitchFamily="34" charset="-120"/>
              </a:rPr>
              <a:t>Base: classe Grafo de aula (grafoLista.py), com os mesmos nomes de métodos.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marL="0" indent="0">
              <a:buNone/>
            </a:pPr>
            <a:r>
              <a:rPr lang="en-US" sz="1200" b="1" kern="0" spc="200" dirty="0">
                <a:solidFill>
                  <a:srgbClr val="2E78C2"/>
                </a:solidFill>
                <a:latin typeface="Calibri" pitchFamily="34" charset="0"/>
                <a:ea typeface="Calibri" pitchFamily="34" charset="-122"/>
                <a:cs typeface="Calibri" pitchFamily="34" charset="-120"/>
              </a:rPr>
              <a:t>INFRAESTRUTURA</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t"/>
          <a:lstStyle/>
          <a:p>
            <a:pPr marL="0" indent="0">
              <a:buNone/>
            </a:pPr>
            <a:r>
              <a:rPr lang="en-US" sz="2800" b="1" dirty="0">
                <a:solidFill>
                  <a:srgbClr val="0F2A44"/>
                </a:solidFill>
                <a:latin typeface="Cambria" pitchFamily="34" charset="0"/>
                <a:ea typeface="Cambria" pitchFamily="34" charset="-122"/>
                <a:cs typeface="Cambria" pitchFamily="34" charset="-120"/>
              </a:rPr>
              <a:t>Menu de opções a) a j)</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t"/>
          <a:lstStyle/>
          <a:p>
            <a:pPr marL="0" indent="0">
              <a:buNone/>
            </a:pPr>
            <a:r>
              <a:rPr lang="en-US" sz="1000" dirty="0">
                <a:solidFill>
                  <a:srgbClr val="5F6B7A"/>
                </a:solidFill>
                <a:latin typeface="Calibri" pitchFamily="34" charset="0"/>
                <a:ea typeface="Calibri" pitchFamily="34" charset="-122"/>
                <a:cs typeface="Calibri" pitchFamily="34" charset="-120"/>
              </a:rPr>
              <a:t>Análise da rede de estações com grafos · Parte 2</a:t>
            </a:r>
            <a:endParaRPr lang="en-US" sz="1000" dirty="0"/>
          </a:p>
        </p:txBody>
      </p:sp>
      <p:sp>
        <p:nvSpPr>
          <p:cNvPr id="5" name="Text 3"/>
          <p:cNvSpPr txBox="1"/>
          <p:nvPr/>
        </p:nvSpPr>
        <p:spPr>
          <a:xfrm>
            <a:off x="10728655" y="6400800"/>
            <a:ext cx="914400" cy="228600"/>
          </a:xfrm>
          <a:prstGeom prst="rect">
            <a:avLst/>
          </a:prstGeom>
          <a:noFill/>
          <a:ln/>
        </p:spPr>
        <p:txBody>
          <a:bodyPr wrap="square" lIns="0" tIns="0" rIns="0" bIns="0" rtlCol="0" anchor="t"/>
          <a:lstStyle/>
          <a:p>
            <a:pPr marL="0" indent="0" algn="r">
              <a:buNone/>
            </a:pPr>
            <a:r>
              <a:rPr lang="en-US" sz="1000" dirty="0">
                <a:solidFill>
                  <a:srgbClr val="5F6B7A"/>
                </a:solidFill>
                <a:latin typeface="Calibri" pitchFamily="34" charset="0"/>
                <a:ea typeface="Calibri" pitchFamily="34" charset="-122"/>
                <a:cs typeface="Calibri" pitchFamily="34" charset="-120"/>
              </a:rPr>
              <a:t>10</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4425696"/>
        </p:xfrm>
        <a:graphic>
          <a:graphicData uri="http://schemas.openxmlformats.org/drawingml/2006/table">
            <a:tbl>
              <a:tblPr/>
              <a:tblGrid>
                <a:gridCol w="9144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5608015">
                  <a:extLst>
                    <a:ext uri="{9D8B030D-6E8A-4147-A177-3AD203B41FA5}">
                      <a16:colId xmlns:a16="http://schemas.microsoft.com/office/drawing/2014/main" val="20003"/>
                    </a:ext>
                  </a:extLst>
                </a:gridCol>
              </a:tblGrid>
              <a:tr h="402336">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Opção</a:t>
                      </a:r>
                      <a:endParaRPr lang="en-US" sz="14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0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Ação</a:t>
                      </a:r>
                      <a:endParaRPr lang="en-US" sz="14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0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Método</a:t>
                      </a:r>
                      <a:endParaRPr lang="en-US" sz="14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0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Detalhe</a:t>
                      </a:r>
                      <a:endParaRPr lang="en-US" sz="14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0F2A44"/>
                    </a:solidFill>
                  </a:tcPr>
                </a:tc>
                <a:extLst>
                  <a:ext uri="{0D108BD9-81ED-4DB2-BD59-A6C34878D82A}">
                    <a16:rowId xmlns:a16="http://schemas.microsoft.com/office/drawing/2014/main" val="10000"/>
                  </a:ext>
                </a:extLst>
              </a:tr>
              <a:tr h="402336">
                <a:tc>
                  <a:txBody>
                    <a:bodyPr/>
                    <a:lstStyle/>
                    <a:p>
                      <a:pPr marL="0" indent="0" algn="ctr">
                        <a:buNone/>
                      </a:pPr>
                      <a:r>
                        <a:rPr lang="en-US" sz="1400" b="1" dirty="0">
                          <a:solidFill>
                            <a:srgbClr val="2E78C2"/>
                          </a:solidFill>
                          <a:latin typeface="Calibri" pitchFamily="34" charset="0"/>
                          <a:ea typeface="Calibri" pitchFamily="34" charset="-122"/>
                          <a:cs typeface="Calibri" pitchFamily="34" charset="-120"/>
                        </a:rPr>
                        <a:t>a)</a:t>
                      </a:r>
                      <a:endParaRPr lang="en-US" sz="14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400" b="1" dirty="0">
                          <a:solidFill>
                            <a:srgbClr val="1F2D3D"/>
                          </a:solidFill>
                          <a:latin typeface="Calibri" pitchFamily="34" charset="0"/>
                          <a:ea typeface="Calibri" pitchFamily="34" charset="-122"/>
                          <a:cs typeface="Calibri" pitchFamily="34" charset="-120"/>
                        </a:rPr>
                        <a:t>Ler grafo.txt</a:t>
                      </a:r>
                      <a:endParaRPr lang="en-US" sz="14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300" dirty="0">
                          <a:solidFill>
                            <a:srgbClr val="3E4C59"/>
                          </a:solidFill>
                          <a:latin typeface="Courier New" pitchFamily="34" charset="0"/>
                          <a:ea typeface="Courier New" pitchFamily="34" charset="-122"/>
                          <a:cs typeface="Courier New" pitchFamily="34" charset="-120"/>
                        </a:rPr>
                        <a:t>lerArquivo</a:t>
                      </a:r>
                      <a:endParaRPr lang="en-US" sz="1300" dirty="0">
                        <a:latin typeface="Courier New" charset="0"/>
                        <a:ea typeface="Courier New" charset="0"/>
                        <a:cs typeface="Courier New"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400" dirty="0">
                          <a:solidFill>
                            <a:srgbClr val="3E4C59"/>
                          </a:solidFill>
                          <a:latin typeface="Calibri" pitchFamily="34" charset="0"/>
                          <a:ea typeface="Calibri" pitchFamily="34" charset="-122"/>
                          <a:cs typeface="Calibri" pitchFamily="34" charset="-120"/>
                        </a:rPr>
                        <a:t>Valida o tipo e a ordem dos vértices</a:t>
                      </a:r>
                      <a:endParaRPr lang="en-US" sz="14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lgn="ctr">
                        <a:buNone/>
                      </a:pPr>
                      <a:r>
                        <a:rPr lang="en-US" sz="1400" b="1" dirty="0">
                          <a:solidFill>
                            <a:srgbClr val="2E78C2"/>
                          </a:solidFill>
                          <a:latin typeface="Calibri" pitchFamily="34" charset="0"/>
                          <a:ea typeface="Calibri" pitchFamily="34" charset="-122"/>
                          <a:cs typeface="Calibri" pitchFamily="34" charset="-120"/>
                        </a:rPr>
                        <a:t>b)</a:t>
                      </a:r>
                      <a:endParaRPr lang="en-US" sz="14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3F6FA"/>
                    </a:solidFill>
                  </a:tcPr>
                </a:tc>
                <a:tc>
                  <a:txBody>
                    <a:bodyPr/>
                    <a:lstStyle/>
                    <a:p>
                      <a:pPr marL="0" indent="0">
                        <a:buNone/>
                      </a:pPr>
                      <a:r>
                        <a:rPr lang="en-US" sz="1400" b="1" dirty="0">
                          <a:solidFill>
                            <a:srgbClr val="1F2D3D"/>
                          </a:solidFill>
                          <a:latin typeface="Calibri" pitchFamily="34" charset="0"/>
                          <a:ea typeface="Calibri" pitchFamily="34" charset="-122"/>
                          <a:cs typeface="Calibri" pitchFamily="34" charset="-120"/>
                        </a:rPr>
                        <a:t>Gravar grafo.txt</a:t>
                      </a:r>
                      <a:endParaRPr lang="en-US" sz="14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3F6FA"/>
                    </a:solidFill>
                  </a:tcPr>
                </a:tc>
                <a:tc>
                  <a:txBody>
                    <a:bodyPr/>
                    <a:lstStyle/>
                    <a:p>
                      <a:pPr marL="0" indent="0">
                        <a:buNone/>
                      </a:pPr>
                      <a:r>
                        <a:rPr lang="en-US" sz="1300" dirty="0">
                          <a:solidFill>
                            <a:srgbClr val="3E4C59"/>
                          </a:solidFill>
                          <a:latin typeface="Courier New" pitchFamily="34" charset="0"/>
                          <a:ea typeface="Courier New" pitchFamily="34" charset="-122"/>
                          <a:cs typeface="Courier New" pitchFamily="34" charset="-120"/>
                        </a:rPr>
                        <a:t>gravarArquivo</a:t>
                      </a:r>
                      <a:endParaRPr lang="en-US" sz="1300" dirty="0">
                        <a:latin typeface="Courier New" charset="0"/>
                        <a:ea typeface="Courier New" charset="0"/>
                        <a:cs typeface="Courier New"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3F6FA"/>
                    </a:solidFill>
                  </a:tcPr>
                </a:tc>
                <a:tc>
                  <a:txBody>
                    <a:bodyPr/>
                    <a:lstStyle/>
                    <a:p>
                      <a:pPr marL="0" indent="0">
                        <a:buNone/>
                      </a:pPr>
                      <a:r>
                        <a:rPr lang="en-US" sz="1400" dirty="0">
                          <a:solidFill>
                            <a:srgbClr val="3E4C59"/>
                          </a:solidFill>
                          <a:latin typeface="Calibri" pitchFamily="34" charset="0"/>
                          <a:ea typeface="Calibri" pitchFamily="34" charset="-122"/>
                          <a:cs typeface="Calibri" pitchFamily="34" charset="-120"/>
                        </a:rPr>
                        <a:t>Mesmo formato; cada aresta uma vez só</a:t>
                      </a:r>
                      <a:endParaRPr lang="en-US" sz="14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3F6FA"/>
                    </a:solidFill>
                  </a:tcPr>
                </a:tc>
                <a:extLst>
                  <a:ext uri="{0D108BD9-81ED-4DB2-BD59-A6C34878D82A}">
                    <a16:rowId xmlns:a16="http://schemas.microsoft.com/office/drawing/2014/main" val="10002"/>
                  </a:ext>
                </a:extLst>
              </a:tr>
              <a:tr h="402336">
                <a:tc>
                  <a:txBody>
                    <a:bodyPr/>
                    <a:lstStyle/>
                    <a:p>
                      <a:pPr marL="0" indent="0" algn="ctr">
                        <a:buNone/>
                      </a:pPr>
                      <a:r>
                        <a:rPr lang="en-US" sz="1400" b="1" dirty="0">
                          <a:solidFill>
                            <a:srgbClr val="2E78C2"/>
                          </a:solidFill>
                          <a:latin typeface="Calibri" pitchFamily="34" charset="0"/>
                          <a:ea typeface="Calibri" pitchFamily="34" charset="-122"/>
                          <a:cs typeface="Calibri" pitchFamily="34" charset="-120"/>
                        </a:rPr>
                        <a:t>c)</a:t>
                      </a:r>
                      <a:endParaRPr lang="en-US" sz="14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400" b="1" dirty="0">
                          <a:solidFill>
                            <a:srgbClr val="1F2D3D"/>
                          </a:solidFill>
                          <a:latin typeface="Calibri" pitchFamily="34" charset="0"/>
                          <a:ea typeface="Calibri" pitchFamily="34" charset="-122"/>
                          <a:cs typeface="Calibri" pitchFamily="34" charset="-120"/>
                        </a:rPr>
                        <a:t>Inserir vértice</a:t>
                      </a:r>
                      <a:endParaRPr lang="en-US" sz="14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300" dirty="0">
                          <a:solidFill>
                            <a:srgbClr val="3E4C59"/>
                          </a:solidFill>
                          <a:latin typeface="Courier New" pitchFamily="34" charset="0"/>
                          <a:ea typeface="Courier New" pitchFamily="34" charset="-122"/>
                          <a:cs typeface="Courier New" pitchFamily="34" charset="-120"/>
                        </a:rPr>
                        <a:t>insereV</a:t>
                      </a:r>
                      <a:endParaRPr lang="en-US" sz="1300" dirty="0">
                        <a:latin typeface="Courier New" charset="0"/>
                        <a:ea typeface="Courier New" charset="0"/>
                        <a:cs typeface="Courier New"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400" dirty="0">
                          <a:solidFill>
                            <a:srgbClr val="3E4C59"/>
                          </a:solidFill>
                          <a:latin typeface="Calibri" pitchFamily="34" charset="0"/>
                          <a:ea typeface="Calibri" pitchFamily="34" charset="-122"/>
                          <a:cs typeface="Calibri" pitchFamily="34" charset="-120"/>
                        </a:rPr>
                        <a:t>Pede rótulo e chuva (mm)</a:t>
                      </a:r>
                      <a:endParaRPr lang="en-US" sz="14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extLst>
                  <a:ext uri="{0D108BD9-81ED-4DB2-BD59-A6C34878D82A}">
                    <a16:rowId xmlns:a16="http://schemas.microsoft.com/office/drawing/2014/main" val="10003"/>
                  </a:ext>
                </a:extLst>
              </a:tr>
              <a:tr h="402336">
                <a:tc>
                  <a:txBody>
                    <a:bodyPr/>
                    <a:lstStyle/>
                    <a:p>
                      <a:pPr marL="0" indent="0" algn="ctr">
                        <a:buNone/>
                      </a:pPr>
                      <a:r>
                        <a:rPr lang="en-US" sz="1400" b="1" dirty="0">
                          <a:solidFill>
                            <a:srgbClr val="2E78C2"/>
                          </a:solidFill>
                          <a:latin typeface="Calibri" pitchFamily="34" charset="0"/>
                          <a:ea typeface="Calibri" pitchFamily="34" charset="-122"/>
                          <a:cs typeface="Calibri" pitchFamily="34" charset="-120"/>
                        </a:rPr>
                        <a:t>d)</a:t>
                      </a:r>
                      <a:endParaRPr lang="en-US" sz="14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3F6FA"/>
                    </a:solidFill>
                  </a:tcPr>
                </a:tc>
                <a:tc>
                  <a:txBody>
                    <a:bodyPr/>
                    <a:lstStyle/>
                    <a:p>
                      <a:pPr marL="0" indent="0">
                        <a:buNone/>
                      </a:pPr>
                      <a:r>
                        <a:rPr lang="en-US" sz="1400" b="1" dirty="0">
                          <a:solidFill>
                            <a:srgbClr val="1F2D3D"/>
                          </a:solidFill>
                          <a:latin typeface="Calibri" pitchFamily="34" charset="0"/>
                          <a:ea typeface="Calibri" pitchFamily="34" charset="-122"/>
                          <a:cs typeface="Calibri" pitchFamily="34" charset="-120"/>
                        </a:rPr>
                        <a:t>Inserir aresta</a:t>
                      </a:r>
                      <a:endParaRPr lang="en-US" sz="14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3F6FA"/>
                    </a:solidFill>
                  </a:tcPr>
                </a:tc>
                <a:tc>
                  <a:txBody>
                    <a:bodyPr/>
                    <a:lstStyle/>
                    <a:p>
                      <a:pPr marL="0" indent="0">
                        <a:buNone/>
                      </a:pPr>
                      <a:r>
                        <a:rPr lang="en-US" sz="1300" dirty="0">
                          <a:solidFill>
                            <a:srgbClr val="3E4C59"/>
                          </a:solidFill>
                          <a:latin typeface="Courier New" pitchFamily="34" charset="0"/>
                          <a:ea typeface="Courier New" pitchFamily="34" charset="-122"/>
                          <a:cs typeface="Courier New" pitchFamily="34" charset="-120"/>
                        </a:rPr>
                        <a:t>insereA</a:t>
                      </a:r>
                      <a:endParaRPr lang="en-US" sz="1300" dirty="0">
                        <a:latin typeface="Courier New" charset="0"/>
                        <a:ea typeface="Courier New" charset="0"/>
                        <a:cs typeface="Courier New"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3F6FA"/>
                    </a:solidFill>
                  </a:tcPr>
                </a:tc>
                <a:tc>
                  <a:txBody>
                    <a:bodyPr/>
                    <a:lstStyle/>
                    <a:p>
                      <a:pPr marL="0" indent="0">
                        <a:buNone/>
                      </a:pPr>
                      <a:r>
                        <a:rPr lang="en-US" sz="1400" dirty="0">
                          <a:solidFill>
                            <a:srgbClr val="3E4C59"/>
                          </a:solidFill>
                          <a:latin typeface="Calibri" pitchFamily="34" charset="0"/>
                          <a:ea typeface="Calibri" pitchFamily="34" charset="-122"/>
                          <a:cs typeface="Calibri" pitchFamily="34" charset="-120"/>
                        </a:rPr>
                        <a:t>Recusa laço e aresta repetida (grafo simples)</a:t>
                      </a:r>
                      <a:endParaRPr lang="en-US" sz="14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3F6FA"/>
                    </a:solidFill>
                  </a:tcPr>
                </a:tc>
                <a:extLst>
                  <a:ext uri="{0D108BD9-81ED-4DB2-BD59-A6C34878D82A}">
                    <a16:rowId xmlns:a16="http://schemas.microsoft.com/office/drawing/2014/main" val="10004"/>
                  </a:ext>
                </a:extLst>
              </a:tr>
              <a:tr h="402336">
                <a:tc>
                  <a:txBody>
                    <a:bodyPr/>
                    <a:lstStyle/>
                    <a:p>
                      <a:pPr marL="0" indent="0" algn="ctr">
                        <a:buNone/>
                      </a:pPr>
                      <a:r>
                        <a:rPr lang="en-US" sz="1400" b="1" dirty="0">
                          <a:solidFill>
                            <a:srgbClr val="2E78C2"/>
                          </a:solidFill>
                          <a:latin typeface="Calibri" pitchFamily="34" charset="0"/>
                          <a:ea typeface="Calibri" pitchFamily="34" charset="-122"/>
                          <a:cs typeface="Calibri" pitchFamily="34" charset="-120"/>
                        </a:rPr>
                        <a:t>e)</a:t>
                      </a:r>
                      <a:endParaRPr lang="en-US" sz="14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400" b="1" dirty="0">
                          <a:solidFill>
                            <a:srgbClr val="1F2D3D"/>
                          </a:solidFill>
                          <a:latin typeface="Calibri" pitchFamily="34" charset="0"/>
                          <a:ea typeface="Calibri" pitchFamily="34" charset="-122"/>
                          <a:cs typeface="Calibri" pitchFamily="34" charset="-120"/>
                        </a:rPr>
                        <a:t>Remover vértice</a:t>
                      </a:r>
                      <a:endParaRPr lang="en-US" sz="14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300" dirty="0">
                          <a:solidFill>
                            <a:srgbClr val="3E4C59"/>
                          </a:solidFill>
                          <a:latin typeface="Courier New" pitchFamily="34" charset="0"/>
                          <a:ea typeface="Courier New" pitchFamily="34" charset="-122"/>
                          <a:cs typeface="Courier New" pitchFamily="34" charset="-120"/>
                        </a:rPr>
                        <a:t>removeV</a:t>
                      </a:r>
                      <a:endParaRPr lang="en-US" sz="1300" dirty="0">
                        <a:latin typeface="Courier New" charset="0"/>
                        <a:ea typeface="Courier New" charset="0"/>
                        <a:cs typeface="Courier New"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400" dirty="0">
                          <a:solidFill>
                            <a:srgbClr val="3E4C59"/>
                          </a:solidFill>
                          <a:latin typeface="Calibri" pitchFamily="34" charset="0"/>
                          <a:ea typeface="Calibri" pitchFamily="34" charset="-122"/>
                          <a:cs typeface="Calibri" pitchFamily="34" charset="-120"/>
                        </a:rPr>
                        <a:t>Remove as arestas incidentes e renumera w &gt; v</a:t>
                      </a:r>
                      <a:endParaRPr lang="en-US" sz="14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extLst>
                  <a:ext uri="{0D108BD9-81ED-4DB2-BD59-A6C34878D82A}">
                    <a16:rowId xmlns:a16="http://schemas.microsoft.com/office/drawing/2014/main" val="10005"/>
                  </a:ext>
                </a:extLst>
              </a:tr>
              <a:tr h="402336">
                <a:tc>
                  <a:txBody>
                    <a:bodyPr/>
                    <a:lstStyle/>
                    <a:p>
                      <a:pPr marL="0" indent="0" algn="ctr">
                        <a:buNone/>
                      </a:pPr>
                      <a:r>
                        <a:rPr lang="en-US" sz="1400" b="1" dirty="0">
                          <a:solidFill>
                            <a:srgbClr val="2E78C2"/>
                          </a:solidFill>
                          <a:latin typeface="Calibri" pitchFamily="34" charset="0"/>
                          <a:ea typeface="Calibri" pitchFamily="34" charset="-122"/>
                          <a:cs typeface="Calibri" pitchFamily="34" charset="-120"/>
                        </a:rPr>
                        <a:t>f)</a:t>
                      </a:r>
                      <a:endParaRPr lang="en-US" sz="14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3F6FA"/>
                    </a:solidFill>
                  </a:tcPr>
                </a:tc>
                <a:tc>
                  <a:txBody>
                    <a:bodyPr/>
                    <a:lstStyle/>
                    <a:p>
                      <a:pPr marL="0" indent="0">
                        <a:buNone/>
                      </a:pPr>
                      <a:r>
                        <a:rPr lang="en-US" sz="1400" b="1" dirty="0">
                          <a:solidFill>
                            <a:srgbClr val="1F2D3D"/>
                          </a:solidFill>
                          <a:latin typeface="Calibri" pitchFamily="34" charset="0"/>
                          <a:ea typeface="Calibri" pitchFamily="34" charset="-122"/>
                          <a:cs typeface="Calibri" pitchFamily="34" charset="-120"/>
                        </a:rPr>
                        <a:t>Remover aresta</a:t>
                      </a:r>
                      <a:endParaRPr lang="en-US" sz="14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3F6FA"/>
                    </a:solidFill>
                  </a:tcPr>
                </a:tc>
                <a:tc>
                  <a:txBody>
                    <a:bodyPr/>
                    <a:lstStyle/>
                    <a:p>
                      <a:pPr marL="0" indent="0">
                        <a:buNone/>
                      </a:pPr>
                      <a:r>
                        <a:rPr lang="en-US" sz="1300" dirty="0">
                          <a:solidFill>
                            <a:srgbClr val="3E4C59"/>
                          </a:solidFill>
                          <a:latin typeface="Courier New" pitchFamily="34" charset="0"/>
                          <a:ea typeface="Courier New" pitchFamily="34" charset="-122"/>
                          <a:cs typeface="Courier New" pitchFamily="34" charset="-120"/>
                        </a:rPr>
                        <a:t>removeA</a:t>
                      </a:r>
                      <a:endParaRPr lang="en-US" sz="1300" dirty="0">
                        <a:latin typeface="Courier New" charset="0"/>
                        <a:ea typeface="Courier New" charset="0"/>
                        <a:cs typeface="Courier New"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3F6FA"/>
                    </a:solidFill>
                  </a:tcPr>
                </a:tc>
                <a:tc>
                  <a:txBody>
                    <a:bodyPr/>
                    <a:lstStyle/>
                    <a:p>
                      <a:pPr marL="0" indent="0">
                        <a:buNone/>
                      </a:pPr>
                      <a:r>
                        <a:rPr lang="en-US" sz="1400" dirty="0">
                          <a:solidFill>
                            <a:srgbClr val="3E4C59"/>
                          </a:solidFill>
                          <a:latin typeface="Calibri" pitchFamily="34" charset="0"/>
                          <a:ea typeface="Calibri" pitchFamily="34" charset="-122"/>
                          <a:cs typeface="Calibri" pitchFamily="34" charset="-120"/>
                        </a:rPr>
                        <a:t>Avisa se a aresta não existe</a:t>
                      </a:r>
                      <a:endParaRPr lang="en-US" sz="14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3F6FA"/>
                    </a:solidFill>
                  </a:tcPr>
                </a:tc>
                <a:extLst>
                  <a:ext uri="{0D108BD9-81ED-4DB2-BD59-A6C34878D82A}">
                    <a16:rowId xmlns:a16="http://schemas.microsoft.com/office/drawing/2014/main" val="10006"/>
                  </a:ext>
                </a:extLst>
              </a:tr>
              <a:tr h="402336">
                <a:tc>
                  <a:txBody>
                    <a:bodyPr/>
                    <a:lstStyle/>
                    <a:p>
                      <a:pPr marL="0" indent="0" algn="ctr">
                        <a:buNone/>
                      </a:pPr>
                      <a:r>
                        <a:rPr lang="en-US" sz="1400" b="1" dirty="0">
                          <a:solidFill>
                            <a:srgbClr val="2E78C2"/>
                          </a:solidFill>
                          <a:latin typeface="Calibri" pitchFamily="34" charset="0"/>
                          <a:ea typeface="Calibri" pitchFamily="34" charset="-122"/>
                          <a:cs typeface="Calibri" pitchFamily="34" charset="-120"/>
                        </a:rPr>
                        <a:t>g)</a:t>
                      </a:r>
                      <a:endParaRPr lang="en-US" sz="14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400" b="1" dirty="0">
                          <a:solidFill>
                            <a:srgbClr val="1F2D3D"/>
                          </a:solidFill>
                          <a:latin typeface="Calibri" pitchFamily="34" charset="0"/>
                          <a:ea typeface="Calibri" pitchFamily="34" charset="-122"/>
                          <a:cs typeface="Calibri" pitchFamily="34" charset="-120"/>
                        </a:rPr>
                        <a:t>Mostrar arquivo</a:t>
                      </a:r>
                      <a:endParaRPr lang="en-US" sz="14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300" dirty="0">
                          <a:solidFill>
                            <a:srgbClr val="3E4C59"/>
                          </a:solidFill>
                          <a:latin typeface="Courier New" pitchFamily="34" charset="0"/>
                          <a:ea typeface="Courier New" pitchFamily="34" charset="-122"/>
                          <a:cs typeface="Courier New" pitchFamily="34" charset="-120"/>
                        </a:rPr>
                        <a:t>lerArquivo</a:t>
                      </a:r>
                      <a:endParaRPr lang="en-US" sz="1300" dirty="0">
                        <a:latin typeface="Courier New" charset="0"/>
                        <a:ea typeface="Courier New" charset="0"/>
                        <a:cs typeface="Courier New"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400" dirty="0">
                          <a:solidFill>
                            <a:srgbClr val="3E4C59"/>
                          </a:solidFill>
                          <a:latin typeface="Calibri" pitchFamily="34" charset="0"/>
                          <a:ea typeface="Calibri" pitchFamily="34" charset="-122"/>
                          <a:cs typeface="Calibri" pitchFamily="34" charset="-120"/>
                        </a:rPr>
                        <a:t>Tabela do disco, sem mexer na memória</a:t>
                      </a:r>
                      <a:endParaRPr lang="en-US" sz="14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extLst>
                  <a:ext uri="{0D108BD9-81ED-4DB2-BD59-A6C34878D82A}">
                    <a16:rowId xmlns:a16="http://schemas.microsoft.com/office/drawing/2014/main" val="10007"/>
                  </a:ext>
                </a:extLst>
              </a:tr>
              <a:tr h="402336">
                <a:tc>
                  <a:txBody>
                    <a:bodyPr/>
                    <a:lstStyle/>
                    <a:p>
                      <a:pPr marL="0" indent="0" algn="ctr">
                        <a:buNone/>
                      </a:pPr>
                      <a:r>
                        <a:rPr lang="en-US" sz="1400" b="1" dirty="0">
                          <a:solidFill>
                            <a:srgbClr val="2E78C2"/>
                          </a:solidFill>
                          <a:latin typeface="Calibri" pitchFamily="34" charset="0"/>
                          <a:ea typeface="Calibri" pitchFamily="34" charset="-122"/>
                          <a:cs typeface="Calibri" pitchFamily="34" charset="-120"/>
                        </a:rPr>
                        <a:t>h)</a:t>
                      </a:r>
                      <a:endParaRPr lang="en-US" sz="14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3F6FA"/>
                    </a:solidFill>
                  </a:tcPr>
                </a:tc>
                <a:tc>
                  <a:txBody>
                    <a:bodyPr/>
                    <a:lstStyle/>
                    <a:p>
                      <a:pPr marL="0" indent="0">
                        <a:buNone/>
                      </a:pPr>
                      <a:r>
                        <a:rPr lang="en-US" sz="1400" b="1" dirty="0">
                          <a:solidFill>
                            <a:srgbClr val="1F2D3D"/>
                          </a:solidFill>
                          <a:latin typeface="Calibri" pitchFamily="34" charset="0"/>
                          <a:ea typeface="Calibri" pitchFamily="34" charset="-122"/>
                          <a:cs typeface="Calibri" pitchFamily="34" charset="-120"/>
                        </a:rPr>
                        <a:t>Mostrar grafo</a:t>
                      </a:r>
                      <a:endParaRPr lang="en-US" sz="14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3F6FA"/>
                    </a:solidFill>
                  </a:tcPr>
                </a:tc>
                <a:tc>
                  <a:txBody>
                    <a:bodyPr/>
                    <a:lstStyle/>
                    <a:p>
                      <a:pPr marL="0" indent="0">
                        <a:buNone/>
                      </a:pPr>
                      <a:r>
                        <a:rPr lang="en-US" sz="1300" dirty="0">
                          <a:solidFill>
                            <a:srgbClr val="3E4C59"/>
                          </a:solidFill>
                          <a:latin typeface="Courier New" pitchFamily="34" charset="0"/>
                          <a:ea typeface="Courier New" pitchFamily="34" charset="-122"/>
                          <a:cs typeface="Courier New" pitchFamily="34" charset="-120"/>
                        </a:rPr>
                        <a:t>show</a:t>
                      </a:r>
                      <a:endParaRPr lang="en-US" sz="1300" dirty="0">
                        <a:latin typeface="Courier New" charset="0"/>
                        <a:ea typeface="Courier New" charset="0"/>
                        <a:cs typeface="Courier New"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3F6FA"/>
                    </a:solidFill>
                  </a:tcPr>
                </a:tc>
                <a:tc>
                  <a:txBody>
                    <a:bodyPr/>
                    <a:lstStyle/>
                    <a:p>
                      <a:pPr marL="0" indent="0">
                        <a:buNone/>
                      </a:pPr>
                      <a:r>
                        <a:rPr lang="en-US" sz="1400" dirty="0">
                          <a:solidFill>
                            <a:srgbClr val="3E4C59"/>
                          </a:solidFill>
                          <a:latin typeface="Calibri" pitchFamily="34" charset="0"/>
                          <a:ea typeface="Calibri" pitchFamily="34" charset="-122"/>
                          <a:cs typeface="Calibri" pitchFamily="34" charset="-120"/>
                        </a:rPr>
                        <a:t>Lista de adjacência da memória</a:t>
                      </a:r>
                      <a:endParaRPr lang="en-US" sz="14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3F6FA"/>
                    </a:solidFill>
                  </a:tcPr>
                </a:tc>
                <a:extLst>
                  <a:ext uri="{0D108BD9-81ED-4DB2-BD59-A6C34878D82A}">
                    <a16:rowId xmlns:a16="http://schemas.microsoft.com/office/drawing/2014/main" val="10008"/>
                  </a:ext>
                </a:extLst>
              </a:tr>
              <a:tr h="402336">
                <a:tc>
                  <a:txBody>
                    <a:bodyPr/>
                    <a:lstStyle/>
                    <a:p>
                      <a:pPr marL="0" indent="0" algn="ctr">
                        <a:buNone/>
                      </a:pPr>
                      <a:r>
                        <a:rPr lang="en-US" sz="1400" b="1" dirty="0">
                          <a:solidFill>
                            <a:srgbClr val="2E78C2"/>
                          </a:solidFill>
                          <a:latin typeface="Calibri" pitchFamily="34" charset="0"/>
                          <a:ea typeface="Calibri" pitchFamily="34" charset="-122"/>
                          <a:cs typeface="Calibri" pitchFamily="34" charset="-120"/>
                        </a:rPr>
                        <a:t>i)</a:t>
                      </a:r>
                      <a:endParaRPr lang="en-US" sz="14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400" b="1" dirty="0">
                          <a:solidFill>
                            <a:srgbClr val="1F2D3D"/>
                          </a:solidFill>
                          <a:latin typeface="Calibri" pitchFamily="34" charset="0"/>
                          <a:ea typeface="Calibri" pitchFamily="34" charset="-122"/>
                          <a:cs typeface="Calibri" pitchFamily="34" charset="-120"/>
                        </a:rPr>
                        <a:t>Conexidade</a:t>
                      </a:r>
                      <a:endParaRPr lang="en-US" sz="14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300" dirty="0">
                          <a:solidFill>
                            <a:srgbClr val="3E4C59"/>
                          </a:solidFill>
                          <a:latin typeface="Courier New" pitchFamily="34" charset="0"/>
                          <a:ea typeface="Courier New" pitchFamily="34" charset="-122"/>
                          <a:cs typeface="Courier New" pitchFamily="34" charset="-120"/>
                        </a:rPr>
                        <a:t>conexidade</a:t>
                      </a:r>
                      <a:endParaRPr lang="en-US" sz="1300" dirty="0">
                        <a:latin typeface="Courier New" charset="0"/>
                        <a:ea typeface="Courier New" charset="0"/>
                        <a:cs typeface="Courier New"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400" dirty="0">
                          <a:solidFill>
                            <a:srgbClr val="3E4C59"/>
                          </a:solidFill>
                          <a:latin typeface="Calibri" pitchFamily="34" charset="0"/>
                          <a:ea typeface="Calibri" pitchFamily="34" charset="-122"/>
                          <a:cs typeface="Calibri" pitchFamily="34" charset="-120"/>
                        </a:rPr>
                        <a:t>Conexo/desconexo, ou C0–C3 + grafo reduzido</a:t>
                      </a:r>
                      <a:endParaRPr lang="en-US" sz="14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extLst>
                  <a:ext uri="{0D108BD9-81ED-4DB2-BD59-A6C34878D82A}">
                    <a16:rowId xmlns:a16="http://schemas.microsoft.com/office/drawing/2014/main" val="10009"/>
                  </a:ext>
                </a:extLst>
              </a:tr>
              <a:tr h="402336">
                <a:tc>
                  <a:txBody>
                    <a:bodyPr/>
                    <a:lstStyle/>
                    <a:p>
                      <a:pPr marL="0" indent="0" algn="ctr">
                        <a:buNone/>
                      </a:pPr>
                      <a:r>
                        <a:rPr lang="en-US" sz="1400" b="1" dirty="0">
                          <a:solidFill>
                            <a:srgbClr val="2E78C2"/>
                          </a:solidFill>
                          <a:latin typeface="Calibri" pitchFamily="34" charset="0"/>
                          <a:ea typeface="Calibri" pitchFamily="34" charset="-122"/>
                          <a:cs typeface="Calibri" pitchFamily="34" charset="-120"/>
                        </a:rPr>
                        <a:t>j)</a:t>
                      </a:r>
                      <a:endParaRPr lang="en-US" sz="14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3F6FA"/>
                    </a:solidFill>
                  </a:tcPr>
                </a:tc>
                <a:tc>
                  <a:txBody>
                    <a:bodyPr/>
                    <a:lstStyle/>
                    <a:p>
                      <a:pPr marL="0" indent="0">
                        <a:buNone/>
                      </a:pPr>
                      <a:r>
                        <a:rPr lang="en-US" sz="1400" b="1" dirty="0">
                          <a:solidFill>
                            <a:srgbClr val="1F2D3D"/>
                          </a:solidFill>
                          <a:latin typeface="Calibri" pitchFamily="34" charset="0"/>
                          <a:ea typeface="Calibri" pitchFamily="34" charset="-122"/>
                          <a:cs typeface="Calibri" pitchFamily="34" charset="-120"/>
                        </a:rPr>
                        <a:t>Encerrar</a:t>
                      </a:r>
                      <a:endParaRPr lang="en-US" sz="14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3F6FA"/>
                    </a:solidFill>
                  </a:tcPr>
                </a:tc>
                <a:tc>
                  <a:txBody>
                    <a:bodyPr/>
                    <a:lstStyle/>
                    <a:p>
                      <a:pPr marL="0" indent="0">
                        <a:buNone/>
                      </a:pPr>
                      <a:r>
                        <a:rPr lang="en-US" sz="1300" dirty="0">
                          <a:solidFill>
                            <a:srgbClr val="3E4C59"/>
                          </a:solidFill>
                          <a:latin typeface="Courier New" pitchFamily="34" charset="0"/>
                          <a:ea typeface="Courier New" pitchFamily="34" charset="-122"/>
                          <a:cs typeface="Courier New" pitchFamily="34" charset="-120"/>
                        </a:rPr>
                        <a:t>—</a:t>
                      </a:r>
                      <a:endParaRPr lang="en-US" sz="1300" dirty="0">
                        <a:latin typeface="Courier New" charset="0"/>
                        <a:ea typeface="Courier New" charset="0"/>
                        <a:cs typeface="Courier New"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3F6FA"/>
                    </a:solidFill>
                  </a:tcPr>
                </a:tc>
                <a:tc>
                  <a:txBody>
                    <a:bodyPr/>
                    <a:lstStyle/>
                    <a:p>
                      <a:pPr marL="0" indent="0">
                        <a:buNone/>
                      </a:pPr>
                      <a:r>
                        <a:rPr lang="en-US" sz="1400" dirty="0">
                          <a:solidFill>
                            <a:srgbClr val="3E4C59"/>
                          </a:solidFill>
                          <a:latin typeface="Calibri" pitchFamily="34" charset="0"/>
                          <a:ea typeface="Calibri" pitchFamily="34" charset="-122"/>
                          <a:cs typeface="Calibri" pitchFamily="34" charset="-120"/>
                        </a:rPr>
                        <a:t>Sai da aplicação</a:t>
                      </a:r>
                      <a:endParaRPr lang="en-US" sz="14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3F6FA"/>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marL="0" indent="0">
              <a:buNone/>
            </a:pPr>
            <a:r>
              <a:rPr lang="en-US" sz="1200" b="1" kern="0" spc="200" dirty="0">
                <a:solidFill>
                  <a:srgbClr val="2E78C2"/>
                </a:solidFill>
                <a:latin typeface="Calibri" pitchFamily="34" charset="0"/>
                <a:ea typeface="Calibri" pitchFamily="34" charset="-122"/>
                <a:cs typeface="Calibri" pitchFamily="34" charset="-120"/>
              </a:rPr>
              <a:t>CONEXIDADE</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t"/>
          <a:lstStyle/>
          <a:p>
            <a:pPr marL="0" indent="0">
              <a:buNone/>
            </a:pPr>
            <a:r>
              <a:rPr lang="en-US" sz="2800" b="1" dirty="0">
                <a:solidFill>
                  <a:srgbClr val="0F2A44"/>
                </a:solidFill>
                <a:latin typeface="Cambria" pitchFamily="34" charset="0"/>
                <a:ea typeface="Cambria" pitchFamily="34" charset="-122"/>
                <a:cs typeface="Cambria" pitchFamily="34" charset="-120"/>
              </a:rPr>
              <a:t>BFS no grafo </a:t>
            </a:r>
            <a:r>
              <a:rPr lang="en-US" sz="2800" b="1" dirty="0" err="1">
                <a:solidFill>
                  <a:srgbClr val="0F2A44"/>
                </a:solidFill>
                <a:latin typeface="Cambria" pitchFamily="34" charset="0"/>
                <a:ea typeface="Cambria" pitchFamily="34" charset="-122"/>
                <a:cs typeface="Cambria" pitchFamily="34" charset="-120"/>
              </a:rPr>
              <a:t>não</a:t>
            </a:r>
            <a:r>
              <a:rPr lang="en-US" sz="2800" b="1" dirty="0">
                <a:solidFill>
                  <a:srgbClr val="0F2A44"/>
                </a:solidFill>
                <a:latin typeface="Cambria" pitchFamily="34" charset="0"/>
                <a:ea typeface="Cambria" pitchFamily="34" charset="-122"/>
                <a:cs typeface="Cambria" pitchFamily="34" charset="-120"/>
              </a:rPr>
              <a:t> </a:t>
            </a:r>
            <a:r>
              <a:rPr lang="en-US" sz="2800" b="1" dirty="0" err="1">
                <a:solidFill>
                  <a:srgbClr val="0F2A44"/>
                </a:solidFill>
                <a:latin typeface="Cambria" pitchFamily="34" charset="0"/>
                <a:ea typeface="Cambria" pitchFamily="34" charset="-122"/>
                <a:cs typeface="Cambria" pitchFamily="34" charset="-120"/>
              </a:rPr>
              <a:t>orientado</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t"/>
          <a:lstStyle/>
          <a:p>
            <a:pPr marL="0" indent="0">
              <a:buNone/>
            </a:pPr>
            <a:r>
              <a:rPr lang="en-US" sz="1000" dirty="0">
                <a:solidFill>
                  <a:srgbClr val="5F6B7A"/>
                </a:solidFill>
                <a:latin typeface="Calibri" pitchFamily="34" charset="0"/>
                <a:ea typeface="Calibri" pitchFamily="34" charset="-122"/>
                <a:cs typeface="Calibri" pitchFamily="34" charset="-120"/>
              </a:rPr>
              <a:t>Análise da rede de estações com grafos · Parte 2</a:t>
            </a:r>
            <a:endParaRPr lang="en-US" sz="1000" dirty="0"/>
          </a:p>
        </p:txBody>
      </p:sp>
      <p:sp>
        <p:nvSpPr>
          <p:cNvPr id="5" name="Text 3"/>
          <p:cNvSpPr txBox="1"/>
          <p:nvPr/>
        </p:nvSpPr>
        <p:spPr>
          <a:xfrm>
            <a:off x="10728655" y="6400800"/>
            <a:ext cx="914400" cy="228600"/>
          </a:xfrm>
          <a:prstGeom prst="rect">
            <a:avLst/>
          </a:prstGeom>
          <a:noFill/>
          <a:ln/>
        </p:spPr>
        <p:txBody>
          <a:bodyPr wrap="square" lIns="0" tIns="0" rIns="0" bIns="0" rtlCol="0" anchor="t"/>
          <a:lstStyle/>
          <a:p>
            <a:pPr marL="0" indent="0" algn="r">
              <a:buNone/>
            </a:pPr>
            <a:r>
              <a:rPr lang="en-US" sz="1000" dirty="0">
                <a:solidFill>
                  <a:srgbClr val="5F6B7A"/>
                </a:solidFill>
                <a:latin typeface="Calibri" pitchFamily="34" charset="0"/>
                <a:ea typeface="Calibri" pitchFamily="34" charset="-122"/>
                <a:cs typeface="Calibri" pitchFamily="34" charset="-120"/>
              </a:rPr>
              <a:t>11</a:t>
            </a:r>
            <a:endParaRPr lang="en-US" sz="1000" dirty="0"/>
          </a:p>
        </p:txBody>
      </p:sp>
      <p:sp>
        <p:nvSpPr>
          <p:cNvPr id="6" name="Shape 4"/>
          <p:cNvSpPr/>
          <p:nvPr/>
        </p:nvSpPr>
        <p:spPr>
          <a:xfrm>
            <a:off x="3398367" y="1480907"/>
            <a:ext cx="5394960" cy="1874520"/>
          </a:xfrm>
          <a:prstGeom prst="roundRect">
            <a:avLst>
              <a:gd name="adj" fmla="val 3902"/>
            </a:avLst>
          </a:prstGeom>
          <a:solidFill>
            <a:srgbClr val="F3F6FA"/>
          </a:solidFill>
          <a:ln w="12700">
            <a:solidFill>
              <a:srgbClr val="F3F6FA"/>
            </a:solidFill>
            <a:prstDash val="solid"/>
          </a:ln>
        </p:spPr>
        <p:txBody>
          <a:bodyPr/>
          <a:lstStyle/>
          <a:p>
            <a:endParaRPr lang="pt-BR"/>
          </a:p>
        </p:txBody>
      </p:sp>
      <p:sp>
        <p:nvSpPr>
          <p:cNvPr id="7" name="Text 5"/>
          <p:cNvSpPr txBox="1"/>
          <p:nvPr/>
        </p:nvSpPr>
        <p:spPr>
          <a:xfrm>
            <a:off x="3672687" y="1645499"/>
            <a:ext cx="4846320" cy="365760"/>
          </a:xfrm>
          <a:prstGeom prst="rect">
            <a:avLst/>
          </a:prstGeom>
          <a:noFill/>
          <a:ln/>
        </p:spPr>
        <p:txBody>
          <a:bodyPr wrap="square" lIns="0" tIns="0" rIns="0" bIns="0" rtlCol="0" anchor="t"/>
          <a:lstStyle/>
          <a:p>
            <a:pPr marL="0" indent="0">
              <a:buNone/>
            </a:pPr>
            <a:r>
              <a:rPr lang="en-US" sz="1700" b="1" dirty="0">
                <a:solidFill>
                  <a:srgbClr val="1F2D3D"/>
                </a:solidFill>
                <a:latin typeface="Calibri" pitchFamily="34" charset="0"/>
                <a:ea typeface="Calibri" pitchFamily="34" charset="-122"/>
                <a:cs typeface="Calibri" pitchFamily="34" charset="-120"/>
              </a:rPr>
              <a:t>Não orientado (nosso grafo)</a:t>
            </a:r>
            <a:endParaRPr lang="en-US" sz="1700" dirty="0"/>
          </a:p>
        </p:txBody>
      </p:sp>
      <p:sp>
        <p:nvSpPr>
          <p:cNvPr id="8" name="Text 6"/>
          <p:cNvSpPr txBox="1"/>
          <p:nvPr/>
        </p:nvSpPr>
        <p:spPr>
          <a:xfrm>
            <a:off x="3672687" y="2029547"/>
            <a:ext cx="4846320" cy="777240"/>
          </a:xfrm>
          <a:prstGeom prst="rect">
            <a:avLst/>
          </a:prstGeom>
          <a:noFill/>
          <a:ln/>
        </p:spPr>
        <p:txBody>
          <a:bodyPr wrap="square" lIns="0" tIns="0" rIns="0" bIns="0" rtlCol="0" anchor="t"/>
          <a:lstStyle/>
          <a:p>
            <a:pPr marL="0" indent="0">
              <a:buNone/>
            </a:pPr>
            <a:r>
              <a:rPr lang="en-US" sz="1400" dirty="0">
                <a:solidFill>
                  <a:srgbClr val="3E4C59"/>
                </a:solidFill>
                <a:latin typeface="Calibri" pitchFamily="34" charset="0"/>
                <a:ea typeface="Calibri" pitchFamily="34" charset="-122"/>
                <a:cs typeface="Calibri" pitchFamily="34" charset="-120"/>
              </a:rPr>
              <a:t>Busca em largura a partir do menor vértice não visitado. Tudo o que ela alcança é uma componente. Repete até visitar todos.</a:t>
            </a:r>
            <a:endParaRPr lang="en-US" sz="1400" dirty="0"/>
          </a:p>
        </p:txBody>
      </p:sp>
      <p:sp>
        <p:nvSpPr>
          <p:cNvPr id="9" name="Text 7"/>
          <p:cNvSpPr txBox="1"/>
          <p:nvPr/>
        </p:nvSpPr>
        <p:spPr>
          <a:xfrm>
            <a:off x="3672687" y="2870795"/>
            <a:ext cx="4846320" cy="320040"/>
          </a:xfrm>
          <a:prstGeom prst="rect">
            <a:avLst/>
          </a:prstGeom>
          <a:noFill/>
          <a:ln/>
        </p:spPr>
        <p:txBody>
          <a:bodyPr wrap="square" lIns="0" tIns="0" rIns="0" bIns="0" rtlCol="0" anchor="t"/>
          <a:lstStyle/>
          <a:p>
            <a:pPr marL="0" indent="0">
              <a:buNone/>
            </a:pPr>
            <a:r>
              <a:rPr lang="en-US" sz="1500" b="1" dirty="0">
                <a:solidFill>
                  <a:srgbClr val="2E78C2"/>
                </a:solidFill>
                <a:latin typeface="Calibri" pitchFamily="34" charset="0"/>
                <a:ea typeface="Calibri" pitchFamily="34" charset="-122"/>
                <a:cs typeface="Calibri" pitchFamily="34" charset="-120"/>
              </a:rPr>
              <a:t>Rede do CGE: CONEXO, 1 componente</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956414090"/>
              </p:ext>
            </p:extLst>
          </p:nvPr>
        </p:nvGraphicFramePr>
        <p:xfrm>
          <a:off x="3398367" y="3584027"/>
          <a:ext cx="5394960" cy="2286000"/>
        </p:xfrm>
        <a:graphic>
          <a:graphicData uri="http://schemas.openxmlformats.org/drawingml/2006/table">
            <a:tbl>
              <a:tblPr/>
              <a:tblGrid>
                <a:gridCol w="1600200">
                  <a:extLst>
                    <a:ext uri="{9D8B030D-6E8A-4147-A177-3AD203B41FA5}">
                      <a16:colId xmlns:a16="http://schemas.microsoft.com/office/drawing/2014/main" val="20000"/>
                    </a:ext>
                  </a:extLst>
                </a:gridCol>
                <a:gridCol w="3794760">
                  <a:extLst>
                    <a:ext uri="{9D8B030D-6E8A-4147-A177-3AD203B41FA5}">
                      <a16:colId xmlns:a16="http://schemas.microsoft.com/office/drawing/2014/main" val="20001"/>
                    </a:ext>
                  </a:extLst>
                </a:gridCol>
              </a:tblGrid>
              <a:tr h="45720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Orientado</a:t>
                      </a:r>
                      <a:endParaRPr lang="en-US" sz="13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0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Significado</a:t>
                      </a:r>
                      <a:endParaRPr lang="en-US" sz="13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0F2A44"/>
                    </a:solidFill>
                  </a:tcPr>
                </a:tc>
                <a:extLst>
                  <a:ext uri="{0D108BD9-81ED-4DB2-BD59-A6C34878D82A}">
                    <a16:rowId xmlns:a16="http://schemas.microsoft.com/office/drawing/2014/main" val="10000"/>
                  </a:ext>
                </a:extLst>
              </a:tr>
              <a:tr h="457200">
                <a:tc>
                  <a:txBody>
                    <a:bodyPr/>
                    <a:lstStyle/>
                    <a:p>
                      <a:pPr marL="0" indent="0">
                        <a:buNone/>
                      </a:pPr>
                      <a:r>
                        <a:rPr lang="en-US" sz="1300" b="1" dirty="0">
                          <a:solidFill>
                            <a:srgbClr val="1F2D3D"/>
                          </a:solidFill>
                          <a:latin typeface="Calibri" pitchFamily="34" charset="0"/>
                          <a:ea typeface="Calibri" pitchFamily="34" charset="-122"/>
                          <a:cs typeface="Calibri" pitchFamily="34" charset="-120"/>
                        </a:rPr>
                        <a:t>C3 forte</a:t>
                      </a:r>
                      <a:endParaRPr lang="en-US" sz="13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300" dirty="0">
                          <a:solidFill>
                            <a:srgbClr val="3E4C59"/>
                          </a:solidFill>
                          <a:latin typeface="Calibri" pitchFamily="34" charset="0"/>
                          <a:ea typeface="Calibri" pitchFamily="34" charset="-122"/>
                          <a:cs typeface="Calibri" pitchFamily="34" charset="-120"/>
                        </a:rPr>
                        <a:t>Caminho de u para v e de v para u, para todo par</a:t>
                      </a:r>
                      <a:endParaRPr lang="en-US" sz="13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300" b="1" dirty="0">
                          <a:solidFill>
                            <a:srgbClr val="1F2D3D"/>
                          </a:solidFill>
                          <a:latin typeface="Calibri" pitchFamily="34" charset="0"/>
                          <a:ea typeface="Calibri" pitchFamily="34" charset="-122"/>
                          <a:cs typeface="Calibri" pitchFamily="34" charset="-120"/>
                        </a:rPr>
                        <a:t>C2 unilateral</a:t>
                      </a:r>
                      <a:endParaRPr lang="en-US" sz="13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300" dirty="0">
                          <a:solidFill>
                            <a:srgbClr val="3E4C59"/>
                          </a:solidFill>
                          <a:latin typeface="Calibri" pitchFamily="34" charset="0"/>
                          <a:ea typeface="Calibri" pitchFamily="34" charset="-122"/>
                          <a:cs typeface="Calibri" pitchFamily="34" charset="-120"/>
                        </a:rPr>
                        <a:t>Caminho em pelo menos um sentido, para todo par</a:t>
                      </a:r>
                      <a:endParaRPr lang="en-US" sz="13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300" b="1" dirty="0">
                          <a:solidFill>
                            <a:srgbClr val="1F2D3D"/>
                          </a:solidFill>
                          <a:latin typeface="Calibri" pitchFamily="34" charset="0"/>
                          <a:ea typeface="Calibri" pitchFamily="34" charset="-122"/>
                          <a:cs typeface="Calibri" pitchFamily="34" charset="-120"/>
                        </a:rPr>
                        <a:t>C1 fraco</a:t>
                      </a:r>
                      <a:endParaRPr lang="en-US" sz="13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300" dirty="0">
                          <a:solidFill>
                            <a:srgbClr val="3E4C59"/>
                          </a:solidFill>
                          <a:latin typeface="Calibri" pitchFamily="34" charset="0"/>
                          <a:ea typeface="Calibri" pitchFamily="34" charset="-122"/>
                          <a:cs typeface="Calibri" pitchFamily="34" charset="-120"/>
                        </a:rPr>
                        <a:t>Conexo só ignorando o sentido das arestas</a:t>
                      </a:r>
                      <a:endParaRPr lang="en-US" sz="13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300" b="1" dirty="0">
                          <a:solidFill>
                            <a:srgbClr val="1F2D3D"/>
                          </a:solidFill>
                          <a:latin typeface="Calibri" pitchFamily="34" charset="0"/>
                          <a:ea typeface="Calibri" pitchFamily="34" charset="-122"/>
                          <a:cs typeface="Calibri" pitchFamily="34" charset="-120"/>
                        </a:rPr>
                        <a:t>C0 desconexo</a:t>
                      </a:r>
                      <a:endParaRPr lang="en-US" sz="13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300" dirty="0">
                          <a:solidFill>
                            <a:srgbClr val="3E4C59"/>
                          </a:solidFill>
                          <a:latin typeface="Calibri" pitchFamily="34" charset="0"/>
                          <a:ea typeface="Calibri" pitchFamily="34" charset="-122"/>
                          <a:cs typeface="Calibri" pitchFamily="34" charset="-120"/>
                        </a:rPr>
                        <a:t>Nem ignorando o sentido é conexo</a:t>
                      </a:r>
                      <a:endParaRPr lang="en-US" sz="13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marL="0" indent="0">
              <a:buNone/>
            </a:pPr>
            <a:r>
              <a:rPr lang="en-US" sz="1200" b="1" kern="0" spc="200" dirty="0">
                <a:solidFill>
                  <a:srgbClr val="2E78C2"/>
                </a:solidFill>
                <a:latin typeface="Calibri" pitchFamily="34" charset="0"/>
                <a:ea typeface="Calibri" pitchFamily="34" charset="-122"/>
                <a:cs typeface="Calibri" pitchFamily="34" charset="-120"/>
              </a:rPr>
              <a:t>RESULTADOS PARCIAIS</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t"/>
          <a:lstStyle/>
          <a:p>
            <a:pPr marL="0" indent="0">
              <a:buNone/>
            </a:pPr>
            <a:r>
              <a:rPr lang="en-US" sz="2800" b="1" dirty="0">
                <a:solidFill>
                  <a:srgbClr val="0F2A44"/>
                </a:solidFill>
                <a:latin typeface="Cambria" pitchFamily="34" charset="0"/>
                <a:ea typeface="Cambria" pitchFamily="34" charset="-122"/>
                <a:cs typeface="Cambria" pitchFamily="34" charset="-120"/>
              </a:rPr>
              <a:t>Rede conexa e esparsa, com o extremo sul frágil</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t"/>
          <a:lstStyle/>
          <a:p>
            <a:pPr marL="0" indent="0">
              <a:buNone/>
            </a:pPr>
            <a:r>
              <a:rPr lang="en-US" sz="1000" dirty="0">
                <a:solidFill>
                  <a:srgbClr val="5F6B7A"/>
                </a:solidFill>
                <a:latin typeface="Calibri" pitchFamily="34" charset="0"/>
                <a:ea typeface="Calibri" pitchFamily="34" charset="-122"/>
                <a:cs typeface="Calibri" pitchFamily="34" charset="-120"/>
              </a:rPr>
              <a:t>Análise da rede de estações com grafos · Parte 2</a:t>
            </a:r>
            <a:endParaRPr lang="en-US" sz="1000" dirty="0"/>
          </a:p>
        </p:txBody>
      </p:sp>
      <p:sp>
        <p:nvSpPr>
          <p:cNvPr id="5" name="Text 3"/>
          <p:cNvSpPr txBox="1"/>
          <p:nvPr/>
        </p:nvSpPr>
        <p:spPr>
          <a:xfrm>
            <a:off x="10728655" y="6400800"/>
            <a:ext cx="914400" cy="228600"/>
          </a:xfrm>
          <a:prstGeom prst="rect">
            <a:avLst/>
          </a:prstGeom>
          <a:noFill/>
          <a:ln/>
        </p:spPr>
        <p:txBody>
          <a:bodyPr wrap="square" lIns="0" tIns="0" rIns="0" bIns="0" rtlCol="0" anchor="t"/>
          <a:lstStyle/>
          <a:p>
            <a:pPr marL="0" indent="0" algn="r">
              <a:buNone/>
            </a:pPr>
            <a:r>
              <a:rPr lang="en-US" sz="1000" dirty="0">
                <a:solidFill>
                  <a:srgbClr val="5F6B7A"/>
                </a:solidFill>
                <a:latin typeface="Calibri" pitchFamily="34" charset="0"/>
                <a:ea typeface="Calibri" pitchFamily="34" charset="-122"/>
                <a:cs typeface="Calibri" pitchFamily="34" charset="-120"/>
              </a:rPr>
              <a:t>14</a:t>
            </a:r>
            <a:endParaRPr lang="en-US" sz="1000" dirty="0"/>
          </a:p>
        </p:txBody>
      </p:sp>
      <p:sp>
        <p:nvSpPr>
          <p:cNvPr id="6" name="Shape 4"/>
          <p:cNvSpPr/>
          <p:nvPr/>
        </p:nvSpPr>
        <p:spPr>
          <a:xfrm>
            <a:off x="548640" y="1554480"/>
            <a:ext cx="2606040" cy="1280160"/>
          </a:xfrm>
          <a:prstGeom prst="roundRect">
            <a:avLst>
              <a:gd name="adj" fmla="val 5714"/>
            </a:avLst>
          </a:prstGeom>
          <a:solidFill>
            <a:srgbClr val="F3F6FA"/>
          </a:solidFill>
          <a:ln w="12700">
            <a:solidFill>
              <a:srgbClr val="F3F6FA"/>
            </a:solidFill>
            <a:prstDash val="solid"/>
          </a:ln>
        </p:spPr>
        <p:txBody>
          <a:bodyPr/>
          <a:lstStyle/>
          <a:p>
            <a:endParaRPr lang="pt-BR"/>
          </a:p>
        </p:txBody>
      </p:sp>
      <p:sp>
        <p:nvSpPr>
          <p:cNvPr id="7" name="Text 5"/>
          <p:cNvSpPr txBox="1"/>
          <p:nvPr/>
        </p:nvSpPr>
        <p:spPr>
          <a:xfrm>
            <a:off x="822960" y="1691640"/>
            <a:ext cx="2057400" cy="640080"/>
          </a:xfrm>
          <a:prstGeom prst="rect">
            <a:avLst/>
          </a:prstGeom>
          <a:noFill/>
          <a:ln/>
        </p:spPr>
        <p:txBody>
          <a:bodyPr wrap="square" lIns="0" tIns="0" rIns="0" bIns="0" rtlCol="0" anchor="t"/>
          <a:lstStyle/>
          <a:p>
            <a:pPr marL="0" indent="0">
              <a:buNone/>
            </a:pPr>
            <a:r>
              <a:rPr lang="en-US" sz="3400" b="1" dirty="0">
                <a:solidFill>
                  <a:srgbClr val="2E78C2"/>
                </a:solidFill>
                <a:latin typeface="Cambria" pitchFamily="34" charset="0"/>
                <a:ea typeface="Cambria" pitchFamily="34" charset="-122"/>
                <a:cs typeface="Cambria" pitchFamily="34" charset="-120"/>
              </a:rPr>
              <a:t>0,169</a:t>
            </a:r>
            <a:endParaRPr lang="en-US" sz="3400" dirty="0"/>
          </a:p>
        </p:txBody>
      </p:sp>
      <p:sp>
        <p:nvSpPr>
          <p:cNvPr id="8" name="Text 6"/>
          <p:cNvSpPr txBox="1"/>
          <p:nvPr/>
        </p:nvSpPr>
        <p:spPr>
          <a:xfrm>
            <a:off x="822960" y="2359152"/>
            <a:ext cx="2057400" cy="365760"/>
          </a:xfrm>
          <a:prstGeom prst="rect">
            <a:avLst/>
          </a:prstGeom>
          <a:noFill/>
          <a:ln/>
        </p:spPr>
        <p:txBody>
          <a:bodyPr wrap="square" lIns="0" tIns="0" rIns="0" bIns="0" rtlCol="0" anchor="t"/>
          <a:lstStyle/>
          <a:p>
            <a:pPr marL="0" indent="0">
              <a:buNone/>
            </a:pPr>
            <a:r>
              <a:rPr lang="en-US" sz="1300" dirty="0">
                <a:solidFill>
                  <a:srgbClr val="3E4C59"/>
                </a:solidFill>
                <a:latin typeface="Calibri" pitchFamily="34" charset="0"/>
                <a:ea typeface="Calibri" pitchFamily="34" charset="-122"/>
                <a:cs typeface="Calibri" pitchFamily="34" charset="-120"/>
              </a:rPr>
              <a:t>densidade 2m / (n(n − 1))</a:t>
            </a:r>
            <a:endParaRPr lang="en-US" sz="1300" dirty="0"/>
          </a:p>
        </p:txBody>
      </p:sp>
      <p:sp>
        <p:nvSpPr>
          <p:cNvPr id="9" name="Shape 7"/>
          <p:cNvSpPr/>
          <p:nvPr/>
        </p:nvSpPr>
        <p:spPr>
          <a:xfrm>
            <a:off x="3429000" y="1554480"/>
            <a:ext cx="2606040" cy="1280160"/>
          </a:xfrm>
          <a:prstGeom prst="roundRect">
            <a:avLst>
              <a:gd name="adj" fmla="val 5714"/>
            </a:avLst>
          </a:prstGeom>
          <a:solidFill>
            <a:srgbClr val="F3F6FA"/>
          </a:solidFill>
          <a:ln w="12700">
            <a:solidFill>
              <a:srgbClr val="F3F6FA"/>
            </a:solidFill>
            <a:prstDash val="solid"/>
          </a:ln>
        </p:spPr>
        <p:txBody>
          <a:bodyPr/>
          <a:lstStyle/>
          <a:p>
            <a:endParaRPr lang="pt-BR"/>
          </a:p>
        </p:txBody>
      </p:sp>
      <p:sp>
        <p:nvSpPr>
          <p:cNvPr id="10" name="Text 8"/>
          <p:cNvSpPr txBox="1"/>
          <p:nvPr/>
        </p:nvSpPr>
        <p:spPr>
          <a:xfrm>
            <a:off x="3703320" y="1691640"/>
            <a:ext cx="2057400" cy="640080"/>
          </a:xfrm>
          <a:prstGeom prst="rect">
            <a:avLst/>
          </a:prstGeom>
          <a:noFill/>
          <a:ln/>
        </p:spPr>
        <p:txBody>
          <a:bodyPr wrap="square" lIns="0" tIns="0" rIns="0" bIns="0" rtlCol="0" anchor="t"/>
          <a:lstStyle/>
          <a:p>
            <a:pPr marL="0" indent="0">
              <a:buNone/>
            </a:pPr>
            <a:r>
              <a:rPr lang="en-US" sz="3400" b="1" dirty="0">
                <a:solidFill>
                  <a:srgbClr val="2E78C2"/>
                </a:solidFill>
                <a:latin typeface="Cambria" pitchFamily="34" charset="0"/>
                <a:ea typeface="Cambria" pitchFamily="34" charset="-122"/>
                <a:cs typeface="Cambria" pitchFamily="34" charset="-120"/>
              </a:rPr>
              <a:t>5,25</a:t>
            </a:r>
            <a:endParaRPr lang="en-US" sz="3400" dirty="0"/>
          </a:p>
        </p:txBody>
      </p:sp>
      <p:sp>
        <p:nvSpPr>
          <p:cNvPr id="11" name="Text 9"/>
          <p:cNvSpPr txBox="1"/>
          <p:nvPr/>
        </p:nvSpPr>
        <p:spPr>
          <a:xfrm>
            <a:off x="3703320" y="2359152"/>
            <a:ext cx="2057400" cy="365760"/>
          </a:xfrm>
          <a:prstGeom prst="rect">
            <a:avLst/>
          </a:prstGeom>
          <a:noFill/>
          <a:ln/>
        </p:spPr>
        <p:txBody>
          <a:bodyPr wrap="square" lIns="0" tIns="0" rIns="0" bIns="0" rtlCol="0" anchor="t"/>
          <a:lstStyle/>
          <a:p>
            <a:pPr marL="0" indent="0">
              <a:buNone/>
            </a:pPr>
            <a:r>
              <a:rPr lang="en-US" sz="1300" dirty="0">
                <a:solidFill>
                  <a:srgbClr val="3E4C59"/>
                </a:solidFill>
                <a:latin typeface="Calibri" pitchFamily="34" charset="0"/>
                <a:ea typeface="Calibri" pitchFamily="34" charset="-122"/>
                <a:cs typeface="Calibri" pitchFamily="34" charset="-120"/>
              </a:rPr>
              <a:t>grau médio (mín 4, máx 7)</a:t>
            </a:r>
            <a:endParaRPr lang="en-US" sz="1300" dirty="0"/>
          </a:p>
        </p:txBody>
      </p:sp>
      <p:sp>
        <p:nvSpPr>
          <p:cNvPr id="12" name="Shape 10"/>
          <p:cNvSpPr/>
          <p:nvPr/>
        </p:nvSpPr>
        <p:spPr>
          <a:xfrm>
            <a:off x="548640" y="3017520"/>
            <a:ext cx="2606040" cy="1280160"/>
          </a:xfrm>
          <a:prstGeom prst="roundRect">
            <a:avLst>
              <a:gd name="adj" fmla="val 5714"/>
            </a:avLst>
          </a:prstGeom>
          <a:solidFill>
            <a:srgbClr val="F3F6FA"/>
          </a:solidFill>
          <a:ln w="12700">
            <a:solidFill>
              <a:srgbClr val="F3F6FA"/>
            </a:solidFill>
            <a:prstDash val="solid"/>
          </a:ln>
        </p:spPr>
        <p:txBody>
          <a:bodyPr/>
          <a:lstStyle/>
          <a:p>
            <a:endParaRPr lang="pt-BR"/>
          </a:p>
        </p:txBody>
      </p:sp>
      <p:sp>
        <p:nvSpPr>
          <p:cNvPr id="13" name="Text 11"/>
          <p:cNvSpPr txBox="1"/>
          <p:nvPr/>
        </p:nvSpPr>
        <p:spPr>
          <a:xfrm>
            <a:off x="822960" y="3154680"/>
            <a:ext cx="2057400" cy="640080"/>
          </a:xfrm>
          <a:prstGeom prst="rect">
            <a:avLst/>
          </a:prstGeom>
          <a:noFill/>
          <a:ln/>
        </p:spPr>
        <p:txBody>
          <a:bodyPr wrap="square" lIns="0" tIns="0" rIns="0" bIns="0" rtlCol="0" anchor="t"/>
          <a:lstStyle/>
          <a:p>
            <a:pPr marL="0" indent="0">
              <a:buNone/>
            </a:pPr>
            <a:r>
              <a:rPr lang="en-US" sz="3400" b="1" dirty="0">
                <a:solidFill>
                  <a:srgbClr val="2E78C2"/>
                </a:solidFill>
                <a:latin typeface="Cambria" pitchFamily="34" charset="0"/>
                <a:ea typeface="Cambria" pitchFamily="34" charset="-122"/>
                <a:cs typeface="Cambria" pitchFamily="34" charset="-120"/>
              </a:rPr>
              <a:t>9,5 km</a:t>
            </a:r>
            <a:endParaRPr lang="en-US" sz="3400" dirty="0"/>
          </a:p>
        </p:txBody>
      </p:sp>
      <p:sp>
        <p:nvSpPr>
          <p:cNvPr id="14" name="Text 12"/>
          <p:cNvSpPr txBox="1"/>
          <p:nvPr/>
        </p:nvSpPr>
        <p:spPr>
          <a:xfrm>
            <a:off x="822960" y="3822192"/>
            <a:ext cx="2057400" cy="365760"/>
          </a:xfrm>
          <a:prstGeom prst="rect">
            <a:avLst/>
          </a:prstGeom>
          <a:noFill/>
          <a:ln/>
        </p:spPr>
        <p:txBody>
          <a:bodyPr wrap="square" lIns="0" tIns="0" rIns="0" bIns="0" rtlCol="0" anchor="t"/>
          <a:lstStyle/>
          <a:p>
            <a:pPr marL="0" indent="0">
              <a:buNone/>
            </a:pPr>
            <a:r>
              <a:rPr lang="en-US" sz="1300" dirty="0">
                <a:solidFill>
                  <a:srgbClr val="3E4C59"/>
                </a:solidFill>
                <a:latin typeface="Calibri" pitchFamily="34" charset="0"/>
                <a:ea typeface="Calibri" pitchFamily="34" charset="-122"/>
                <a:cs typeface="Calibri" pitchFamily="34" charset="-120"/>
              </a:rPr>
              <a:t>aresta média (2,46 a 28,26)</a:t>
            </a:r>
            <a:endParaRPr lang="en-US" sz="1300" dirty="0"/>
          </a:p>
        </p:txBody>
      </p:sp>
      <p:sp>
        <p:nvSpPr>
          <p:cNvPr id="15" name="Shape 13"/>
          <p:cNvSpPr/>
          <p:nvPr/>
        </p:nvSpPr>
        <p:spPr>
          <a:xfrm>
            <a:off x="3429000" y="3017520"/>
            <a:ext cx="2606040" cy="1280160"/>
          </a:xfrm>
          <a:prstGeom prst="roundRect">
            <a:avLst>
              <a:gd name="adj" fmla="val 5714"/>
            </a:avLst>
          </a:prstGeom>
          <a:solidFill>
            <a:srgbClr val="F3F6FA"/>
          </a:solidFill>
          <a:ln w="12700">
            <a:solidFill>
              <a:srgbClr val="F3F6FA"/>
            </a:solidFill>
            <a:prstDash val="solid"/>
          </a:ln>
        </p:spPr>
        <p:txBody>
          <a:bodyPr/>
          <a:lstStyle/>
          <a:p>
            <a:endParaRPr lang="pt-BR"/>
          </a:p>
        </p:txBody>
      </p:sp>
      <p:sp>
        <p:nvSpPr>
          <p:cNvPr id="16" name="Text 14"/>
          <p:cNvSpPr txBox="1"/>
          <p:nvPr/>
        </p:nvSpPr>
        <p:spPr>
          <a:xfrm>
            <a:off x="3703320" y="3154680"/>
            <a:ext cx="2057400" cy="640080"/>
          </a:xfrm>
          <a:prstGeom prst="rect">
            <a:avLst/>
          </a:prstGeom>
          <a:noFill/>
          <a:ln/>
        </p:spPr>
        <p:txBody>
          <a:bodyPr wrap="square" lIns="0" tIns="0" rIns="0" bIns="0" rtlCol="0" anchor="t"/>
          <a:lstStyle/>
          <a:p>
            <a:pPr marL="0" indent="0">
              <a:buNone/>
            </a:pPr>
            <a:r>
              <a:rPr lang="en-US" sz="3400" b="1" dirty="0">
                <a:solidFill>
                  <a:srgbClr val="2E78C2"/>
                </a:solidFill>
                <a:latin typeface="Cambria" pitchFamily="34" charset="0"/>
                <a:ea typeface="Cambria" pitchFamily="34" charset="-122"/>
                <a:cs typeface="Cambria" pitchFamily="34" charset="-120"/>
              </a:rPr>
              <a:t>1</a:t>
            </a:r>
            <a:endParaRPr lang="en-US" sz="3400" dirty="0"/>
          </a:p>
        </p:txBody>
      </p:sp>
      <p:sp>
        <p:nvSpPr>
          <p:cNvPr id="17" name="Text 15"/>
          <p:cNvSpPr txBox="1"/>
          <p:nvPr/>
        </p:nvSpPr>
        <p:spPr>
          <a:xfrm>
            <a:off x="3703320" y="3822192"/>
            <a:ext cx="2057400" cy="365760"/>
          </a:xfrm>
          <a:prstGeom prst="rect">
            <a:avLst/>
          </a:prstGeom>
          <a:noFill/>
          <a:ln/>
        </p:spPr>
        <p:txBody>
          <a:bodyPr wrap="square" lIns="0" tIns="0" rIns="0" bIns="0" rtlCol="0" anchor="t"/>
          <a:lstStyle/>
          <a:p>
            <a:pPr marL="0" indent="0">
              <a:buNone/>
            </a:pPr>
            <a:r>
              <a:rPr lang="en-US" sz="1300" dirty="0">
                <a:solidFill>
                  <a:srgbClr val="3E4C59"/>
                </a:solidFill>
                <a:latin typeface="Calibri" pitchFamily="34" charset="0"/>
                <a:ea typeface="Calibri" pitchFamily="34" charset="-122"/>
                <a:cs typeface="Calibri" pitchFamily="34" charset="-120"/>
              </a:rPr>
              <a:t>componente conexa</a:t>
            </a:r>
            <a:endParaRPr lang="en-US" sz="1300" dirty="0"/>
          </a:p>
        </p:txBody>
      </p:sp>
      <p:graphicFrame>
        <p:nvGraphicFramePr>
          <p:cNvPr id="18" name="Chart 0"/>
          <p:cNvGraphicFramePr/>
          <p:nvPr/>
        </p:nvGraphicFramePr>
        <p:xfrm>
          <a:off x="6492240" y="1463040"/>
          <a:ext cx="5150815" cy="2651760"/>
        </p:xfrm>
        <a:graphic>
          <a:graphicData uri="http://schemas.openxmlformats.org/drawingml/2006/chart">
            <c:chart xmlns:c="http://schemas.openxmlformats.org/drawingml/2006/chart" xmlns:r="http://schemas.openxmlformats.org/officeDocument/2006/relationships" r:id="rId3"/>
          </a:graphicData>
        </a:graphic>
      </p:graphicFrame>
      <p:sp>
        <p:nvSpPr>
          <p:cNvPr id="19" name="Text 16"/>
          <p:cNvSpPr txBox="1"/>
          <p:nvPr/>
        </p:nvSpPr>
        <p:spPr>
          <a:xfrm>
            <a:off x="6492240" y="4160520"/>
            <a:ext cx="5150815" cy="548640"/>
          </a:xfrm>
          <a:prstGeom prst="rect">
            <a:avLst/>
          </a:prstGeom>
          <a:noFill/>
          <a:ln/>
        </p:spPr>
        <p:txBody>
          <a:bodyPr wrap="square" lIns="0" tIns="0" rIns="0" bIns="0" rtlCol="0" anchor="t"/>
          <a:lstStyle/>
          <a:p>
            <a:pPr marL="0" indent="0">
              <a:buNone/>
            </a:pPr>
            <a:r>
              <a:rPr lang="en-US" sz="1200" dirty="0">
                <a:solidFill>
                  <a:srgbClr val="5F6B7A"/>
                </a:solidFill>
                <a:latin typeface="Calibri" pitchFamily="34" charset="0"/>
                <a:ea typeface="Calibri" pitchFamily="34" charset="-122"/>
                <a:cs typeface="Calibri" pitchFamily="34" charset="-120"/>
              </a:rPr>
              <a:t>Grau 7: Freguesia do Ó, Vila Mariana, Cidade Ademar e Parelheiros/Rodoanel. </a:t>
            </a:r>
            <a:endParaRPr lang="en-US" sz="1200" dirty="0"/>
          </a:p>
        </p:txBody>
      </p:sp>
      <p:sp>
        <p:nvSpPr>
          <p:cNvPr id="20" name="Shape 17"/>
          <p:cNvSpPr/>
          <p:nvPr/>
        </p:nvSpPr>
        <p:spPr>
          <a:xfrm>
            <a:off x="548640" y="4754880"/>
            <a:ext cx="11094415" cy="1280160"/>
          </a:xfrm>
          <a:prstGeom prst="roundRect">
            <a:avLst>
              <a:gd name="adj" fmla="val 5714"/>
            </a:avLst>
          </a:prstGeom>
          <a:solidFill>
            <a:srgbClr val="FCEBDD"/>
          </a:solidFill>
          <a:ln w="12700">
            <a:solidFill>
              <a:srgbClr val="FCEBDD"/>
            </a:solidFill>
            <a:prstDash val="solid"/>
          </a:ln>
        </p:spPr>
        <p:txBody>
          <a:bodyPr/>
          <a:lstStyle/>
          <a:p>
            <a:endParaRPr lang="pt-BR"/>
          </a:p>
        </p:txBody>
      </p:sp>
      <p:sp>
        <p:nvSpPr>
          <p:cNvPr id="21" name="Text 18"/>
          <p:cNvSpPr txBox="1"/>
          <p:nvPr/>
        </p:nvSpPr>
        <p:spPr>
          <a:xfrm>
            <a:off x="914400" y="4754880"/>
            <a:ext cx="10362895" cy="1280160"/>
          </a:xfrm>
          <a:prstGeom prst="rect">
            <a:avLst/>
          </a:prstGeom>
          <a:noFill/>
          <a:ln/>
        </p:spPr>
        <p:txBody>
          <a:bodyPr wrap="square" lIns="0" tIns="0" rIns="0" bIns="0" rtlCol="0" anchor="ctr"/>
          <a:lstStyle/>
          <a:p>
            <a:pPr marL="0" indent="0">
              <a:buNone/>
            </a:pPr>
            <a:r>
              <a:rPr lang="en-US" sz="1700" b="1" dirty="0">
                <a:solidFill>
                  <a:srgbClr val="A94E10"/>
                </a:solidFill>
                <a:latin typeface="Calibri" pitchFamily="34" charset="0"/>
                <a:ea typeface="Calibri" pitchFamily="34" charset="-122"/>
                <a:cs typeface="Calibri" pitchFamily="34" charset="-120"/>
              </a:rPr>
              <a:t>Teste i2: </a:t>
            </a:r>
            <a:r>
              <a:rPr lang="en-US" sz="1700" dirty="0">
                <a:solidFill>
                  <a:srgbClr val="1F2D3D"/>
                </a:solidFill>
                <a:latin typeface="Calibri" pitchFamily="34" charset="0"/>
                <a:ea typeface="Calibri" pitchFamily="34" charset="-122"/>
                <a:cs typeface="Calibri" pitchFamily="34" charset="-120"/>
              </a:rPr>
              <a:t>removendo as 4 arestas de Marsilac, o grafo fica desconexo (31 + 1 vértices). A cobertura do extremo sul depende de poucas ligações longas.</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marL="0" indent="0">
              <a:buNone/>
            </a:pPr>
            <a:r>
              <a:rPr lang="en-US" sz="1200" b="1" kern="0" spc="200" dirty="0">
                <a:solidFill>
                  <a:srgbClr val="2E78C2"/>
                </a:solidFill>
                <a:latin typeface="Calibri" pitchFamily="34" charset="0"/>
                <a:ea typeface="Calibri" pitchFamily="34" charset="-122"/>
                <a:cs typeface="Calibri" pitchFamily="34" charset="-120"/>
              </a:rPr>
              <a:t>RESULTADOS PARCIAIS</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t"/>
          <a:lstStyle/>
          <a:p>
            <a:pPr marL="0" indent="0">
              <a:buNone/>
            </a:pPr>
            <a:r>
              <a:rPr lang="en-US" sz="2800" b="1" dirty="0">
                <a:solidFill>
                  <a:srgbClr val="0F2A44"/>
                </a:solidFill>
                <a:latin typeface="Cambria" pitchFamily="34" charset="0"/>
                <a:ea typeface="Cambria" pitchFamily="34" charset="-122"/>
                <a:cs typeface="Cambria" pitchFamily="34" charset="-120"/>
              </a:rPr>
              <a:t>Quatro estações destoam das vizinhas</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t"/>
          <a:lstStyle/>
          <a:p>
            <a:pPr marL="0" indent="0">
              <a:buNone/>
            </a:pPr>
            <a:r>
              <a:rPr lang="en-US" sz="1000" dirty="0">
                <a:solidFill>
                  <a:srgbClr val="5F6B7A"/>
                </a:solidFill>
                <a:latin typeface="Calibri" pitchFamily="34" charset="0"/>
                <a:ea typeface="Calibri" pitchFamily="34" charset="-122"/>
                <a:cs typeface="Calibri" pitchFamily="34" charset="-120"/>
              </a:rPr>
              <a:t>Análise da rede de estações com grafos · Parte 2</a:t>
            </a:r>
            <a:endParaRPr lang="en-US" sz="1000" dirty="0"/>
          </a:p>
        </p:txBody>
      </p:sp>
      <p:sp>
        <p:nvSpPr>
          <p:cNvPr id="5" name="Text 3"/>
          <p:cNvSpPr txBox="1"/>
          <p:nvPr/>
        </p:nvSpPr>
        <p:spPr>
          <a:xfrm>
            <a:off x="10728655" y="6400800"/>
            <a:ext cx="914400" cy="228600"/>
          </a:xfrm>
          <a:prstGeom prst="rect">
            <a:avLst/>
          </a:prstGeom>
          <a:noFill/>
          <a:ln/>
        </p:spPr>
        <p:txBody>
          <a:bodyPr wrap="square" lIns="0" tIns="0" rIns="0" bIns="0" rtlCol="0" anchor="t"/>
          <a:lstStyle/>
          <a:p>
            <a:pPr marL="0" indent="0" algn="r">
              <a:buNone/>
            </a:pPr>
            <a:r>
              <a:rPr lang="en-US" sz="1000" dirty="0">
                <a:solidFill>
                  <a:srgbClr val="5F6B7A"/>
                </a:solidFill>
                <a:latin typeface="Calibri" pitchFamily="34" charset="0"/>
                <a:ea typeface="Calibri" pitchFamily="34" charset="-122"/>
                <a:cs typeface="Calibri" pitchFamily="34" charset="-120"/>
              </a:rPr>
              <a:t>15</a:t>
            </a:r>
            <a:endParaRPr lang="en-US" sz="1000" dirty="0"/>
          </a:p>
        </p:txBody>
      </p:sp>
      <p:sp>
        <p:nvSpPr>
          <p:cNvPr id="6" name="Shape 4"/>
          <p:cNvSpPr/>
          <p:nvPr/>
        </p:nvSpPr>
        <p:spPr>
          <a:xfrm>
            <a:off x="548640" y="1508760"/>
            <a:ext cx="11094415" cy="640080"/>
          </a:xfrm>
          <a:prstGeom prst="roundRect">
            <a:avLst>
              <a:gd name="adj" fmla="val 11429"/>
            </a:avLst>
          </a:prstGeom>
          <a:solidFill>
            <a:srgbClr val="F3F6FA"/>
          </a:solidFill>
          <a:ln w="12700">
            <a:solidFill>
              <a:srgbClr val="F3F6FA"/>
            </a:solidFill>
            <a:prstDash val="solid"/>
          </a:ln>
        </p:spPr>
        <p:txBody>
          <a:bodyPr/>
          <a:lstStyle/>
          <a:p>
            <a:endParaRPr lang="pt-BR"/>
          </a:p>
        </p:txBody>
      </p:sp>
      <p:sp>
        <p:nvSpPr>
          <p:cNvPr id="7" name="Text 5"/>
          <p:cNvSpPr txBox="1"/>
          <p:nvPr/>
        </p:nvSpPr>
        <p:spPr>
          <a:xfrm>
            <a:off x="914400" y="1508760"/>
            <a:ext cx="10362895" cy="640080"/>
          </a:xfrm>
          <a:prstGeom prst="rect">
            <a:avLst/>
          </a:prstGeom>
          <a:noFill/>
          <a:ln/>
        </p:spPr>
        <p:txBody>
          <a:bodyPr wrap="square" lIns="0" tIns="0" rIns="0" bIns="0" rtlCol="0" anchor="ctr"/>
          <a:lstStyle/>
          <a:p>
            <a:pPr marL="0" indent="0">
              <a:buNone/>
            </a:pPr>
            <a:r>
              <a:rPr lang="en-US" sz="1600" b="1" dirty="0">
                <a:solidFill>
                  <a:srgbClr val="0F2A44"/>
                </a:solidFill>
                <a:latin typeface="Courier New" pitchFamily="34" charset="0"/>
                <a:ea typeface="Courier New" pitchFamily="34" charset="-122"/>
                <a:cs typeface="Courier New" pitchFamily="34" charset="-120"/>
              </a:rPr>
              <a:t>D(v) = x(v) − média de x(w), w ∈ N(v)        discrepante se |z(D)| &gt; 1,5</a:t>
            </a:r>
            <a:endParaRPr lang="en-US" sz="1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2377440"/>
          <a:ext cx="11094415" cy="2377440"/>
        </p:xfrm>
        <a:graphic>
          <a:graphicData uri="http://schemas.openxmlformats.org/drawingml/2006/table">
            <a:tbl>
              <a:tblPr/>
              <a:tblGrid>
                <a:gridCol w="25603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3230575">
                  <a:extLst>
                    <a:ext uri="{9D8B030D-6E8A-4147-A177-3AD203B41FA5}">
                      <a16:colId xmlns:a16="http://schemas.microsoft.com/office/drawing/2014/main" val="20005"/>
                    </a:ext>
                  </a:extLst>
                </a:gridCol>
              </a:tblGrid>
              <a:tr h="475488">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Estação</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0F2A44"/>
                    </a:solidFill>
                  </a:tcPr>
                </a:tc>
                <a:tc>
                  <a:txBody>
                    <a:bodyPr/>
                    <a:lstStyle/>
                    <a:p>
                      <a:pPr marL="0" indent="0" algn="r">
                        <a:buNone/>
                      </a:pPr>
                      <a:r>
                        <a:rPr lang="en-US" sz="1500" b="1" dirty="0">
                          <a:solidFill>
                            <a:srgbClr val="FFFFFF"/>
                          </a:solidFill>
                          <a:latin typeface="Calibri" pitchFamily="34" charset="0"/>
                          <a:ea typeface="Calibri" pitchFamily="34" charset="-122"/>
                          <a:cs typeface="Calibri" pitchFamily="34" charset="-120"/>
                        </a:rPr>
                        <a:t>Chuva (mm)</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0F2A44"/>
                    </a:solidFill>
                  </a:tcPr>
                </a:tc>
                <a:tc>
                  <a:txBody>
                    <a:bodyPr/>
                    <a:lstStyle/>
                    <a:p>
                      <a:pPr marL="0" indent="0" algn="r">
                        <a:buNone/>
                      </a:pPr>
                      <a:r>
                        <a:rPr lang="en-US" sz="1500" b="1" dirty="0">
                          <a:solidFill>
                            <a:srgbClr val="FFFFFF"/>
                          </a:solidFill>
                          <a:latin typeface="Calibri" pitchFamily="34" charset="0"/>
                          <a:ea typeface="Calibri" pitchFamily="34" charset="-122"/>
                          <a:cs typeface="Calibri" pitchFamily="34" charset="-120"/>
                        </a:rPr>
                        <a:t>Média viz. (mm)</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0F2A44"/>
                    </a:solidFill>
                  </a:tcPr>
                </a:tc>
                <a:tc>
                  <a:txBody>
                    <a:bodyPr/>
                    <a:lstStyle/>
                    <a:p>
                      <a:pPr marL="0" indent="0" algn="r">
                        <a:buNone/>
                      </a:pPr>
                      <a:r>
                        <a:rPr lang="en-US" sz="1500" b="1" dirty="0">
                          <a:solidFill>
                            <a:srgbClr val="FFFFFF"/>
                          </a:solidFill>
                          <a:latin typeface="Calibri" pitchFamily="34" charset="0"/>
                          <a:ea typeface="Calibri" pitchFamily="34" charset="-122"/>
                          <a:cs typeface="Calibri" pitchFamily="34" charset="-120"/>
                        </a:rPr>
                        <a:t>D (mm)</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0F2A44"/>
                    </a:solidFill>
                  </a:tcPr>
                </a:tc>
                <a:tc>
                  <a:txBody>
                    <a:bodyPr/>
                    <a:lstStyle/>
                    <a:p>
                      <a:pPr marL="0" indent="0" algn="r">
                        <a:buNone/>
                      </a:pPr>
                      <a:r>
                        <a:rPr lang="en-US" sz="1500" b="1" dirty="0">
                          <a:solidFill>
                            <a:srgbClr val="FFFFFF"/>
                          </a:solidFill>
                          <a:latin typeface="Calibri" pitchFamily="34" charset="0"/>
                          <a:ea typeface="Calibri" pitchFamily="34" charset="-122"/>
                          <a:cs typeface="Calibri" pitchFamily="34" charset="-120"/>
                        </a:rPr>
                        <a:t>z</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0F2A44"/>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Leitura</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0F2A44"/>
                    </a:solidFill>
                  </a:tcPr>
                </a:tc>
                <a:extLst>
                  <a:ext uri="{0D108BD9-81ED-4DB2-BD59-A6C34878D82A}">
                    <a16:rowId xmlns:a16="http://schemas.microsoft.com/office/drawing/2014/main" val="10000"/>
                  </a:ext>
                </a:extLst>
              </a:tr>
              <a:tr h="475488">
                <a:tc>
                  <a:txBody>
                    <a:bodyPr/>
                    <a:lstStyle/>
                    <a:p>
                      <a:pPr marL="0" indent="0">
                        <a:buNone/>
                      </a:pPr>
                      <a:r>
                        <a:rPr lang="en-US" sz="1500" b="1" dirty="0">
                          <a:solidFill>
                            <a:srgbClr val="1F2D3D"/>
                          </a:solidFill>
                          <a:latin typeface="Calibri" pitchFamily="34" charset="0"/>
                          <a:ea typeface="Calibri" pitchFamily="34" charset="-122"/>
                          <a:cs typeface="Calibri" pitchFamily="34" charset="-120"/>
                        </a:rPr>
                        <a:t>Parelheiros/Barragem</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r">
                        <a:buNone/>
                      </a:pPr>
                      <a:r>
                        <a:rPr lang="en-US" sz="1500" dirty="0">
                          <a:solidFill>
                            <a:srgbClr val="3E4C59"/>
                          </a:solidFill>
                          <a:latin typeface="Calibri" pitchFamily="34" charset="0"/>
                          <a:ea typeface="Calibri" pitchFamily="34" charset="-122"/>
                          <a:cs typeface="Calibri" pitchFamily="34" charset="-120"/>
                        </a:rPr>
                        <a:t>924,0</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r">
                        <a:buNone/>
                      </a:pPr>
                      <a:r>
                        <a:rPr lang="en-US" sz="1500" dirty="0">
                          <a:solidFill>
                            <a:srgbClr val="3E4C59"/>
                          </a:solidFill>
                          <a:latin typeface="Calibri" pitchFamily="34" charset="0"/>
                          <a:ea typeface="Calibri" pitchFamily="34" charset="-122"/>
                          <a:cs typeface="Calibri" pitchFamily="34" charset="-120"/>
                        </a:rPr>
                        <a:t>679,7</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r">
                        <a:buNone/>
                      </a:pPr>
                      <a:r>
                        <a:rPr lang="en-US" sz="1500" b="1" dirty="0">
                          <a:solidFill>
                            <a:srgbClr val="2E78C2"/>
                          </a:solidFill>
                          <a:latin typeface="Calibri" pitchFamily="34" charset="0"/>
                          <a:ea typeface="Calibri" pitchFamily="34" charset="-122"/>
                          <a:cs typeface="Calibri" pitchFamily="34" charset="-120"/>
                        </a:rPr>
                        <a:t>+244,3</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r">
                        <a:buNone/>
                      </a:pPr>
                      <a:r>
                        <a:rPr lang="en-US" sz="1500" b="1" dirty="0">
                          <a:solidFill>
                            <a:srgbClr val="2E78C2"/>
                          </a:solidFill>
                          <a:latin typeface="Calibri" pitchFamily="34" charset="0"/>
                          <a:ea typeface="Calibri" pitchFamily="34" charset="-122"/>
                          <a:cs typeface="Calibri" pitchFamily="34" charset="-120"/>
                        </a:rPr>
                        <a:t>+1,82</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500" dirty="0">
                          <a:solidFill>
                            <a:srgbClr val="3E4C59"/>
                          </a:solidFill>
                          <a:latin typeface="Calibri" pitchFamily="34" charset="0"/>
                          <a:ea typeface="Calibri" pitchFamily="34" charset="-122"/>
                          <a:cs typeface="Calibri" pitchFamily="34" charset="-120"/>
                        </a:rPr>
                        <a:t>Serra do Mar (efeito orográfico)</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buNone/>
                      </a:pPr>
                      <a:r>
                        <a:rPr lang="en-US" sz="1500" b="1" dirty="0">
                          <a:solidFill>
                            <a:srgbClr val="1F2D3D"/>
                          </a:solidFill>
                          <a:latin typeface="Calibri" pitchFamily="34" charset="0"/>
                          <a:ea typeface="Calibri" pitchFamily="34" charset="-122"/>
                          <a:cs typeface="Calibri" pitchFamily="34" charset="-120"/>
                        </a:rPr>
                        <a:t>Vila Maria/Guilherme</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r">
                        <a:buNone/>
                      </a:pPr>
                      <a:r>
                        <a:rPr lang="en-US" sz="1500" dirty="0">
                          <a:solidFill>
                            <a:srgbClr val="3E4C59"/>
                          </a:solidFill>
                          <a:latin typeface="Calibri" pitchFamily="34" charset="0"/>
                          <a:ea typeface="Calibri" pitchFamily="34" charset="-122"/>
                          <a:cs typeface="Calibri" pitchFamily="34" charset="-120"/>
                        </a:rPr>
                        <a:t>946,0</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r">
                        <a:buNone/>
                      </a:pPr>
                      <a:r>
                        <a:rPr lang="en-US" sz="1500" dirty="0">
                          <a:solidFill>
                            <a:srgbClr val="3E4C59"/>
                          </a:solidFill>
                          <a:latin typeface="Calibri" pitchFamily="34" charset="0"/>
                          <a:ea typeface="Calibri" pitchFamily="34" charset="-122"/>
                          <a:cs typeface="Calibri" pitchFamily="34" charset="-120"/>
                        </a:rPr>
                        <a:t>712,8</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r">
                        <a:buNone/>
                      </a:pPr>
                      <a:r>
                        <a:rPr lang="en-US" sz="1500" b="1" dirty="0">
                          <a:solidFill>
                            <a:srgbClr val="2E78C2"/>
                          </a:solidFill>
                          <a:latin typeface="Calibri" pitchFamily="34" charset="0"/>
                          <a:ea typeface="Calibri" pitchFamily="34" charset="-122"/>
                          <a:cs typeface="Calibri" pitchFamily="34" charset="-120"/>
                        </a:rPr>
                        <a:t>+233,2</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r">
                        <a:buNone/>
                      </a:pPr>
                      <a:r>
                        <a:rPr lang="en-US" sz="1500" b="1" dirty="0">
                          <a:solidFill>
                            <a:srgbClr val="2E78C2"/>
                          </a:solidFill>
                          <a:latin typeface="Calibri" pitchFamily="34" charset="0"/>
                          <a:ea typeface="Calibri" pitchFamily="34" charset="-122"/>
                          <a:cs typeface="Calibri" pitchFamily="34" charset="-120"/>
                        </a:rPr>
                        <a:t>+1,73</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500" dirty="0">
                          <a:solidFill>
                            <a:srgbClr val="3E4C59"/>
                          </a:solidFill>
                          <a:latin typeface="Calibri" pitchFamily="34" charset="0"/>
                          <a:ea typeface="Calibri" pitchFamily="34" charset="-122"/>
                          <a:cs typeface="Calibri" pitchFamily="34" charset="-120"/>
                        </a:rPr>
                        <a:t>Estação mais chuvosa da rede</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buNone/>
                      </a:pPr>
                      <a:r>
                        <a:rPr lang="en-US" sz="1500" b="1" dirty="0">
                          <a:solidFill>
                            <a:srgbClr val="1F2D3D"/>
                          </a:solidFill>
                          <a:latin typeface="Calibri" pitchFamily="34" charset="0"/>
                          <a:ea typeface="Calibri" pitchFamily="34" charset="-122"/>
                          <a:cs typeface="Calibri" pitchFamily="34" charset="-120"/>
                        </a:rPr>
                        <a:t>M Boi Mirim</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r">
                        <a:buNone/>
                      </a:pPr>
                      <a:r>
                        <a:rPr lang="en-US" sz="1500" dirty="0">
                          <a:solidFill>
                            <a:srgbClr val="3E4C59"/>
                          </a:solidFill>
                          <a:latin typeface="Calibri" pitchFamily="34" charset="0"/>
                          <a:ea typeface="Calibri" pitchFamily="34" charset="-122"/>
                          <a:cs typeface="Calibri" pitchFamily="34" charset="-120"/>
                        </a:rPr>
                        <a:t>509,4</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r">
                        <a:buNone/>
                      </a:pPr>
                      <a:r>
                        <a:rPr lang="en-US" sz="1500" dirty="0">
                          <a:solidFill>
                            <a:srgbClr val="3E4C59"/>
                          </a:solidFill>
                          <a:latin typeface="Calibri" pitchFamily="34" charset="0"/>
                          <a:ea typeface="Calibri" pitchFamily="34" charset="-122"/>
                          <a:cs typeface="Calibri" pitchFamily="34" charset="-120"/>
                        </a:rPr>
                        <a:t>707,2</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r">
                        <a:buNone/>
                      </a:pPr>
                      <a:r>
                        <a:rPr lang="en-US" sz="1500" b="1" dirty="0">
                          <a:solidFill>
                            <a:srgbClr val="A94E10"/>
                          </a:solidFill>
                          <a:latin typeface="Calibri" pitchFamily="34" charset="0"/>
                          <a:ea typeface="Calibri" pitchFamily="34" charset="-122"/>
                          <a:cs typeface="Calibri" pitchFamily="34" charset="-120"/>
                        </a:rPr>
                        <a:t>−197,8</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r">
                        <a:buNone/>
                      </a:pPr>
                      <a:r>
                        <a:rPr lang="en-US" sz="1500" b="1" dirty="0">
                          <a:solidFill>
                            <a:srgbClr val="A94E10"/>
                          </a:solidFill>
                          <a:latin typeface="Calibri" pitchFamily="34" charset="0"/>
                          <a:ea typeface="Calibri" pitchFamily="34" charset="-122"/>
                          <a:cs typeface="Calibri" pitchFamily="34" charset="-120"/>
                        </a:rPr>
                        <a:t>−1,62</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500" dirty="0">
                          <a:solidFill>
                            <a:srgbClr val="3E4C59"/>
                          </a:solidFill>
                          <a:latin typeface="Calibri" pitchFamily="34" charset="0"/>
                          <a:ea typeface="Calibri" pitchFamily="34" charset="-122"/>
                          <a:cs typeface="Calibri" pitchFamily="34" charset="-120"/>
                        </a:rPr>
                        <a:t>Chuva local ou falha de registro?</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marL="0" indent="0">
                        <a:buNone/>
                      </a:pPr>
                      <a:r>
                        <a:rPr lang="en-US" sz="1500" b="1" dirty="0">
                          <a:solidFill>
                            <a:srgbClr val="1F2D3D"/>
                          </a:solidFill>
                          <a:latin typeface="Calibri" pitchFamily="34" charset="0"/>
                          <a:ea typeface="Calibri" pitchFamily="34" charset="-122"/>
                          <a:cs typeface="Calibri" pitchFamily="34" charset="-120"/>
                        </a:rPr>
                        <a:t>Vila Prudente</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r">
                        <a:buNone/>
                      </a:pPr>
                      <a:r>
                        <a:rPr lang="en-US" sz="1500" dirty="0">
                          <a:solidFill>
                            <a:srgbClr val="3E4C59"/>
                          </a:solidFill>
                          <a:latin typeface="Calibri" pitchFamily="34" charset="0"/>
                          <a:ea typeface="Calibri" pitchFamily="34" charset="-122"/>
                          <a:cs typeface="Calibri" pitchFamily="34" charset="-120"/>
                        </a:rPr>
                        <a:t>451,2</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r">
                        <a:buNone/>
                      </a:pPr>
                      <a:r>
                        <a:rPr lang="en-US" sz="1500" dirty="0">
                          <a:solidFill>
                            <a:srgbClr val="3E4C59"/>
                          </a:solidFill>
                          <a:latin typeface="Calibri" pitchFamily="34" charset="0"/>
                          <a:ea typeface="Calibri" pitchFamily="34" charset="-122"/>
                          <a:cs typeface="Calibri" pitchFamily="34" charset="-120"/>
                        </a:rPr>
                        <a:t>636,8</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r">
                        <a:buNone/>
                      </a:pPr>
                      <a:r>
                        <a:rPr lang="en-US" sz="1500" b="1" dirty="0">
                          <a:solidFill>
                            <a:srgbClr val="A94E10"/>
                          </a:solidFill>
                          <a:latin typeface="Calibri" pitchFamily="34" charset="0"/>
                          <a:ea typeface="Calibri" pitchFamily="34" charset="-122"/>
                          <a:cs typeface="Calibri" pitchFamily="34" charset="-120"/>
                        </a:rPr>
                        <a:t>−185,6</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r">
                        <a:buNone/>
                      </a:pPr>
                      <a:r>
                        <a:rPr lang="en-US" sz="1500" b="1" dirty="0">
                          <a:solidFill>
                            <a:srgbClr val="A94E10"/>
                          </a:solidFill>
                          <a:latin typeface="Calibri" pitchFamily="34" charset="0"/>
                          <a:ea typeface="Calibri" pitchFamily="34" charset="-122"/>
                          <a:cs typeface="Calibri" pitchFamily="34" charset="-120"/>
                        </a:rPr>
                        <a:t>−1,52</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500" dirty="0">
                          <a:solidFill>
                            <a:srgbClr val="3E4C59"/>
                          </a:solidFill>
                          <a:latin typeface="Calibri" pitchFamily="34" charset="0"/>
                          <a:ea typeface="Calibri" pitchFamily="34" charset="-122"/>
                          <a:cs typeface="Calibri" pitchFamily="34" charset="-120"/>
                        </a:rPr>
                        <a:t>Chuva local ou falha de registro?</a:t>
                      </a:r>
                      <a:endParaRPr lang="en-US" sz="1500" dirty="0">
                        <a:latin typeface="Calibri" charset="0"/>
                        <a:ea typeface="Calibri" charset="0"/>
                        <a:cs typeface="Calibri" charset="0"/>
                      </a:endParaRPr>
                    </a:p>
                  </a:txBody>
                  <a:tcPr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Shape 6"/>
          <p:cNvSpPr/>
          <p:nvPr/>
        </p:nvSpPr>
        <p:spPr>
          <a:xfrm>
            <a:off x="548640" y="4983480"/>
            <a:ext cx="11094415" cy="1051560"/>
          </a:xfrm>
          <a:prstGeom prst="roundRect">
            <a:avLst>
              <a:gd name="adj" fmla="val 6957"/>
            </a:avLst>
          </a:prstGeom>
          <a:solidFill>
            <a:srgbClr val="E3EEF9"/>
          </a:solidFill>
          <a:ln w="12700">
            <a:solidFill>
              <a:srgbClr val="E3EEF9"/>
            </a:solidFill>
            <a:prstDash val="solid"/>
          </a:ln>
        </p:spPr>
        <p:txBody>
          <a:bodyPr/>
          <a:lstStyle/>
          <a:p>
            <a:endParaRPr lang="pt-BR"/>
          </a:p>
        </p:txBody>
      </p:sp>
      <p:sp>
        <p:nvSpPr>
          <p:cNvPr id="10" name="Text 7"/>
          <p:cNvSpPr txBox="1"/>
          <p:nvPr/>
        </p:nvSpPr>
        <p:spPr>
          <a:xfrm>
            <a:off x="914400" y="4983480"/>
            <a:ext cx="10362895" cy="1051560"/>
          </a:xfrm>
          <a:prstGeom prst="rect">
            <a:avLst/>
          </a:prstGeom>
          <a:noFill/>
          <a:ln/>
        </p:spPr>
        <p:txBody>
          <a:bodyPr wrap="square" lIns="0" tIns="0" rIns="0" bIns="0" rtlCol="0" anchor="ctr"/>
          <a:lstStyle/>
          <a:p>
            <a:pPr marL="0" indent="0">
              <a:buNone/>
            </a:pPr>
            <a:r>
              <a:rPr lang="en-US" sz="1500" b="1" dirty="0">
                <a:solidFill>
                  <a:srgbClr val="2E78C2"/>
                </a:solidFill>
                <a:latin typeface="Calibri" pitchFamily="34" charset="0"/>
                <a:ea typeface="Calibri" pitchFamily="34" charset="-122"/>
                <a:cs typeface="Calibri" pitchFamily="34" charset="-120"/>
              </a:rPr>
              <a:t>Cautela: </a:t>
            </a:r>
            <a:r>
              <a:rPr lang="en-US" sz="1500" dirty="0">
                <a:solidFill>
                  <a:srgbClr val="1F2D3D"/>
                </a:solidFill>
                <a:latin typeface="Calibri" pitchFamily="34" charset="0"/>
                <a:ea typeface="Calibri" pitchFamily="34" charset="-122"/>
                <a:cs typeface="Calibri" pitchFamily="34" charset="-120"/>
              </a:rPr>
              <a:t>discrepante = diferente das vizinhas neste grafo, não evento extremo. Depende de k, de uma variável e de um período. Mesma ideia do LISA (Anselin, 1995).</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7">
    <p:bg>
      <p:bgPr>
        <a:solidFill>
          <a:srgbClr val="0F2A44"/>
        </a:solidFill>
        <a:effectLst/>
      </p:bgPr>
    </p:bg>
    <p:spTree>
      <p:nvGrpSpPr>
        <p:cNvPr id="1" name=""/>
        <p:cNvGrpSpPr/>
        <p:nvPr/>
      </p:nvGrpSpPr>
      <p:grpSpPr>
        <a:xfrm>
          <a:off x="0" y="0"/>
          <a:ext cx="0" cy="0"/>
          <a:chOff x="0" y="0"/>
          <a:chExt cx="0" cy="0"/>
        </a:xfrm>
      </p:grpSpPr>
      <p:sp>
        <p:nvSpPr>
          <p:cNvPr id="2" name="Shape 0"/>
          <p:cNvSpPr/>
          <p:nvPr/>
        </p:nvSpPr>
        <p:spPr>
          <a:xfrm>
            <a:off x="8138160" y="1280160"/>
            <a:ext cx="1645920" cy="548640"/>
          </a:xfrm>
          <a:prstGeom prst="line">
            <a:avLst/>
          </a:prstGeom>
          <a:noFill/>
          <a:ln w="25400">
            <a:solidFill>
              <a:srgbClr val="4E6E8E"/>
            </a:solidFill>
            <a:prstDash val="solid"/>
          </a:ln>
        </p:spPr>
        <p:txBody>
          <a:bodyPr/>
          <a:lstStyle/>
          <a:p>
            <a:endParaRPr lang="pt-BR"/>
          </a:p>
        </p:txBody>
      </p:sp>
      <p:sp>
        <p:nvSpPr>
          <p:cNvPr id="3" name="Shape 1"/>
          <p:cNvSpPr/>
          <p:nvPr/>
        </p:nvSpPr>
        <p:spPr>
          <a:xfrm flipV="1">
            <a:off x="9784080" y="1371600"/>
            <a:ext cx="1463040" cy="457200"/>
          </a:xfrm>
          <a:prstGeom prst="line">
            <a:avLst/>
          </a:prstGeom>
          <a:noFill/>
          <a:ln w="25400">
            <a:solidFill>
              <a:srgbClr val="4E6E8E"/>
            </a:solidFill>
            <a:prstDash val="solid"/>
          </a:ln>
        </p:spPr>
        <p:txBody>
          <a:bodyPr/>
          <a:lstStyle/>
          <a:p>
            <a:endParaRPr lang="pt-BR"/>
          </a:p>
        </p:txBody>
      </p:sp>
      <p:sp>
        <p:nvSpPr>
          <p:cNvPr id="4" name="Shape 2"/>
          <p:cNvSpPr/>
          <p:nvPr/>
        </p:nvSpPr>
        <p:spPr>
          <a:xfrm>
            <a:off x="8138160" y="1280160"/>
            <a:ext cx="548640" cy="1828800"/>
          </a:xfrm>
          <a:prstGeom prst="line">
            <a:avLst/>
          </a:prstGeom>
          <a:noFill/>
          <a:ln w="25400">
            <a:solidFill>
              <a:srgbClr val="4E6E8E"/>
            </a:solidFill>
            <a:prstDash val="solid"/>
          </a:ln>
        </p:spPr>
        <p:txBody>
          <a:bodyPr/>
          <a:lstStyle/>
          <a:p>
            <a:endParaRPr lang="pt-BR"/>
          </a:p>
        </p:txBody>
      </p:sp>
      <p:sp>
        <p:nvSpPr>
          <p:cNvPr id="5" name="Shape 3"/>
          <p:cNvSpPr/>
          <p:nvPr/>
        </p:nvSpPr>
        <p:spPr>
          <a:xfrm flipH="1">
            <a:off x="8686800" y="1828800"/>
            <a:ext cx="1097280" cy="1280160"/>
          </a:xfrm>
          <a:prstGeom prst="line">
            <a:avLst/>
          </a:prstGeom>
          <a:noFill/>
          <a:ln w="25400">
            <a:solidFill>
              <a:srgbClr val="4E6E8E"/>
            </a:solidFill>
            <a:prstDash val="solid"/>
          </a:ln>
        </p:spPr>
        <p:txBody>
          <a:bodyPr/>
          <a:lstStyle/>
          <a:p>
            <a:endParaRPr lang="pt-BR"/>
          </a:p>
        </p:txBody>
      </p:sp>
      <p:sp>
        <p:nvSpPr>
          <p:cNvPr id="6" name="Shape 4"/>
          <p:cNvSpPr/>
          <p:nvPr/>
        </p:nvSpPr>
        <p:spPr>
          <a:xfrm>
            <a:off x="9784080" y="1828800"/>
            <a:ext cx="731520" cy="1554480"/>
          </a:xfrm>
          <a:prstGeom prst="line">
            <a:avLst/>
          </a:prstGeom>
          <a:noFill/>
          <a:ln w="25400">
            <a:solidFill>
              <a:srgbClr val="4E6E8E"/>
            </a:solidFill>
            <a:prstDash val="solid"/>
          </a:ln>
        </p:spPr>
        <p:txBody>
          <a:bodyPr/>
          <a:lstStyle/>
          <a:p>
            <a:endParaRPr lang="pt-BR"/>
          </a:p>
        </p:txBody>
      </p:sp>
      <p:sp>
        <p:nvSpPr>
          <p:cNvPr id="7" name="Shape 5"/>
          <p:cNvSpPr/>
          <p:nvPr/>
        </p:nvSpPr>
        <p:spPr>
          <a:xfrm flipH="1">
            <a:off x="10515600" y="1371600"/>
            <a:ext cx="731520" cy="2011680"/>
          </a:xfrm>
          <a:prstGeom prst="line">
            <a:avLst/>
          </a:prstGeom>
          <a:noFill/>
          <a:ln w="25400">
            <a:solidFill>
              <a:srgbClr val="4E6E8E"/>
            </a:solidFill>
            <a:prstDash val="solid"/>
          </a:ln>
        </p:spPr>
        <p:txBody>
          <a:bodyPr/>
          <a:lstStyle/>
          <a:p>
            <a:endParaRPr lang="pt-BR"/>
          </a:p>
        </p:txBody>
      </p:sp>
      <p:sp>
        <p:nvSpPr>
          <p:cNvPr id="8" name="Shape 6"/>
          <p:cNvSpPr/>
          <p:nvPr/>
        </p:nvSpPr>
        <p:spPr>
          <a:xfrm>
            <a:off x="8686800" y="3108960"/>
            <a:ext cx="1828800" cy="274320"/>
          </a:xfrm>
          <a:prstGeom prst="line">
            <a:avLst/>
          </a:prstGeom>
          <a:noFill/>
          <a:ln w="25400">
            <a:solidFill>
              <a:srgbClr val="4E6E8E"/>
            </a:solidFill>
            <a:prstDash val="solid"/>
          </a:ln>
        </p:spPr>
        <p:txBody>
          <a:bodyPr/>
          <a:lstStyle/>
          <a:p>
            <a:endParaRPr lang="pt-BR"/>
          </a:p>
        </p:txBody>
      </p:sp>
      <p:sp>
        <p:nvSpPr>
          <p:cNvPr id="9" name="Shape 7"/>
          <p:cNvSpPr/>
          <p:nvPr/>
        </p:nvSpPr>
        <p:spPr>
          <a:xfrm>
            <a:off x="8686800" y="3108960"/>
            <a:ext cx="548640" cy="1463040"/>
          </a:xfrm>
          <a:prstGeom prst="line">
            <a:avLst/>
          </a:prstGeom>
          <a:noFill/>
          <a:ln w="25400">
            <a:solidFill>
              <a:srgbClr val="4E6E8E"/>
            </a:solidFill>
            <a:prstDash val="solid"/>
          </a:ln>
        </p:spPr>
        <p:txBody>
          <a:bodyPr/>
          <a:lstStyle/>
          <a:p>
            <a:endParaRPr lang="pt-BR"/>
          </a:p>
        </p:txBody>
      </p:sp>
      <p:sp>
        <p:nvSpPr>
          <p:cNvPr id="10" name="Shape 8"/>
          <p:cNvSpPr/>
          <p:nvPr/>
        </p:nvSpPr>
        <p:spPr>
          <a:xfrm flipH="1">
            <a:off x="9235440" y="3383280"/>
            <a:ext cx="1280160" cy="1188720"/>
          </a:xfrm>
          <a:prstGeom prst="line">
            <a:avLst/>
          </a:prstGeom>
          <a:noFill/>
          <a:ln w="25400">
            <a:solidFill>
              <a:srgbClr val="4E6E8E"/>
            </a:solidFill>
            <a:prstDash val="solid"/>
          </a:ln>
        </p:spPr>
        <p:txBody>
          <a:bodyPr/>
          <a:lstStyle/>
          <a:p>
            <a:endParaRPr lang="pt-BR"/>
          </a:p>
        </p:txBody>
      </p:sp>
      <p:sp>
        <p:nvSpPr>
          <p:cNvPr id="11" name="Shape 9"/>
          <p:cNvSpPr/>
          <p:nvPr/>
        </p:nvSpPr>
        <p:spPr>
          <a:xfrm>
            <a:off x="10515600" y="3383280"/>
            <a:ext cx="914400" cy="1280160"/>
          </a:xfrm>
          <a:prstGeom prst="line">
            <a:avLst/>
          </a:prstGeom>
          <a:noFill/>
          <a:ln w="25400">
            <a:solidFill>
              <a:srgbClr val="4E6E8E"/>
            </a:solidFill>
            <a:prstDash val="solid"/>
          </a:ln>
        </p:spPr>
        <p:txBody>
          <a:bodyPr/>
          <a:lstStyle/>
          <a:p>
            <a:endParaRPr lang="pt-BR"/>
          </a:p>
        </p:txBody>
      </p:sp>
      <p:sp>
        <p:nvSpPr>
          <p:cNvPr id="12" name="Shape 10"/>
          <p:cNvSpPr/>
          <p:nvPr/>
        </p:nvSpPr>
        <p:spPr>
          <a:xfrm>
            <a:off x="9235440" y="4572000"/>
            <a:ext cx="1005840" cy="914400"/>
          </a:xfrm>
          <a:prstGeom prst="line">
            <a:avLst/>
          </a:prstGeom>
          <a:noFill/>
          <a:ln w="25400">
            <a:solidFill>
              <a:srgbClr val="4E6E8E"/>
            </a:solidFill>
            <a:prstDash val="solid"/>
          </a:ln>
        </p:spPr>
        <p:txBody>
          <a:bodyPr/>
          <a:lstStyle/>
          <a:p>
            <a:endParaRPr lang="pt-BR"/>
          </a:p>
        </p:txBody>
      </p:sp>
      <p:sp>
        <p:nvSpPr>
          <p:cNvPr id="13" name="Shape 11"/>
          <p:cNvSpPr/>
          <p:nvPr/>
        </p:nvSpPr>
        <p:spPr>
          <a:xfrm flipH="1">
            <a:off x="10241280" y="4663440"/>
            <a:ext cx="1188720" cy="822960"/>
          </a:xfrm>
          <a:prstGeom prst="line">
            <a:avLst/>
          </a:prstGeom>
          <a:noFill/>
          <a:ln w="25400">
            <a:solidFill>
              <a:srgbClr val="4E6E8E"/>
            </a:solidFill>
            <a:prstDash val="solid"/>
          </a:ln>
        </p:spPr>
        <p:txBody>
          <a:bodyPr/>
          <a:lstStyle/>
          <a:p>
            <a:endParaRPr lang="pt-BR"/>
          </a:p>
        </p:txBody>
      </p:sp>
      <p:sp>
        <p:nvSpPr>
          <p:cNvPr id="14" name="Shape 12"/>
          <p:cNvSpPr/>
          <p:nvPr/>
        </p:nvSpPr>
        <p:spPr>
          <a:xfrm>
            <a:off x="7991856" y="1133856"/>
            <a:ext cx="292608" cy="292608"/>
          </a:xfrm>
          <a:prstGeom prst="ellipse">
            <a:avLst/>
          </a:prstGeom>
          <a:solidFill>
            <a:srgbClr val="CADCFC"/>
          </a:solidFill>
          <a:ln w="12700">
            <a:solidFill>
              <a:srgbClr val="CADCFC"/>
            </a:solidFill>
            <a:prstDash val="solid"/>
          </a:ln>
        </p:spPr>
        <p:txBody>
          <a:bodyPr/>
          <a:lstStyle/>
          <a:p>
            <a:endParaRPr lang="pt-BR"/>
          </a:p>
        </p:txBody>
      </p:sp>
      <p:sp>
        <p:nvSpPr>
          <p:cNvPr id="15" name="Shape 13"/>
          <p:cNvSpPr/>
          <p:nvPr/>
        </p:nvSpPr>
        <p:spPr>
          <a:xfrm>
            <a:off x="9610344" y="1655064"/>
            <a:ext cx="347472" cy="347472"/>
          </a:xfrm>
          <a:prstGeom prst="ellipse">
            <a:avLst/>
          </a:prstGeom>
          <a:solidFill>
            <a:srgbClr val="7FB3E6"/>
          </a:solidFill>
          <a:ln w="12700">
            <a:solidFill>
              <a:srgbClr val="7FB3E6"/>
            </a:solidFill>
            <a:prstDash val="solid"/>
          </a:ln>
        </p:spPr>
        <p:txBody>
          <a:bodyPr/>
          <a:lstStyle/>
          <a:p>
            <a:endParaRPr lang="pt-BR"/>
          </a:p>
        </p:txBody>
      </p:sp>
      <p:sp>
        <p:nvSpPr>
          <p:cNvPr id="16" name="Shape 14"/>
          <p:cNvSpPr/>
          <p:nvPr/>
        </p:nvSpPr>
        <p:spPr>
          <a:xfrm>
            <a:off x="11045952" y="1170432"/>
            <a:ext cx="402336" cy="402336"/>
          </a:xfrm>
          <a:prstGeom prst="ellipse">
            <a:avLst/>
          </a:prstGeom>
          <a:solidFill>
            <a:srgbClr val="CADCFC"/>
          </a:solidFill>
          <a:ln w="12700">
            <a:solidFill>
              <a:srgbClr val="CADCFC"/>
            </a:solidFill>
            <a:prstDash val="solid"/>
          </a:ln>
        </p:spPr>
        <p:txBody>
          <a:bodyPr/>
          <a:lstStyle/>
          <a:p>
            <a:endParaRPr lang="pt-BR"/>
          </a:p>
        </p:txBody>
      </p:sp>
      <p:sp>
        <p:nvSpPr>
          <p:cNvPr id="17" name="Shape 15"/>
          <p:cNvSpPr/>
          <p:nvPr/>
        </p:nvSpPr>
        <p:spPr>
          <a:xfrm>
            <a:off x="8540496" y="2962656"/>
            <a:ext cx="292608" cy="292608"/>
          </a:xfrm>
          <a:prstGeom prst="ellipse">
            <a:avLst/>
          </a:prstGeom>
          <a:solidFill>
            <a:srgbClr val="4C8ED1"/>
          </a:solidFill>
          <a:ln w="12700">
            <a:solidFill>
              <a:srgbClr val="4C8ED1"/>
            </a:solidFill>
            <a:prstDash val="solid"/>
          </a:ln>
        </p:spPr>
        <p:txBody>
          <a:bodyPr/>
          <a:lstStyle/>
          <a:p>
            <a:endParaRPr lang="pt-BR"/>
          </a:p>
        </p:txBody>
      </p:sp>
      <p:sp>
        <p:nvSpPr>
          <p:cNvPr id="18" name="Shape 16"/>
          <p:cNvSpPr/>
          <p:nvPr/>
        </p:nvSpPr>
        <p:spPr>
          <a:xfrm>
            <a:off x="10341864" y="3209544"/>
            <a:ext cx="347472" cy="347472"/>
          </a:xfrm>
          <a:prstGeom prst="ellipse">
            <a:avLst/>
          </a:prstGeom>
          <a:solidFill>
            <a:srgbClr val="7FB3E6"/>
          </a:solidFill>
          <a:ln w="12700">
            <a:solidFill>
              <a:srgbClr val="7FB3E6"/>
            </a:solidFill>
            <a:prstDash val="solid"/>
          </a:ln>
        </p:spPr>
        <p:txBody>
          <a:bodyPr/>
          <a:lstStyle/>
          <a:p>
            <a:endParaRPr lang="pt-BR"/>
          </a:p>
        </p:txBody>
      </p:sp>
      <p:sp>
        <p:nvSpPr>
          <p:cNvPr id="19" name="Shape 17"/>
          <p:cNvSpPr/>
          <p:nvPr/>
        </p:nvSpPr>
        <p:spPr>
          <a:xfrm>
            <a:off x="9034272" y="4370832"/>
            <a:ext cx="402336" cy="402336"/>
          </a:xfrm>
          <a:prstGeom prst="ellipse">
            <a:avLst/>
          </a:prstGeom>
          <a:solidFill>
            <a:srgbClr val="CADCFC"/>
          </a:solidFill>
          <a:ln w="12700">
            <a:solidFill>
              <a:srgbClr val="CADCFC"/>
            </a:solidFill>
            <a:prstDash val="solid"/>
          </a:ln>
        </p:spPr>
        <p:txBody>
          <a:bodyPr/>
          <a:lstStyle/>
          <a:p>
            <a:endParaRPr lang="pt-BR"/>
          </a:p>
        </p:txBody>
      </p:sp>
      <p:sp>
        <p:nvSpPr>
          <p:cNvPr id="20" name="Shape 18"/>
          <p:cNvSpPr/>
          <p:nvPr/>
        </p:nvSpPr>
        <p:spPr>
          <a:xfrm>
            <a:off x="11283696" y="4517136"/>
            <a:ext cx="292608" cy="292608"/>
          </a:xfrm>
          <a:prstGeom prst="ellipse">
            <a:avLst/>
          </a:prstGeom>
          <a:solidFill>
            <a:srgbClr val="E8A15C"/>
          </a:solidFill>
          <a:ln w="12700">
            <a:solidFill>
              <a:srgbClr val="E8A15C"/>
            </a:solidFill>
            <a:prstDash val="solid"/>
          </a:ln>
        </p:spPr>
        <p:txBody>
          <a:bodyPr/>
          <a:lstStyle/>
          <a:p>
            <a:endParaRPr lang="pt-BR"/>
          </a:p>
        </p:txBody>
      </p:sp>
      <p:sp>
        <p:nvSpPr>
          <p:cNvPr id="21" name="Shape 19"/>
          <p:cNvSpPr/>
          <p:nvPr/>
        </p:nvSpPr>
        <p:spPr>
          <a:xfrm>
            <a:off x="10067544" y="5312664"/>
            <a:ext cx="347472" cy="347472"/>
          </a:xfrm>
          <a:prstGeom prst="ellipse">
            <a:avLst/>
          </a:prstGeom>
          <a:solidFill>
            <a:srgbClr val="4C8ED1"/>
          </a:solidFill>
          <a:ln w="12700">
            <a:solidFill>
              <a:srgbClr val="4C8ED1"/>
            </a:solidFill>
            <a:prstDash val="solid"/>
          </a:ln>
        </p:spPr>
        <p:txBody>
          <a:bodyPr/>
          <a:lstStyle/>
          <a:p>
            <a:endParaRPr lang="pt-BR"/>
          </a:p>
        </p:txBody>
      </p:sp>
      <p:sp>
        <p:nvSpPr>
          <p:cNvPr id="22" name="Text 20"/>
          <p:cNvSpPr txBox="1"/>
          <p:nvPr/>
        </p:nvSpPr>
        <p:spPr>
          <a:xfrm>
            <a:off x="731520" y="2194560"/>
            <a:ext cx="6675120" cy="1005840"/>
          </a:xfrm>
          <a:prstGeom prst="rect">
            <a:avLst/>
          </a:prstGeom>
          <a:noFill/>
          <a:ln/>
        </p:spPr>
        <p:txBody>
          <a:bodyPr wrap="square" lIns="0" tIns="0" rIns="0" bIns="0" rtlCol="0" anchor="t"/>
          <a:lstStyle/>
          <a:p>
            <a:pPr marL="0" indent="0">
              <a:buNone/>
            </a:pPr>
            <a:r>
              <a:rPr lang="en-US" sz="5400" b="1" dirty="0">
                <a:solidFill>
                  <a:srgbClr val="FFFFFF"/>
                </a:solidFill>
                <a:latin typeface="Cambria" pitchFamily="34" charset="0"/>
                <a:ea typeface="Cambria" pitchFamily="34" charset="-122"/>
                <a:cs typeface="Cambria" pitchFamily="34" charset="-120"/>
              </a:rPr>
              <a:t>Obrigado!</a:t>
            </a:r>
            <a:endParaRPr lang="en-US" sz="5400" dirty="0"/>
          </a:p>
        </p:txBody>
      </p:sp>
      <p:sp>
        <p:nvSpPr>
          <p:cNvPr id="23" name="Text 21"/>
          <p:cNvSpPr txBox="1"/>
          <p:nvPr/>
        </p:nvSpPr>
        <p:spPr>
          <a:xfrm>
            <a:off x="731520" y="5942005"/>
            <a:ext cx="6675120" cy="548640"/>
          </a:xfrm>
          <a:prstGeom prst="rect">
            <a:avLst/>
          </a:prstGeom>
          <a:noFill/>
          <a:ln/>
        </p:spPr>
        <p:txBody>
          <a:bodyPr wrap="square" lIns="0" tIns="0" rIns="0" bIns="0" rtlCol="0" anchor="t"/>
          <a:lstStyle/>
          <a:p>
            <a:pPr marL="0" indent="0">
              <a:buNone/>
            </a:pPr>
            <a:r>
              <a:rPr lang="en-US" dirty="0" err="1">
                <a:solidFill>
                  <a:srgbClr val="CADCFC"/>
                </a:solidFill>
                <a:latin typeface="Calibri" pitchFamily="34" charset="0"/>
                <a:cs typeface="Calibri" pitchFamily="34" charset="-120"/>
              </a:rPr>
              <a:t>vinirodri@proton.me</a:t>
            </a:r>
            <a:endParaRPr lang="en-US" dirty="0"/>
          </a:p>
        </p:txBody>
      </p:sp>
      <p:sp>
        <p:nvSpPr>
          <p:cNvPr id="24" name="Text 22"/>
          <p:cNvSpPr txBox="1"/>
          <p:nvPr/>
        </p:nvSpPr>
        <p:spPr>
          <a:xfrm>
            <a:off x="731520" y="4023360"/>
            <a:ext cx="6675120" cy="365760"/>
          </a:xfrm>
          <a:prstGeom prst="rect">
            <a:avLst/>
          </a:prstGeom>
          <a:noFill/>
          <a:ln/>
        </p:spPr>
        <p:txBody>
          <a:bodyPr wrap="square" lIns="0" tIns="0" rIns="0" bIns="0" rtlCol="0" anchor="t"/>
          <a:lstStyle/>
          <a:p>
            <a:pPr marL="0" indent="0">
              <a:buNone/>
            </a:pPr>
            <a:r>
              <a:rPr lang="en-US" sz="1800" u="sng" dirty="0">
                <a:solidFill>
                  <a:srgbClr val="7FB3E6"/>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github.com/viniolt/analise-rede-estacoes-grafos</a:t>
            </a:r>
            <a:endParaRPr lang="en-US" sz="1800" dirty="0"/>
          </a:p>
        </p:txBody>
      </p:sp>
      <p:sp>
        <p:nvSpPr>
          <p:cNvPr id="25" name="Text 23"/>
          <p:cNvSpPr txBox="1"/>
          <p:nvPr/>
        </p:nvSpPr>
        <p:spPr>
          <a:xfrm>
            <a:off x="731520" y="4572000"/>
            <a:ext cx="6675120" cy="640080"/>
          </a:xfrm>
          <a:prstGeom prst="rect">
            <a:avLst/>
          </a:prstGeom>
          <a:noFill/>
          <a:ln/>
        </p:spPr>
        <p:txBody>
          <a:bodyPr wrap="square" lIns="0" tIns="0" rIns="0" bIns="0" rtlCol="0" anchor="t"/>
          <a:lstStyle/>
          <a:p>
            <a:pPr marL="0" indent="0">
              <a:buNone/>
            </a:pPr>
            <a:r>
              <a:rPr lang="en-US" sz="1400" dirty="0">
                <a:solidFill>
                  <a:srgbClr val="CADCFC"/>
                </a:solidFill>
                <a:latin typeface="Calibri" pitchFamily="34" charset="0"/>
                <a:ea typeface="Calibri" pitchFamily="34" charset="-122"/>
                <a:cs typeface="Calibri" pitchFamily="34" charset="-120"/>
              </a:rPr>
              <a:t>ODS 9 (infraestrutura resiliente) · ODS 11 (cidades e desastres) · ODS 13 (ação climática)</a:t>
            </a:r>
            <a:endParaRPr lang="en-US" sz="1400" dirty="0"/>
          </a:p>
        </p:txBody>
      </p:sp>
      <p:sp>
        <p:nvSpPr>
          <p:cNvPr id="26" name="Text 24"/>
          <p:cNvSpPr txBox="1"/>
          <p:nvPr/>
        </p:nvSpPr>
        <p:spPr>
          <a:xfrm>
            <a:off x="731520" y="5760720"/>
            <a:ext cx="7315200" cy="32004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Vinícius Pereira Rodrigues · RA 10729470</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TotalTime>
  <Words>3157</Words>
  <Application>Microsoft Macintosh PowerPoint</Application>
  <PresentationFormat>Widescreen</PresentationFormat>
  <Paragraphs>324</Paragraphs>
  <Slides>14</Slides>
  <Notes>14</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14</vt:i4>
      </vt:variant>
    </vt:vector>
  </HeadingPairs>
  <TitlesOfParts>
    <vt:vector size="19" baseType="lpstr">
      <vt:lpstr>Arial</vt:lpstr>
      <vt:lpstr>Calibri</vt:lpstr>
      <vt:lpstr>Cambria</vt:lpstr>
      <vt:lpstr>Courier New</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Análise de padrões climáticos em uma rede de estações meteorológicas</dc:title>
  <dc:subject>PptxGenJS Presentation</dc:subject>
  <dc:creator>Vinícius Pereira Rodrigues</dc:creator>
  <cp:lastModifiedBy>VINICIUS PEREIRA RODRIGUES</cp:lastModifiedBy>
  <cp:revision>4</cp:revision>
  <dcterms:created xsi:type="dcterms:W3CDTF">2026-10-01T03:33:53Z</dcterms:created>
  <dcterms:modified xsi:type="dcterms:W3CDTF">2026-10-01T10:55:43Z</dcterms:modified>
</cp:coreProperties>
</file>